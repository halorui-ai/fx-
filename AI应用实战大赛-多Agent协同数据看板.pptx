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1737360"/>
            <a:ext cx="5120640" cy="5120640"/>
          </a:xfrm>
          <a:prstGeom prst="ellipse">
            <a:avLst/>
          </a:prstGeom>
          <a:solidFill>
            <a:srgbClr val="16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3977639"/>
            <a:ext cx="566928" cy="566928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3063240"/>
            <a:ext cx="201168" cy="201168"/>
          </a:xfrm>
          <a:prstGeom prst="ellipse">
            <a:avLst/>
          </a:prstGeom>
          <a:solidFill>
            <a:srgbClr val="6FA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83879" y="4480560"/>
            <a:ext cx="118872" cy="118872"/>
          </a:xfrm>
          <a:prstGeom prst="ellipse">
            <a:avLst/>
          </a:prstGeom>
          <a:solidFill>
            <a:srgbClr val="6FA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713232"/>
            <a:ext cx="2651760" cy="420624"/>
          </a:xfrm>
          <a:prstGeom prst="roundRect">
            <a:avLst>
              <a:gd name="adj" fmla="val 50000"/>
            </a:avLst>
          </a:prstGeom>
          <a:solidFill>
            <a:srgbClr val="1B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CFE0F8"/>
                </a:solidFill>
                <a:latin typeface="Microsoft YaHei"/>
                <a:ea typeface="Microsoft YaHei"/>
                <a:cs typeface="Microsoft YaHei"/>
              </a:rPr>
              <a:t>AI 应用实战大赛 · 参赛项目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93392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让运维人员自己「造」工具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1272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100" b="0" i="0">
                <a:solidFill>
                  <a:srgbClr val="BED4F2"/>
                </a:solidFill>
                <a:latin typeface="Microsoft YaHei"/>
                <a:ea typeface="Microsoft YaHei"/>
                <a:cs typeface="Microsoft YaHei"/>
              </a:rPr>
              <a:t>多个 AI 助手协同 · 零代码打造物品放行监控数据看板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160520"/>
            <a:ext cx="1956816" cy="457200"/>
          </a:xfrm>
          <a:prstGeom prst="roundRect">
            <a:avLst>
              <a:gd name="adj" fmla="val 50000"/>
            </a:avLst>
          </a:prstGeom>
          <a:solidFill>
            <a:srgbClr val="173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全程自然语言开发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9776" y="4160520"/>
            <a:ext cx="1563624" cy="457200"/>
          </a:xfrm>
          <a:prstGeom prst="roundRect">
            <a:avLst>
              <a:gd name="adj" fmla="val 50000"/>
            </a:avLst>
          </a:prstGeom>
          <a:solidFill>
            <a:srgbClr val="173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数据不出内网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99432" y="4160520"/>
            <a:ext cx="2153412" cy="457200"/>
          </a:xfrm>
          <a:prstGeom prst="roundRect">
            <a:avLst>
              <a:gd name="adj" fmla="val 50000"/>
            </a:avLst>
          </a:prstGeom>
          <a:solidFill>
            <a:srgbClr val="173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10 万行本地分析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79008"/>
            <a:ext cx="475488" cy="54864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59436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安全技防部</a:t>
            </a:r>
            <a:r>
              <a:rPr sz="1300" b="0" i="0">
                <a:solidFill>
                  <a:srgbClr val="ABC2E4"/>
                </a:solidFill>
                <a:latin typeface="Microsoft YaHei"/>
                <a:ea typeface="Microsoft YaHei"/>
                <a:cs typeface="Microsoft YaHei"/>
              </a:rPr>
              <a:t>    2026 年 10 月</a:t>
            </a:r>
          </a:p>
        </p:txBody>
      </p:sp>
      <p:sp>
        <p:nvSpPr>
          <p:cNvPr id="14" name="AILabel"/>
          <p:cNvSpPr txBox="1"/>
          <p:nvPr/>
        </p:nvSpPr>
        <p:spPr>
          <a:xfrm>
            <a:off x="9611695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9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今天分享的内容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148840"/>
            <a:ext cx="2130552" cy="306324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148840"/>
            <a:ext cx="2130552" cy="128016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532888"/>
            <a:ext cx="1764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40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447288"/>
            <a:ext cx="1728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9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应用场景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995928"/>
            <a:ext cx="17282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小需求，为何总遇上大流程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2148840"/>
            <a:ext cx="2130552" cy="306324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8" y="2148840"/>
            <a:ext cx="2130552" cy="128016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08376" y="2532888"/>
            <a:ext cx="1764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4000" b="1" i="0">
                <a:solidFill>
                  <a:srgbClr val="F29E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8376" y="3447288"/>
            <a:ext cx="1728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9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AI 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3995928"/>
            <a:ext cx="17282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五个智能助手各有所长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2148840"/>
            <a:ext cx="2130552" cy="306324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47488" y="2148840"/>
            <a:ext cx="2130552" cy="128016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2532888"/>
            <a:ext cx="1764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40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3447288"/>
            <a:ext cx="1728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9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3995928"/>
            <a:ext cx="17282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多 Agent 协同 + 交接制度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7768" y="2148840"/>
            <a:ext cx="2130552" cy="306324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87768" y="2148840"/>
            <a:ext cx="2130552" cy="128016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88936" y="2532888"/>
            <a:ext cx="1764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4000" b="1" i="0">
                <a:solidFill>
                  <a:srgbClr val="F29E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3447288"/>
            <a:ext cx="1728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9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实际成效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3995928"/>
            <a:ext cx="17282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开发节奏从「周」到「天」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8048" y="2148840"/>
            <a:ext cx="2130552" cy="306324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28048" y="2148840"/>
            <a:ext cx="2130552" cy="128016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29216" y="2532888"/>
            <a:ext cx="1764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40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9216" y="3447288"/>
            <a:ext cx="1728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9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未来规划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9216" y="3995928"/>
            <a:ext cx="17282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把方法复制到更多系统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多 AI Agent 协同 · 物品放行监控数据看板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2528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应用场景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9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一个小改动，为什么总要等好几周？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公司 GDMS 整合了放行、门禁、物联等各大系统的数据看板，想在上面加功能必须走完整流程</a:t>
            </a:r>
          </a:p>
        </p:txBody>
      </p:sp>
      <p:sp>
        <p:nvSpPr>
          <p:cNvPr id="5" name="Oval 4"/>
          <p:cNvSpPr/>
          <p:nvPr/>
        </p:nvSpPr>
        <p:spPr>
          <a:xfrm>
            <a:off x="832103" y="2148840"/>
            <a:ext cx="493776" cy="49377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1" y="271576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3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需求规划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2224" y="2203704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700" b="1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2862072" y="2148840"/>
            <a:ext cx="493776" cy="49377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71576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3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跨部门沟通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2" y="2203704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700" b="1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892040" y="2148840"/>
            <a:ext cx="493776" cy="49377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271576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3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排队等开发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203704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700" b="1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6922008" y="2148840"/>
            <a:ext cx="493776" cy="493776"/>
          </a:xfrm>
          <a:prstGeom prst="ellipse">
            <a:avLst/>
          </a:prstGeom>
          <a:solidFill>
            <a:srgbClr val="7B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71576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3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代码开发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2203704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700" b="1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951976" y="2148840"/>
            <a:ext cx="493776" cy="493776"/>
          </a:xfrm>
          <a:prstGeom prst="ellipse">
            <a:avLst/>
          </a:prstGeom>
          <a:solidFill>
            <a:srgbClr val="7B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71576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3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测试验证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12096" y="2203704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700" b="1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10981944" y="2148840"/>
            <a:ext cx="493776" cy="493776"/>
          </a:xfrm>
          <a:prstGeom prst="ellipse">
            <a:avLst/>
          </a:prstGeom>
          <a:solidFill>
            <a:srgbClr val="7B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0152" y="271576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3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正式上线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246120"/>
            <a:ext cx="3566160" cy="205740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3502152"/>
            <a:ext cx="457200" cy="45720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7" y="3520439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等待时间长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178808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小优化也要排进完整流程，一等就是 2~4 周，节奏以「周」计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5968" y="3246120"/>
            <a:ext cx="3566160" cy="205740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0" y="3502152"/>
            <a:ext cx="457200" cy="45720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8" y="3520439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IT 资源紧张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4178808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开发排期有限，运维侧的小需求常常排不上、等不起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7" y="3246120"/>
            <a:ext cx="3566160" cy="205740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21039" y="3502152"/>
            <a:ext cx="457200" cy="45720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33687" y="3520439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沟通成本高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4178808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需求要跨部门反复对接确认，时间成本、人力成本都很高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650992"/>
            <a:ext cx="11055096" cy="566928"/>
          </a:xfrm>
          <a:prstGeom prst="roundRect">
            <a:avLst>
              <a:gd name="adj" fmla="val 16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" bIns="27432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8A5F00"/>
                </a:solidFill>
                <a:latin typeface="Microsoft YaHei"/>
                <a:ea typeface="Microsoft YaHei"/>
                <a:cs typeface="Microsoft YaHei"/>
              </a:rPr>
              <a:t>结果：很多有价值的小改进，因为「等不起」，被一再搁置。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多 AI Agent 协同 · 物品放行监控数据看板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82528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我们的选择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9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不等排队，给自己做了一个数据看板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把放行系统导出的表格拖进浏览器，KPI、图表、异常预警全部自动生成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2487168" cy="86868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550" b="1" i="0">
                <a:solidFill>
                  <a:srgbClr val="0B57D0"/>
                </a:solidFill>
                <a:latin typeface="Microsoft YaHei"/>
                <a:ea typeface="Microsoft YaHei"/>
                <a:cs typeface="Microsoft YaHei"/>
              </a:rPr>
              <a:t>导出 Excel 表格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2121408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22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11296" y="1874519"/>
            <a:ext cx="2487168" cy="86868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550" b="1" i="0">
                <a:solidFill>
                  <a:srgbClr val="0B57D0"/>
                </a:solidFill>
                <a:latin typeface="Microsoft YaHei"/>
                <a:ea typeface="Microsoft YaHei"/>
                <a:cs typeface="Microsoft YaHei"/>
              </a:rPr>
              <a:t>拖进看板页面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7608" y="2121408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22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4224" y="1874519"/>
            <a:ext cx="2487168" cy="86868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550" b="1" i="0">
                <a:solidFill>
                  <a:srgbClr val="0B57D0"/>
                </a:solidFill>
                <a:latin typeface="Microsoft YaHei"/>
                <a:ea typeface="Microsoft YaHei"/>
                <a:cs typeface="Microsoft YaHei"/>
              </a:rPr>
              <a:t>自动计算分析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0536" y="2121408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22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17152" y="1874519"/>
            <a:ext cx="2487168" cy="86868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550" b="1" i="0">
                <a:solidFill>
                  <a:srgbClr val="0B57D0"/>
                </a:solidFill>
                <a:latin typeface="Microsoft YaHei"/>
                <a:ea typeface="Microsoft YaHei"/>
                <a:cs typeface="Microsoft YaHei"/>
              </a:rPr>
              <a:t>图表 + 异常预警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54680"/>
            <a:ext cx="356616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39242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465576"/>
            <a:ext cx="23774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开箱即用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178808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不用装软件、不用配服务器，双击打开就能用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3154680"/>
            <a:ext cx="356616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339242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0E2A5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465576"/>
            <a:ext cx="23774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又快又稳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178808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10 万行数据轻松分析；再次打开 2 秒恢复上次数据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7" y="3154680"/>
            <a:ext cx="356616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39" y="339242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3465576"/>
            <a:ext cx="23774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数据安全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178808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全部在本机浏览器计算，无需联网，数据不出内网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13248"/>
            <a:ext cx="11055096" cy="749808"/>
          </a:xfrm>
          <a:prstGeom prst="roundRect">
            <a:avLst>
              <a:gd name="adj" fmla="val 10000"/>
            </a:avLst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541264"/>
            <a:ext cx="276377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24 张分析卡片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0702" y="5541264"/>
            <a:ext cx="276377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50" b="1" i="0">
                <a:solidFill>
                  <a:srgbClr val="FBBC04"/>
                </a:solidFill>
                <a:latin typeface="Microsoft YaHei"/>
                <a:ea typeface="Microsoft YaHei"/>
                <a:cs typeface="Microsoft YaHei"/>
              </a:rPr>
              <a:t>9 套界面主题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4476" y="5541264"/>
            <a:ext cx="276377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种岗位视图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8249" y="5541264"/>
            <a:ext cx="276377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单号一键全链路追踪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多 AI Agent 协同 · 物品放行监控数据看板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2528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使用的 AI 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9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不是只用一个 AI，而是请了一支「专家队」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实战中发现：不同工具各有所长 —— 有的擅长设计审美，有的擅长写代码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65960"/>
            <a:ext cx="2130552" cy="306324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02436" y="2258568"/>
            <a:ext cx="859536" cy="85953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64408"/>
            <a:ext cx="1984248" cy="4114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Trae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7" y="3721608"/>
            <a:ext cx="1581912" cy="36576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B57D0"/>
                </a:solidFill>
                <a:latin typeface="Microsoft YaHei"/>
                <a:ea typeface="Microsoft YaHei"/>
                <a:cs typeface="Microsoft YaHei"/>
              </a:rPr>
              <a:t>界面与原型设计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233672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审美在线，产出可点击的高保真原型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1965960"/>
            <a:ext cx="2130552" cy="306324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42716" y="2258568"/>
            <a:ext cx="859536" cy="859536"/>
          </a:xfrm>
          <a:prstGeom prst="ellipse">
            <a:avLst/>
          </a:prstGeom>
          <a:solidFill>
            <a:srgbClr val="7B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264408"/>
            <a:ext cx="1984248" cy="4114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Qoder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81528" y="3721608"/>
            <a:ext cx="1581912" cy="36576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B57D0"/>
                </a:solidFill>
                <a:latin typeface="Microsoft YaHei"/>
                <a:ea typeface="Microsoft YaHei"/>
                <a:cs typeface="Microsoft YaHei"/>
              </a:rPr>
              <a:t>视觉风格探索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4233672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大胆尝试多种界面风格与视觉效果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8" y="1965960"/>
            <a:ext cx="2130552" cy="306324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82996" y="2258568"/>
            <a:ext cx="859536" cy="859536"/>
          </a:xfrm>
          <a:prstGeom prst="ellipse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64408"/>
            <a:ext cx="1984248" cy="4114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Grok Build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21808" y="3721608"/>
            <a:ext cx="1581912" cy="36576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B57D0"/>
                </a:solidFill>
                <a:latin typeface="Microsoft YaHei"/>
                <a:ea typeface="Microsoft YaHei"/>
                <a:cs typeface="Microsoft YaHei"/>
              </a:rPr>
              <a:t>主程序代码开发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4233672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按原型与规格实现正式业务功能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7768" y="1965960"/>
            <a:ext cx="2130552" cy="306324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23276" y="2258568"/>
            <a:ext cx="859536" cy="859536"/>
          </a:xfrm>
          <a:prstGeom prst="ellipse">
            <a:avLst/>
          </a:prstGeom>
          <a:solidFill>
            <a:srgbClr val="F29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264408"/>
            <a:ext cx="1984248" cy="4114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DeepSeek Harness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62088" y="3721608"/>
            <a:ext cx="1581912" cy="365760"/>
          </a:xfrm>
          <a:prstGeom prst="roundRect">
            <a:avLst>
              <a:gd name="adj" fmla="val 50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29E00"/>
                </a:solidFill>
                <a:latin typeface="Microsoft YaHei"/>
                <a:ea typeface="Microsoft YaHei"/>
                <a:cs typeface="Microsoft YaHei"/>
              </a:rPr>
              <a:t>校验与测试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7224" y="4233672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梳理需求、发现问题、测试验证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8048" y="1965960"/>
            <a:ext cx="2130552" cy="306324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63556" y="2258568"/>
            <a:ext cx="859536" cy="859536"/>
          </a:xfrm>
          <a:prstGeom prst="ellipse">
            <a:avLst/>
          </a:prstGeom>
          <a:solidFill>
            <a:srgbClr val="7B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264408"/>
            <a:ext cx="1984248" cy="4114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Workbuddy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02368" y="3721608"/>
            <a:ext cx="1581912" cy="36576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B57D0"/>
                </a:solidFill>
                <a:latin typeface="Microsoft YaHei"/>
                <a:ea typeface="Microsoft YaHei"/>
                <a:cs typeface="Microsoft YaHei"/>
              </a:rPr>
              <a:t>日常开发协作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4233672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代码协助与问题排查的好帮手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440680"/>
            <a:ext cx="11055096" cy="713232"/>
          </a:xfrm>
          <a:prstGeom prst="roundRect">
            <a:avLst>
              <a:gd name="adj" fmla="val 12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559552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1" i="0">
                <a:solidFill>
                  <a:srgbClr val="8A5F00"/>
                </a:solidFill>
                <a:latin typeface="Microsoft YaHei"/>
                <a:ea typeface="Microsoft YaHei"/>
                <a:cs typeface="Microsoft YaHei"/>
              </a:rPr>
              <a:t>转变：</a:t>
            </a:r>
            <a:r>
              <a:rPr sz="1400" b="0" i="0">
                <a:solidFill>
                  <a:srgbClr val="6E4D00"/>
                </a:solidFill>
                <a:latin typeface="Microsoft YaHei"/>
                <a:ea typeface="Microsoft YaHei"/>
                <a:cs typeface="Microsoft YaHei"/>
              </a:rPr>
              <a:t>从「单个 AI 包办」走向「多 AI 组队」——擅长设计的做设计，擅长写代码的写代码，质量和速度同时提升。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多 AI Agent 协同 · 物品放行监控数据看板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82528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解决方案 · 协作模式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9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从「单打独斗」到「虚拟团队」协同作战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每个 AI 有明确分工、按流程交接；人始终掌握「拍板权」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2057400" cy="23317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2249424"/>
            <a:ext cx="512064" cy="51206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231343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提想法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971800"/>
            <a:ext cx="16550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业务人员用大白话说需求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3675888"/>
            <a:ext cx="1581912" cy="402336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业务人员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6352" y="2011680"/>
            <a:ext cx="2057400" cy="23317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54096" y="2249424"/>
            <a:ext cx="512064" cy="51206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1343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出原型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971800"/>
            <a:ext cx="16550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设计 AI 做可点击原型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54096" y="3675888"/>
            <a:ext cx="1581912" cy="402336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5776" y="2011680"/>
            <a:ext cx="2057400" cy="233172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17780">
            <a:solidFill>
              <a:srgbClr val="F29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03520" y="2249424"/>
            <a:ext cx="512064" cy="512064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0E2A5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7024" y="231343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严把关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2971800"/>
            <a:ext cx="16550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人工审核，通过才放行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3675888"/>
            <a:ext cx="1581912" cy="402336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E2A52"/>
                </a:solidFill>
                <a:latin typeface="Microsoft YaHei"/>
                <a:ea typeface="Microsoft YaHei"/>
                <a:cs typeface="Microsoft YaHei"/>
              </a:rPr>
              <a:t>人 · 审核闸门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011680"/>
            <a:ext cx="2057400" cy="23317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52944" y="2249424"/>
            <a:ext cx="512064" cy="51206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231343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写代码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2971800"/>
            <a:ext cx="16550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开发 AI 按规格实现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52944" y="3675888"/>
            <a:ext cx="1581912" cy="402336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 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64624" y="2011680"/>
            <a:ext cx="2057400" cy="23317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02367" y="2249424"/>
            <a:ext cx="512064" cy="51206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05872" y="231343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做验收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971800"/>
            <a:ext cx="16550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AI 测试 + 真实数据验证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02367" y="3675888"/>
            <a:ext cx="1581912" cy="402336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+ 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28316" y="2267712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6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7740" y="2267712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6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7164" y="2267712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600" b="1" i="0">
                <a:solidFill>
                  <a:srgbClr val="F29E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6588" y="2267712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6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800600"/>
            <a:ext cx="11055096" cy="713232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901184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1" i="0">
                <a:solidFill>
                  <a:srgbClr val="0B57D0"/>
                </a:solidFill>
                <a:latin typeface="Microsoft YaHei"/>
                <a:ea typeface="Microsoft YaHei"/>
                <a:cs typeface="Microsoft YaHei"/>
              </a:rPr>
              <a:t>人掌握拍板权：</a:t>
            </a:r>
            <a:r>
              <a:rPr sz="1400" b="0" i="0">
                <a:solidFill>
                  <a:srgbClr val="2B4A7A"/>
                </a:solidFill>
                <a:latin typeface="Microsoft YaHei"/>
                <a:ea typeface="Microsoft YaHei"/>
                <a:cs typeface="Microsoft YaHei"/>
              </a:rPr>
              <a:t>设计原型经人工审核批准后，开发 AI 才能动正式代码，质量可控、方向不跑偏。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650992"/>
            <a:ext cx="11055096" cy="566928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733288"/>
            <a:ext cx="10515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代码统一放 Git 仓库：</a:t>
            </a:r>
            <a:r>
              <a:rPr sz="13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多个 AI 共用同一份代码、随时接手，解决了「各有各的工作空间、同步麻烦」的问题。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多 AI Agent 协同 · 物品放行监控数据看板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82528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解决方案 · 关键一招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9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给 AI 建立「交接班制度」，新助手几分钟上手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过去每换一个 AI 就要重讲一遍项目背景；现在六份文档把项目讲得明明白白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3566160" cy="1207008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8096" y="2093976"/>
            <a:ext cx="1481328" cy="457200"/>
          </a:xfrm>
          <a:prstGeom prst="roundRect">
            <a:avLst>
              <a:gd name="adj" fmla="val 30000"/>
            </a:avLst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README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112263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项目门牌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624327"/>
            <a:ext cx="31272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当前是哪个版本、怎么打开使用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74519"/>
            <a:ext cx="3566160" cy="1207008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17136" y="2093976"/>
            <a:ext cx="1481328" cy="457200"/>
          </a:xfrm>
          <a:prstGeom prst="roundRect">
            <a:avLst>
              <a:gd name="adj" fmla="val 30000"/>
            </a:avLst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9" y="2112263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业务口径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624327"/>
            <a:ext cx="31272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每个数字怎么算，规则绝不跑偏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7" y="1874519"/>
            <a:ext cx="3566160" cy="1207008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66175" y="2093976"/>
            <a:ext cx="1481328" cy="457200"/>
          </a:xfrm>
          <a:prstGeom prst="roundRect">
            <a:avLst>
              <a:gd name="adj" fmla="val 30000"/>
            </a:avLst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19" y="2112263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技术地图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2624327"/>
            <a:ext cx="31272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代码如何组织、新功能如何扩展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246120"/>
            <a:ext cx="3566160" cy="1207008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8096" y="3465576"/>
            <a:ext cx="1481328" cy="457200"/>
          </a:xfrm>
          <a:prstGeom prst="roundRect">
            <a:avLst>
              <a:gd name="adj" fmla="val 30000"/>
            </a:avLst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CHANGELOG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483863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施工日志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995928"/>
            <a:ext cx="31272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今天改了什么、明天从哪里接着做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3246120"/>
            <a:ext cx="3566160" cy="1207008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17136" y="3465576"/>
            <a:ext cx="1481328" cy="457200"/>
          </a:xfrm>
          <a:prstGeom prst="roundRect">
            <a:avLst>
              <a:gd name="adj" fmla="val 30000"/>
            </a:avLst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79" y="3483863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决策档案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995928"/>
            <a:ext cx="31272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35 项关键决策与踩坑，不重蹈覆辙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5007" y="3246120"/>
            <a:ext cx="3566160" cy="1207008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66175" y="3465576"/>
            <a:ext cx="1481328" cy="457200"/>
          </a:xfrm>
          <a:prstGeom prst="roundRect">
            <a:avLst>
              <a:gd name="adj" fmla="val 30000"/>
            </a:avLst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3483863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分工纪律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3995928"/>
            <a:ext cx="31272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谁能改什么、提交前检查清单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736592"/>
            <a:ext cx="11055096" cy="14173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90118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 i="0">
                <a:solidFill>
                  <a:srgbClr val="0B57D0"/>
                </a:solidFill>
                <a:latin typeface="Microsoft YaHei"/>
                <a:ea typeface="Microsoft YaHei"/>
                <a:cs typeface="Microsoft YaHei"/>
              </a:rPr>
              <a:t>「施工说明书」交接单（HANDOFF）：</a:t>
            </a:r>
            <a:r>
              <a:rPr sz="1400" b="0" i="0">
                <a:solidFill>
                  <a:srgbClr val="2B4A7A"/>
                </a:solidFill>
                <a:latin typeface="Microsoft YaHei"/>
                <a:ea typeface="Microsoft YaHei"/>
                <a:cs typeface="Microsoft YaHei"/>
              </a:rPr>
              <a:t>设计 AI 把原型怎么做、数字从哪来写清楚，经人批准后开发 AI 才能动工。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440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 i="0">
                <a:solidFill>
                  <a:srgbClr val="0B57D0"/>
                </a:solidFill>
                <a:latin typeface="Microsoft YaHei"/>
                <a:ea typeface="Microsoft YaHei"/>
                <a:cs typeface="Microsoft YaHei"/>
              </a:rPr>
              <a:t>效果：</a:t>
            </a:r>
            <a:r>
              <a:rPr sz="1400" b="0" i="0">
                <a:solidFill>
                  <a:srgbClr val="2B4A7A"/>
                </a:solidFill>
                <a:latin typeface="Microsoft YaHei"/>
                <a:ea typeface="Microsoft YaHei"/>
                <a:cs typeface="Microsoft YaHei"/>
              </a:rPr>
              <a:t>新接手的 AI 读文档即可直接开工，不用人再从头描述；同一个坑不会踩第二次。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多 AI Agent 协同 · 物品放行监控数据看板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82528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解决方案 · 开发方式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9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全程只靠「说话」，没手写一行代码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从想法到上线，五个环节全部通过自然语言对话完成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20240"/>
            <a:ext cx="5943600" cy="713232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057400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993392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说出想法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5768" y="1993392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用大白话描述要解决什么问题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596896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61488"/>
            <a:ext cx="5943600" cy="713232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898648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2834640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功能规划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283464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和 AI 一起理清规则与口径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43814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602736"/>
            <a:ext cx="5943600" cy="713232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739896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675888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原型设计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3675888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AI 出可点击原型，人来确认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279392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43984"/>
            <a:ext cx="5943600" cy="713232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4581144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4517136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代码构建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5768" y="4517136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AI 写代码，人只提修改意见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512064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285232"/>
            <a:ext cx="5943600" cy="713232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542239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6736" y="5358384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测试验收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5358384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AI 自测 + 真实数据本机验收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12280" y="1920240"/>
            <a:ext cx="4809744" cy="1078992"/>
          </a:xfrm>
          <a:prstGeom prst="roundRect">
            <a:avLst>
              <a:gd name="adj" fmla="val 9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12280" y="2103120"/>
            <a:ext cx="128016" cy="713231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96328" y="2057400"/>
            <a:ext cx="416966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零门槛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6328" y="2468880"/>
            <a:ext cx="4169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不会编程也能开发，会描述需求就行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2280" y="3145536"/>
            <a:ext cx="4809744" cy="1078992"/>
          </a:xfrm>
          <a:prstGeom prst="roundRect">
            <a:avLst>
              <a:gd name="adj" fmla="val 9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12280" y="3328416"/>
            <a:ext cx="128016" cy="713231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96328" y="3282696"/>
            <a:ext cx="416966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快迭代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6328" y="3694176"/>
            <a:ext cx="4169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当天提、当天改，小功能小时级见效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2280" y="4370831"/>
            <a:ext cx="4809744" cy="1078992"/>
          </a:xfrm>
          <a:prstGeom prst="roundRect">
            <a:avLst>
              <a:gd name="adj" fmla="val 9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12280" y="4553712"/>
            <a:ext cx="128016" cy="713231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96328" y="4507992"/>
            <a:ext cx="416966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够安全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96328" y="4919471"/>
            <a:ext cx="4169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离线运行、数据不出内网，符合保密要求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12280" y="5596128"/>
            <a:ext cx="4809744" cy="585216"/>
          </a:xfrm>
          <a:prstGeom prst="roundRect">
            <a:avLst>
              <a:gd name="adj" fmla="val 10000"/>
            </a:avLst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想法 → 规划 → 原型 → 构建 → 测试，全程对话完成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多 AI Agent 协同 · 物品放行监控数据看板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82528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实际成效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9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开发节奏，从「按周等」变成「按天交」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5440680" cy="32004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5440680" cy="566928"/>
          </a:xfrm>
          <a:prstGeom prst="roundRect">
            <a:avLst>
              <a:gd name="adj" fmla="val 6000"/>
            </a:avLst>
          </a:prstGeom>
          <a:solidFill>
            <a:srgbClr val="6B7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传统开发流程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783080"/>
            <a:ext cx="5440680" cy="3200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524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81344" y="1783080"/>
            <a:ext cx="5440680" cy="566928"/>
          </a:xfrm>
          <a:prstGeom prst="roundRect">
            <a:avLst>
              <a:gd name="adj" fmla="val 6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协同开发（本项目）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32888"/>
            <a:ext cx="1234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开发节奏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4248" y="2532888"/>
            <a:ext cx="3794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EA4335"/>
                </a:solidFill>
                <a:latin typeface="Microsoft YaHei"/>
                <a:ea typeface="Microsoft YaHei"/>
                <a:cs typeface="Microsoft YaHei"/>
              </a:rPr>
              <a:t>✕  </a:t>
            </a:r>
            <a:r>
              <a:rPr sz="13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以「周」为单位（2~4 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532888"/>
            <a:ext cx="1234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 i="0">
                <a:solidFill>
                  <a:srgbClr val="0B57D0"/>
                </a:solidFill>
                <a:latin typeface="Microsoft YaHei"/>
                <a:ea typeface="Microsoft YaHei"/>
                <a:cs typeface="Microsoft YaHei"/>
              </a:rPr>
              <a:t>开发节奏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98664" y="2532888"/>
            <a:ext cx="3794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1E8E3E"/>
                </a:solidFill>
                <a:latin typeface="Microsoft YaHei"/>
                <a:ea typeface="Microsoft YaHei"/>
                <a:cs typeface="Microsoft YaHei"/>
              </a:rPr>
              <a:t>✓  </a:t>
            </a:r>
            <a:r>
              <a:rPr sz="13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以「小时 ~ 天」为单位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3118104"/>
            <a:ext cx="4983480" cy="1097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9944" y="3118104"/>
            <a:ext cx="4983480" cy="10972"/>
          </a:xfrm>
          <a:prstGeom prst="rect">
            <a:avLst/>
          </a:prstGeom>
          <a:solidFill>
            <a:srgbClr val="C2D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136392"/>
            <a:ext cx="1234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投入人力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4248" y="3136392"/>
            <a:ext cx="3794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EA4335"/>
                </a:solidFill>
                <a:latin typeface="Microsoft YaHei"/>
                <a:ea typeface="Microsoft YaHei"/>
                <a:cs typeface="Microsoft YaHei"/>
              </a:rPr>
              <a:t>✕  </a:t>
            </a:r>
            <a:r>
              <a:rPr sz="13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需求、开发、测试多人跨部门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136392"/>
            <a:ext cx="1234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 i="0">
                <a:solidFill>
                  <a:srgbClr val="0B57D0"/>
                </a:solidFill>
                <a:latin typeface="Microsoft YaHei"/>
                <a:ea typeface="Microsoft YaHei"/>
                <a:cs typeface="Microsoft YaHei"/>
              </a:rPr>
              <a:t>投入人力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98664" y="3136392"/>
            <a:ext cx="3794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1E8E3E"/>
                </a:solidFill>
                <a:latin typeface="Microsoft YaHei"/>
                <a:ea typeface="Microsoft YaHei"/>
                <a:cs typeface="Microsoft YaHei"/>
              </a:rPr>
              <a:t>✓  </a:t>
            </a:r>
            <a:r>
              <a:rPr sz="13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1 名运维 + AI 虚拟团队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" y="3721608"/>
            <a:ext cx="4983480" cy="1097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9944" y="3721608"/>
            <a:ext cx="4983480" cy="10972"/>
          </a:xfrm>
          <a:prstGeom prst="rect">
            <a:avLst/>
          </a:prstGeom>
          <a:solidFill>
            <a:srgbClr val="C2D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739896"/>
            <a:ext cx="1234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技能要求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4248" y="3739896"/>
            <a:ext cx="3794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EA4335"/>
                </a:solidFill>
                <a:latin typeface="Microsoft YaHei"/>
                <a:ea typeface="Microsoft YaHei"/>
                <a:cs typeface="Microsoft YaHei"/>
              </a:rPr>
              <a:t>✕  </a:t>
            </a:r>
            <a:r>
              <a:rPr sz="13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需要专业编程背景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39896"/>
            <a:ext cx="1234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 i="0">
                <a:solidFill>
                  <a:srgbClr val="0B57D0"/>
                </a:solidFill>
                <a:latin typeface="Microsoft YaHei"/>
                <a:ea typeface="Microsoft YaHei"/>
                <a:cs typeface="Microsoft YaHei"/>
              </a:rPr>
              <a:t>技能要求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3739896"/>
            <a:ext cx="3794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1E8E3E"/>
                </a:solidFill>
                <a:latin typeface="Microsoft YaHei"/>
                <a:ea typeface="Microsoft YaHei"/>
                <a:cs typeface="Microsoft YaHei"/>
              </a:rPr>
              <a:t>✓  </a:t>
            </a:r>
            <a:r>
              <a:rPr sz="13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会说话、能描述需求即可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" y="4325112"/>
            <a:ext cx="4983480" cy="1097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9944" y="4325112"/>
            <a:ext cx="4983480" cy="10972"/>
          </a:xfrm>
          <a:prstGeom prst="rect">
            <a:avLst/>
          </a:prstGeom>
          <a:solidFill>
            <a:srgbClr val="C2D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343400"/>
            <a:ext cx="1234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小改动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4248" y="4343400"/>
            <a:ext cx="3794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EA4335"/>
                </a:solidFill>
                <a:latin typeface="Microsoft YaHei"/>
                <a:ea typeface="Microsoft YaHei"/>
                <a:cs typeface="Microsoft YaHei"/>
              </a:rPr>
              <a:t>✕  </a:t>
            </a:r>
            <a:r>
              <a:rPr sz="13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排队走完整流程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4343400"/>
            <a:ext cx="1234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 i="0">
                <a:solidFill>
                  <a:srgbClr val="0B57D0"/>
                </a:solidFill>
                <a:latin typeface="Microsoft YaHei"/>
                <a:ea typeface="Microsoft YaHei"/>
                <a:cs typeface="Microsoft YaHei"/>
              </a:rPr>
              <a:t>小改动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8664" y="4343400"/>
            <a:ext cx="3794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1E8E3E"/>
                </a:solidFill>
                <a:latin typeface="Microsoft YaHei"/>
                <a:ea typeface="Microsoft YaHei"/>
                <a:cs typeface="Microsoft YaHei"/>
              </a:rPr>
              <a:t>✓  </a:t>
            </a:r>
            <a:r>
              <a:rPr sz="13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随时提、随时改、马上用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138928"/>
            <a:ext cx="2706624" cy="1078992"/>
          </a:xfrm>
          <a:prstGeom prst="roundRect">
            <a:avLst>
              <a:gd name="adj" fmla="val 9000"/>
            </a:avLst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5230368"/>
            <a:ext cx="2706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 90%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687568"/>
            <a:ext cx="27066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C3D3EA"/>
                </a:solidFill>
                <a:latin typeface="Microsoft YaHei"/>
                <a:ea typeface="Microsoft YaHei"/>
                <a:cs typeface="Microsoft YaHei"/>
              </a:rPr>
              <a:t>单个小功能 开发周期缩短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56432" y="5138928"/>
            <a:ext cx="2706624" cy="1078992"/>
          </a:xfrm>
          <a:prstGeom prst="roundRect">
            <a:avLst>
              <a:gd name="adj" fmla="val 9000"/>
            </a:avLst>
          </a:prstGeom>
          <a:solidFill>
            <a:srgbClr val="16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56432" y="5230368"/>
            <a:ext cx="2706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6432" y="5687568"/>
            <a:ext cx="27066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C3D3EA"/>
                </a:solidFill>
                <a:latin typeface="Microsoft YaHei"/>
                <a:ea typeface="Microsoft YaHei"/>
                <a:cs typeface="Microsoft YaHei"/>
              </a:rPr>
              <a:t>版本持续迭代 (v2 → v5.6)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45936" y="5138928"/>
            <a:ext cx="2706624" cy="1078992"/>
          </a:xfrm>
          <a:prstGeom prst="roundRect">
            <a:avLst>
              <a:gd name="adj" fmla="val 9000"/>
            </a:avLst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5936" y="5230368"/>
            <a:ext cx="2706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24 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5687568"/>
            <a:ext cx="27066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C3D3EA"/>
                </a:solidFill>
                <a:latin typeface="Microsoft YaHei"/>
                <a:ea typeface="Microsoft YaHei"/>
                <a:cs typeface="Microsoft YaHei"/>
              </a:rPr>
              <a:t>业务分析卡片 一次建成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40" y="5138928"/>
            <a:ext cx="2706624" cy="1078992"/>
          </a:xfrm>
          <a:prstGeom prst="roundRect">
            <a:avLst>
              <a:gd name="adj" fmla="val 9000"/>
            </a:avLst>
          </a:prstGeom>
          <a:solidFill>
            <a:srgbClr val="16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5230368"/>
            <a:ext cx="2706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2300" b="1" i="0">
                <a:solidFill>
                  <a:srgbClr val="FBBC04"/>
                </a:solidFill>
                <a:latin typeface="Microsoft YaHei"/>
                <a:ea typeface="Microsoft YaHei"/>
                <a:cs typeface="Microsoft YaHei"/>
              </a:rPr>
              <a:t>20s → 2s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5687568"/>
            <a:ext cx="27066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C3D3EA"/>
                </a:solidFill>
                <a:latin typeface="Microsoft YaHei"/>
                <a:ea typeface="Microsoft YaHei"/>
                <a:cs typeface="Microsoft YaHei"/>
              </a:rPr>
              <a:t>10 万行数据 再次打开耗时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3276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注：周期对比基于本项目实际迭代经验估算。更大的价值在于把宝贵的 IT 开发资源释放给更核心的系统。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6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-1097280"/>
            <a:ext cx="2377440" cy="2377440"/>
          </a:xfrm>
          <a:prstGeom prst="ellipse">
            <a:avLst/>
          </a:prstGeom>
          <a:solidFill>
            <a:srgbClr val="16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5120640"/>
            <a:ext cx="310896" cy="310896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FBBC04"/>
                </a:solidFill>
                <a:latin typeface="Microsoft YaHei"/>
                <a:ea typeface="Microsoft YaHei"/>
                <a:cs typeface="Microsoft YaHei"/>
              </a:rPr>
              <a:t>NEXT · 未来规划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把这套方法，复制到更多运维系统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24028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228600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门禁系统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5292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通行数据分析与异常情况主动发现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6596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224028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228600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物联管控系统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85292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设备运行状态看板与故障预警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7" y="196596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39" y="224028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7" y="228600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更多运维场景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85292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问题收集 → 可行性评估 → 快速落地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40480"/>
            <a:ext cx="11055096" cy="658368"/>
          </a:xfrm>
          <a:prstGeom prst="roundRect">
            <a:avLst>
              <a:gd name="adj" fmla="val 12000"/>
            </a:avLst>
          </a:prstGeom>
          <a:solidFill>
            <a:srgbClr val="173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4106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1" i="0">
                <a:solidFill>
                  <a:srgbClr val="FBBC04"/>
                </a:solidFill>
                <a:latin typeface="Microsoft YaHei"/>
                <a:ea typeface="Microsoft YaHei"/>
                <a:cs typeface="Microsoft YaHei"/>
              </a:rPr>
              <a:t>沉淀可复用的「多 AI 协作模板」：</a:t>
            </a:r>
            <a:r>
              <a:rPr sz="1400" b="0" i="0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文档规范 + 协作流程拿来即用，新场景快速开工。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956048"/>
            <a:ext cx="475488" cy="54864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13892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谢谢聆听！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87044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0" i="0">
                <a:solidFill>
                  <a:srgbClr val="BED4F2"/>
                </a:solidFill>
                <a:latin typeface="Microsoft YaHei"/>
                <a:ea typeface="Microsoft YaHei"/>
                <a:cs typeface="Microsoft YaHei"/>
              </a:rPr>
              <a:t>人人都能用 AI，解决自己身边的问题。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272784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9FB8DC"/>
                </a:solidFill>
                <a:latin typeface="Microsoft YaHei"/>
                <a:ea typeface="Microsoft YaHei"/>
                <a:cs typeface="Microsoft YaHei"/>
              </a:rPr>
              <a:t>安全技防部  ·  2026 年 10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
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50" b="0" i="0">
                <a:solidFill>
                  <a:srgbClr val="6A7280"/>
                </a:solidFill>
                <a:latin typeface="Microsoft YaHei"/>
                <a:ea typeface="Microsoft YaHei"/>
                <a:cs typeface="Microsoft YaHei"/>
              </a:rPr>
              <a:t>小功能平均上线周期（天 · 经验估算）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天数</c:v>
                </c:pt>
              </c:strCache>
            </c:strRef>
          </c:tx>
          <c:dPt>
            <c:idx val="0"/>
            <c:spPr>
              <a:solidFill>
                <a:srgbClr val="A7AEBA"/>
              </a:solidFill>
            </c:spPr>
          </c:dPt>
          <c:dPt>
            <c:idx val="1"/>
            <c:spPr>
              <a:solidFill>
                <a:srgbClr val="2E6BE6"/>
              </a:solidFill>
            </c:spPr>
          </c:dPt>
          <c:cat>
            <c:strRef>
              <c:f>Sheet1!$A$2:$A$3</c:f>
              <c:strCache>
                <c:ptCount val="2"/>
                <c:pt idx="0">
                  <c:v>传统排期开发</c:v>
                </c:pt>
                <c:pt idx="1">
                  <c:v>AI 协同开发（本项目）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</c:v>
                </c:pt>
                <c:pt idx="1">
                  <c:v>1</c:v>
                </c:pt>
              </c:numCache>
            </c:numRef>
          </c:val>
        </c:ser>
        <c:dLbls>
          <c:numFmt formatCode="0&quot; 天&quot;" sourceLinked="0"/>
          <c:txPr>
            <a:bodyPr/>
            <a:lstStyle/>
            <a:p>
              <a:pPr>
                <a:defRPr sz="13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9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9ECF1"/>
            </a:solidFill>
          </a:ln>
        </c:spPr>
        <c:txPr>
          <a:bodyPr/>
          <a:lstStyle/>
          <a:p>
            <a:pPr>
              <a:defRPr sz="1150">
                <a:solidFill>
                  <a:srgbClr val="14182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8.0"/>
          <c:min val="0.0"/>
        </c:scaling>
        <c:delete val="0"/>
        <c:axPos val="l"/>
        <c:majorGridlines>
          <c:spPr>
            <a:ln w="6350">
              <a:solidFill>
                <a:srgbClr val="E9ECF1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9CA3AF"/>
                </a:solidFill>
              </a:defRPr>
            </a:pPr>
          </a:p>
        </c:txPr>
        <c:crossAx val="-2068027336"/>
        <c:crosses val="autoZero"/>
        <c:majorUnit val="6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1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84080" y="-2194560"/>
            <a:ext cx="4754880" cy="4754880"/>
          </a:xfrm>
          <a:prstGeom prst="ellipse">
            <a:avLst/>
          </a:prstGeom>
          <a:solidFill>
            <a:srgbClr val="14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4572000"/>
            <a:ext cx="3291840" cy="3291840"/>
          </a:xfrm>
          <a:prstGeom prst="ellipse">
            <a:avLst/>
          </a:prstGeom>
          <a:solidFill>
            <a:srgbClr val="14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053328" y="5440680"/>
            <a:ext cx="146304" cy="146304"/>
          </a:xfrm>
          <a:prstGeom prst="ellipse">
            <a:avLst/>
          </a:prstGeom>
          <a:solidFill>
            <a:srgbClr val="FBB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66928" y="658368"/>
            <a:ext cx="2487168" cy="384048"/>
          </a:xfrm>
          <a:prstGeom prst="roundRect">
            <a:avLst>
              <a:gd name="adj" fmla="val 50000"/>
            </a:avLst>
          </a:prstGeom>
          <a:solidFill>
            <a:srgbClr val="14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731520"/>
            <a:ext cx="2487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BFD2F2"/>
                </a:solidFill>
                <a:latin typeface="Microsoft YaHei"/>
                <a:ea typeface="Microsoft YaHei"/>
                <a:cs typeface="Microsoft YaHei"/>
              </a:rPr>
              <a:t>AI 应用创新大赛 · 参赛项目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74519"/>
            <a:ext cx="58521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4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让运维人员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自己「造」工具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" y="3675887"/>
            <a:ext cx="822960" cy="64008"/>
          </a:xfrm>
          <a:prstGeom prst="rect">
            <a:avLst/>
          </a:prstGeom>
          <a:solidFill>
            <a:srgbClr val="FBB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3913632"/>
            <a:ext cx="566928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C6D6F0"/>
                </a:solidFill>
                <a:latin typeface="Microsoft YaHei"/>
                <a:ea typeface="Microsoft YaHei"/>
                <a:cs typeface="Microsoft YaHei"/>
              </a:rPr>
              <a:t>多个 AI 助手协同开发，零代码打造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C6D6F0"/>
                </a:solidFill>
                <a:latin typeface="Microsoft YaHei"/>
                <a:ea typeface="Microsoft YaHei"/>
                <a:cs typeface="Microsoft YaHei"/>
              </a:rPr>
              <a:t>物品放行监控数据看板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956048"/>
            <a:ext cx="1435608" cy="402336"/>
          </a:xfrm>
          <a:prstGeom prst="roundRect">
            <a:avLst>
              <a:gd name="adj" fmla="val 50000"/>
            </a:avLst>
          </a:prstGeom>
          <a:noFill/>
          <a:ln w="1">
            <a:solidFill>
              <a:srgbClr val="3D5A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5038344"/>
            <a:ext cx="14356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9E4F7"/>
                </a:solidFill>
                <a:latin typeface="Microsoft YaHei"/>
                <a:ea typeface="Microsoft YaHei"/>
                <a:cs typeface="Microsoft YaHei"/>
              </a:rPr>
              <a:t>全程自然语言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85416" y="4956048"/>
            <a:ext cx="1435608" cy="402336"/>
          </a:xfrm>
          <a:prstGeom prst="roundRect">
            <a:avLst>
              <a:gd name="adj" fmla="val 50000"/>
            </a:avLst>
          </a:prstGeom>
          <a:noFill/>
          <a:ln w="1">
            <a:solidFill>
              <a:srgbClr val="3D5A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85416" y="5038344"/>
            <a:ext cx="14356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9E4F7"/>
                </a:solidFill>
                <a:latin typeface="Microsoft YaHei"/>
                <a:ea typeface="Microsoft YaHei"/>
                <a:cs typeface="Microsoft YaHei"/>
              </a:rPr>
              <a:t>数据不出内网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28616" y="4956048"/>
            <a:ext cx="1997964" cy="402336"/>
          </a:xfrm>
          <a:prstGeom prst="roundRect">
            <a:avLst>
              <a:gd name="adj" fmla="val 50000"/>
            </a:avLst>
          </a:prstGeom>
          <a:noFill/>
          <a:ln w="1">
            <a:solidFill>
              <a:srgbClr val="3D5A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28616" y="5038344"/>
            <a:ext cx="19979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9E4F7"/>
                </a:solidFill>
                <a:latin typeface="Microsoft YaHei"/>
                <a:ea typeface="Microsoft YaHei"/>
                <a:cs typeface="Microsoft YaHei"/>
              </a:rPr>
              <a:t>10 万行本地分析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05332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安全技防部</a:t>
            </a:r>
            <a:r>
              <a:rPr sz="1150" b="0" i="0">
                <a:solidFill>
                  <a:srgbClr val="BFD2F2"/>
                </a:solidFill>
                <a:latin typeface="Microsoft YaHei"/>
                <a:ea typeface="Microsoft YaHei"/>
                <a:cs typeface="Microsoft YaHei"/>
              </a:rPr>
              <a:t>    2026 年 10 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75120" y="566928"/>
            <a:ext cx="4956048" cy="572414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8" name="Picture 17" descr="cover_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9712" y="786384"/>
            <a:ext cx="4626864" cy="34747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675120" y="4498848"/>
            <a:ext cx="4956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41822"/>
                </a:solidFill>
                <a:latin typeface="Microsoft YaHei"/>
                <a:ea typeface="Microsoft YaHei"/>
                <a:cs typeface="Microsoft YaHei"/>
              </a:rPr>
              <a:t>AI 专家队 · 协同生成分析看板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0" y="4956048"/>
            <a:ext cx="1078992" cy="420624"/>
          </a:xfrm>
          <a:prstGeom prst="roundRect">
            <a:avLst>
              <a:gd name="adj" fmla="val 50000"/>
            </a:avLst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0" y="5047488"/>
            <a:ext cx="10789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设计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5904" y="4992624"/>
            <a:ext cx="2743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9CA3A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13648" y="4956048"/>
            <a:ext cx="1078992" cy="420624"/>
          </a:xfrm>
          <a:prstGeom prst="roundRect">
            <a:avLst>
              <a:gd name="adj" fmla="val 50000"/>
            </a:avLst>
          </a:prstGeom>
          <a:solidFill>
            <a:srgbClr val="0B2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13648" y="5047488"/>
            <a:ext cx="10789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开发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74352" y="4992624"/>
            <a:ext cx="2743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9CA3A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12096" y="4956048"/>
            <a:ext cx="1078992" cy="420624"/>
          </a:xfrm>
          <a:prstGeom prst="roundRect">
            <a:avLst>
              <a:gd name="adj" fmla="val 50000"/>
            </a:avLst>
          </a:prstGeom>
          <a:solidFill>
            <a:srgbClr val="FBB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12096" y="5047488"/>
            <a:ext cx="10789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214A"/>
                </a:solidFill>
                <a:latin typeface="Microsoft YaHei"/>
                <a:ea typeface="Microsoft YaHei"/>
                <a:cs typeface="Microsoft YaHei"/>
              </a:rPr>
              <a:t>测试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5742432"/>
            <a:ext cx="4956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A7280"/>
                </a:solidFill>
                <a:latin typeface="Microsoft YaHei"/>
                <a:ea typeface="Microsoft YaHei"/>
                <a:cs typeface="Microsoft YaHei"/>
              </a:rPr>
              <a:t>全程对话完成，没有手写一行代码</a:t>
            </a:r>
          </a:p>
        </p:txBody>
      </p:sp>
      <p:sp>
        <p:nvSpPr>
          <p:cNvPr id="29" name="AILabel"/>
          <p:cNvSpPr txBox="1"/>
          <p:nvPr/>
        </p:nvSpPr>
        <p:spPr>
          <a:xfrm>
            <a:off x="9611695" y="6278000"/>
            <a:ext cx="2400000" cy="400000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FFFFFF"/>
            </a:solidFill>
          </a:ln>
        </p:spPr>
        <p:txBody>
          <a:bodyPr wrap="square" rtlCol="0" anchor="ctr" lIns="91440" tIns="45720" rIns="91440" bIns="45720"/>
          <a:lstStyle/>
          <a:p>
            <a:pPr algn="ctr"/>
            <a:r>
              <a:rPr lang="zh-CN" sz="1400" b="1" dirty="0">
                <a:solidFill>
                  <a:srgbClr val="FFFFFF"/>
                </a:solidFill>
                <a:latin typeface="Arial"/>
                <a:ea typeface="SimSun"/>
              </a:rPr>
              <a:t>含 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2976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FBB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47472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41822"/>
                </a:solidFill>
                <a:latin typeface="Microsoft YaHei"/>
                <a:ea typeface="Microsoft YaHei"/>
                <a:cs typeface="Microsoft YaHei"/>
              </a:rPr>
              <a:t>今天讲什么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783080"/>
            <a:ext cx="11430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81328" y="1783080"/>
            <a:ext cx="3200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41822"/>
                </a:solidFill>
                <a:latin typeface="Microsoft YaHei"/>
                <a:ea typeface="Microsoft YaHei"/>
                <a:cs typeface="Microsoft YaHei"/>
              </a:rPr>
              <a:t>应用场景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74920" y="1783080"/>
            <a:ext cx="63093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A7280"/>
                </a:solidFill>
                <a:latin typeface="Microsoft YaHei"/>
                <a:ea typeface="Microsoft YaHei"/>
                <a:cs typeface="Microsoft YaHei"/>
              </a:rPr>
              <a:t>小需求，为什么总要等好几周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569464"/>
            <a:ext cx="11055096" cy="10058"/>
          </a:xfrm>
          <a:prstGeom prst="rect">
            <a:avLst/>
          </a:prstGeom>
          <a:solidFill>
            <a:srgbClr val="E9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24328"/>
            <a:ext cx="11430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624328"/>
            <a:ext cx="3200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41822"/>
                </a:solidFill>
                <a:latin typeface="Microsoft YaHei"/>
                <a:ea typeface="Microsoft YaHei"/>
                <a:cs typeface="Microsoft YaHei"/>
              </a:rPr>
              <a:t>使用的 AI 工具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2624328"/>
            <a:ext cx="63093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A7280"/>
                </a:solidFill>
                <a:latin typeface="Microsoft YaHei"/>
                <a:ea typeface="Microsoft YaHei"/>
                <a:cs typeface="Microsoft YaHei"/>
              </a:rPr>
              <a:t>五个智能助手，各有所长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410712"/>
            <a:ext cx="11055096" cy="10058"/>
          </a:xfrm>
          <a:prstGeom prst="rect">
            <a:avLst/>
          </a:prstGeom>
          <a:solidFill>
            <a:srgbClr val="E9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3465576"/>
            <a:ext cx="11430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C88A0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3465576"/>
            <a:ext cx="3200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41822"/>
                </a:solidFill>
                <a:latin typeface="Microsoft YaHei"/>
                <a:ea typeface="Microsoft YaHei"/>
                <a:cs typeface="Microsoft YaHei"/>
              </a:rPr>
              <a:t>解决方案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3465576"/>
            <a:ext cx="63093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A7280"/>
                </a:solidFill>
                <a:latin typeface="Microsoft YaHei"/>
                <a:ea typeface="Microsoft YaHei"/>
                <a:cs typeface="Microsoft YaHei"/>
              </a:rPr>
              <a:t>多 AI 组队 + 一套交接制度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4251960"/>
            <a:ext cx="11055096" cy="10058"/>
          </a:xfrm>
          <a:prstGeom prst="rect">
            <a:avLst/>
          </a:prstGeom>
          <a:solidFill>
            <a:srgbClr val="E9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4306824"/>
            <a:ext cx="11430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4306824"/>
            <a:ext cx="3200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41822"/>
                </a:solidFill>
                <a:latin typeface="Microsoft YaHei"/>
                <a:ea typeface="Microsoft YaHei"/>
                <a:cs typeface="Microsoft YaHei"/>
              </a:rPr>
              <a:t>实际成效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4306824"/>
            <a:ext cx="63093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A7280"/>
                </a:solidFill>
                <a:latin typeface="Microsoft YaHei"/>
                <a:ea typeface="Microsoft YaHei"/>
                <a:cs typeface="Microsoft YaHei"/>
              </a:rPr>
              <a:t>开发节奏从「按周」到「按天」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5093208"/>
            <a:ext cx="11055096" cy="10058"/>
          </a:xfrm>
          <a:prstGeom prst="rect">
            <a:avLst/>
          </a:prstGeom>
          <a:solidFill>
            <a:srgbClr val="E9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5148072"/>
            <a:ext cx="11430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5148072"/>
            <a:ext cx="32004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41822"/>
                </a:solidFill>
                <a:latin typeface="Microsoft YaHei"/>
                <a:ea typeface="Microsoft YaHei"/>
                <a:cs typeface="Microsoft YaHei"/>
              </a:rPr>
              <a:t>未来规划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5148072"/>
            <a:ext cx="63093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A7280"/>
                </a:solidFill>
                <a:latin typeface="Microsoft YaHei"/>
                <a:ea typeface="Microsoft YaHei"/>
                <a:cs typeface="Microsoft YaHei"/>
              </a:rPr>
              <a:t>把方法复制到更多运维系统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5934456"/>
            <a:ext cx="11055096" cy="10058"/>
          </a:xfrm>
          <a:prstGeom prst="rect">
            <a:avLst/>
          </a:prstGeom>
          <a:solidFill>
            <a:srgbClr val="E9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6528816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A3AF"/>
                </a:solidFill>
                <a:latin typeface="Microsoft YaHei"/>
                <a:ea typeface="Microsoft YaHei"/>
                <a:cs typeface="Microsoft YaHei"/>
              </a:rPr>
              <a:t>多 AI Agent 协同开发 · 物品放行监控数据看板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528816"/>
            <a:ext cx="3291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A3A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2976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FBB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47472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rPr>
              <a:t>应用场景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41822"/>
                </a:solidFill>
                <a:latin typeface="Microsoft YaHei"/>
                <a:ea typeface="Microsoft YaHei"/>
                <a:cs typeface="Microsoft YaHei"/>
              </a:rPr>
              <a:t>一个小改动，为什么总要等好几周？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35024"/>
            <a:ext cx="11064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A7280"/>
                </a:solidFill>
                <a:latin typeface="Microsoft YaHei"/>
                <a:ea typeface="Microsoft YaHei"/>
                <a:cs typeface="Microsoft YaHei"/>
              </a:rPr>
              <a:t>公司 GDMS 整合了放行、门禁、物联等各大系统；在上面加功能，必须走完整流程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" y="2157984"/>
            <a:ext cx="5292547" cy="475488"/>
          </a:xfrm>
          <a:prstGeom prst="roundRect">
            <a:avLst>
              <a:gd name="adj" fmla="val 50000"/>
            </a:avLst>
          </a:prstGeom>
          <a:solidFill>
            <a:srgbClr val="FEF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" y="1920240"/>
            <a:ext cx="3840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88A00"/>
                </a:solidFill>
                <a:latin typeface="Microsoft YaHei"/>
                <a:ea typeface="Microsoft YaHei"/>
                <a:cs typeface="Microsoft YaHei"/>
              </a:rPr>
              <a:t>时间主要花在「规划 + 排队」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96112" y="2395728"/>
            <a:ext cx="10396728" cy="0"/>
          </a:xfrm>
          <a:prstGeom prst="line">
            <a:avLst/>
          </a:prstGeom>
          <a:ln w="20320" cap="rnd">
            <a:solidFill>
              <a:srgbClr val="CFD6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804672" y="2304288"/>
            <a:ext cx="182880" cy="182880"/>
          </a:xfrm>
          <a:prstGeom prst="ellipse">
            <a:avLst/>
          </a:prstGeom>
          <a:solidFill>
            <a:srgbClr val="2E6BE6"/>
          </a:solidFill>
          <a:ln w="2032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-18288" y="259689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1822"/>
                </a:solidFill>
                <a:latin typeface="Microsoft YaHei"/>
                <a:ea typeface="Microsoft YaHei"/>
                <a:cs typeface="Microsoft YaHei"/>
              </a:rPr>
              <a:t>需求规划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18288" y="2898648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88A00"/>
                </a:solidFill>
                <a:latin typeface="Microsoft YaHei"/>
                <a:ea typeface="Microsoft YaHei"/>
                <a:cs typeface="Microsoft YaHei"/>
              </a:rPr>
              <a:t>反复确认</a:t>
            </a:r>
          </a:p>
        </p:txBody>
      </p:sp>
      <p:sp>
        <p:nvSpPr>
          <p:cNvPr id="12" name="Oval 11"/>
          <p:cNvSpPr/>
          <p:nvPr/>
        </p:nvSpPr>
        <p:spPr>
          <a:xfrm>
            <a:off x="2884017" y="2304288"/>
            <a:ext cx="182880" cy="182880"/>
          </a:xfrm>
          <a:prstGeom prst="ellipse">
            <a:avLst/>
          </a:prstGeom>
          <a:solidFill>
            <a:srgbClr val="2E6BE6"/>
          </a:solidFill>
          <a:ln w="2032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61057" y="259689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1822"/>
                </a:solidFill>
                <a:latin typeface="Microsoft YaHei"/>
                <a:ea typeface="Microsoft YaHei"/>
                <a:cs typeface="Microsoft YaHei"/>
              </a:rPr>
              <a:t>跨部门沟通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61057" y="2898648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88A00"/>
                </a:solidFill>
                <a:latin typeface="Microsoft YaHei"/>
                <a:ea typeface="Microsoft YaHei"/>
                <a:cs typeface="Microsoft YaHei"/>
              </a:rPr>
              <a:t>来回对接</a:t>
            </a:r>
          </a:p>
        </p:txBody>
      </p:sp>
      <p:sp>
        <p:nvSpPr>
          <p:cNvPr id="15" name="Oval 14"/>
          <p:cNvSpPr/>
          <p:nvPr/>
        </p:nvSpPr>
        <p:spPr>
          <a:xfrm>
            <a:off x="4963363" y="2304288"/>
            <a:ext cx="182880" cy="182880"/>
          </a:xfrm>
          <a:prstGeom prst="ellipse">
            <a:avLst/>
          </a:prstGeom>
          <a:solidFill>
            <a:srgbClr val="2E6BE6"/>
          </a:solidFill>
          <a:ln w="2032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40403" y="259689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1822"/>
                </a:solidFill>
                <a:latin typeface="Microsoft YaHei"/>
                <a:ea typeface="Microsoft YaHei"/>
                <a:cs typeface="Microsoft YaHei"/>
              </a:rPr>
              <a:t>排队等开发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40403" y="2898648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88A00"/>
                </a:solidFill>
                <a:latin typeface="Microsoft YaHei"/>
                <a:ea typeface="Microsoft YaHei"/>
                <a:cs typeface="Microsoft YaHei"/>
              </a:rPr>
              <a:t>资源紧张</a:t>
            </a:r>
          </a:p>
        </p:txBody>
      </p:sp>
      <p:sp>
        <p:nvSpPr>
          <p:cNvPr id="18" name="Oval 17"/>
          <p:cNvSpPr/>
          <p:nvPr/>
        </p:nvSpPr>
        <p:spPr>
          <a:xfrm>
            <a:off x="7042708" y="2304288"/>
            <a:ext cx="182880" cy="182880"/>
          </a:xfrm>
          <a:prstGeom prst="ellipse">
            <a:avLst/>
          </a:prstGeom>
          <a:solidFill>
            <a:srgbClr val="FFFFFF"/>
          </a:solidFill>
          <a:ln w="20320">
            <a:solidFill>
              <a:srgbClr val="A7AE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9748" y="259689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1822"/>
                </a:solidFill>
                <a:latin typeface="Microsoft YaHei"/>
                <a:ea typeface="Microsoft YaHei"/>
                <a:cs typeface="Microsoft YaHei"/>
              </a:rPr>
              <a:t>代码开发</a:t>
            </a:r>
          </a:p>
        </p:txBody>
      </p:sp>
      <p:sp>
        <p:nvSpPr>
          <p:cNvPr id="20" name="Oval 19"/>
          <p:cNvSpPr/>
          <p:nvPr/>
        </p:nvSpPr>
        <p:spPr>
          <a:xfrm>
            <a:off x="9122054" y="2304288"/>
            <a:ext cx="182880" cy="182880"/>
          </a:xfrm>
          <a:prstGeom prst="ellipse">
            <a:avLst/>
          </a:prstGeom>
          <a:solidFill>
            <a:srgbClr val="FFFFFF"/>
          </a:solidFill>
          <a:ln w="20320">
            <a:solidFill>
              <a:srgbClr val="A7AE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9094" y="259689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1822"/>
                </a:solidFill>
                <a:latin typeface="Microsoft YaHei"/>
                <a:ea typeface="Microsoft YaHei"/>
                <a:cs typeface="Microsoft YaHei"/>
              </a:rPr>
              <a:t>测试验证</a:t>
            </a:r>
          </a:p>
        </p:txBody>
      </p:sp>
      <p:sp>
        <p:nvSpPr>
          <p:cNvPr id="22" name="Oval 21"/>
          <p:cNvSpPr/>
          <p:nvPr/>
        </p:nvSpPr>
        <p:spPr>
          <a:xfrm>
            <a:off x="11201400" y="2304288"/>
            <a:ext cx="182880" cy="182880"/>
          </a:xfrm>
          <a:prstGeom prst="ellipse">
            <a:avLst/>
          </a:prstGeom>
          <a:solidFill>
            <a:srgbClr val="FFFFFF"/>
          </a:solidFill>
          <a:ln w="20320">
            <a:solidFill>
              <a:srgbClr val="A7AE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78440" y="2596896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1822"/>
                </a:solidFill>
                <a:latin typeface="Microsoft YaHei"/>
                <a:ea typeface="Microsoft YaHei"/>
                <a:cs typeface="Microsoft YaHei"/>
              </a:rPr>
              <a:t>正式上线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675887"/>
            <a:ext cx="566928" cy="566928"/>
          </a:xfrm>
          <a:prstGeom prst="roundRect">
            <a:avLst>
              <a:gd name="adj" fmla="val 26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05258" y="3814218"/>
            <a:ext cx="290267" cy="290267"/>
          </a:xfrm>
          <a:prstGeom prst="ellipse">
            <a:avLst/>
          </a:prstGeom>
          <a:solidFill>
            <a:srgbClr val="FFFFFF"/>
          </a:solidFill>
          <a:ln w="3302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 flipV="1">
            <a:off x="850392" y="3865015"/>
            <a:ext cx="0" cy="94337"/>
          </a:xfrm>
          <a:prstGeom prst="line">
            <a:avLst/>
          </a:prstGeom>
          <a:ln w="33020" cap="rnd">
            <a:solidFill>
              <a:srgbClr val="2E6B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50392" y="3959352"/>
            <a:ext cx="65310" cy="43540"/>
          </a:xfrm>
          <a:prstGeom prst="line">
            <a:avLst/>
          </a:prstGeom>
          <a:ln w="33020" cap="rnd">
            <a:solidFill>
              <a:srgbClr val="2E6B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835878" y="3944838"/>
            <a:ext cx="29026" cy="29026"/>
          </a:xfrm>
          <a:prstGeom prst="ellipse">
            <a:avLst/>
          </a:prstGeom>
          <a:solidFill>
            <a:srgbClr val="2E6BE6"/>
          </a:solidFill>
          <a:ln w="1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16736" y="3712463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1822"/>
                </a:solidFill>
                <a:latin typeface="Microsoft YaHei"/>
                <a:ea typeface="Microsoft YaHei"/>
                <a:cs typeface="Microsoft YaHei"/>
              </a:rPr>
              <a:t>等得久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4407408"/>
            <a:ext cx="3429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7280"/>
                </a:solidFill>
                <a:latin typeface="Microsoft YaHei"/>
                <a:ea typeface="Microsoft YaHei"/>
                <a:cs typeface="Microsoft YaHei"/>
              </a:rPr>
              <a:t>小优化也要走完全部流程，一等就是 2~4 周，节奏以「周」计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242816" y="3749039"/>
            <a:ext cx="0" cy="1389889"/>
          </a:xfrm>
          <a:prstGeom prst="line">
            <a:avLst/>
          </a:prstGeom>
          <a:ln w="15240" cap="rnd">
            <a:solidFill>
              <a:srgbClr val="E9ECF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343400" y="3675887"/>
            <a:ext cx="566928" cy="566928"/>
          </a:xfrm>
          <a:prstGeom prst="roundRect">
            <a:avLst>
              <a:gd name="adj" fmla="val 26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488987" y="3843245"/>
            <a:ext cx="275753" cy="253983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302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4488987" y="3915811"/>
            <a:ext cx="275753" cy="0"/>
          </a:xfrm>
          <a:prstGeom prst="line">
            <a:avLst/>
          </a:prstGeom>
          <a:ln w="33020" cap="rnd">
            <a:solidFill>
              <a:srgbClr val="2E6B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4554297" y="3799705"/>
            <a:ext cx="0" cy="43540"/>
          </a:xfrm>
          <a:prstGeom prst="line">
            <a:avLst/>
          </a:prstGeom>
          <a:ln w="33020" cap="rnd">
            <a:solidFill>
              <a:srgbClr val="2E6B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4699430" y="3799705"/>
            <a:ext cx="0" cy="43540"/>
          </a:xfrm>
          <a:prstGeom prst="line">
            <a:avLst/>
          </a:prstGeom>
          <a:ln w="33020" cap="rnd">
            <a:solidFill>
              <a:srgbClr val="2E6B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4550668" y="3973865"/>
            <a:ext cx="29026" cy="29026"/>
          </a:xfrm>
          <a:prstGeom prst="roundRect">
            <a:avLst>
              <a:gd name="adj" fmla="val 30000"/>
            </a:avLst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612350" y="3973865"/>
            <a:ext cx="29026" cy="29026"/>
          </a:xfrm>
          <a:prstGeom prst="roundRect">
            <a:avLst>
              <a:gd name="adj" fmla="val 30000"/>
            </a:avLst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674032" y="3973865"/>
            <a:ext cx="29026" cy="29026"/>
          </a:xfrm>
          <a:prstGeom prst="roundRect">
            <a:avLst>
              <a:gd name="adj" fmla="val 30000"/>
            </a:avLst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93208" y="3712463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1822"/>
                </a:solidFill>
                <a:latin typeface="Microsoft YaHei"/>
                <a:ea typeface="Microsoft YaHei"/>
                <a:cs typeface="Microsoft YaHei"/>
              </a:rPr>
              <a:t>排不上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43400" y="4407408"/>
            <a:ext cx="3429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7280"/>
                </a:solidFill>
                <a:latin typeface="Microsoft YaHei"/>
                <a:ea typeface="Microsoft YaHei"/>
                <a:cs typeface="Microsoft YaHei"/>
              </a:rPr>
              <a:t>IT 开发资源紧张，运维侧的小需求常常排不上队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019288" y="3749039"/>
            <a:ext cx="0" cy="1389889"/>
          </a:xfrm>
          <a:prstGeom prst="line">
            <a:avLst/>
          </a:prstGeom>
          <a:ln w="15240" cap="rnd">
            <a:solidFill>
              <a:srgbClr val="E9ECF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8119871" y="3675887"/>
            <a:ext cx="566928" cy="566928"/>
          </a:xfrm>
          <a:prstGeom prst="roundRect">
            <a:avLst>
              <a:gd name="adj" fmla="val 26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258202" y="3814218"/>
            <a:ext cx="290267" cy="188673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302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8330769" y="3995635"/>
            <a:ext cx="0" cy="87080"/>
          </a:xfrm>
          <a:prstGeom prst="line">
            <a:avLst/>
          </a:prstGeom>
          <a:ln w="33020" cap="rnd">
            <a:solidFill>
              <a:srgbClr val="2E6B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8330769" y="3995635"/>
            <a:ext cx="72566" cy="87080"/>
          </a:xfrm>
          <a:prstGeom prst="line">
            <a:avLst/>
          </a:prstGeom>
          <a:ln w="33020" cap="rnd">
            <a:solidFill>
              <a:srgbClr val="2E6B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8316255" y="3886785"/>
            <a:ext cx="29026" cy="29026"/>
          </a:xfrm>
          <a:prstGeom prst="ellipse">
            <a:avLst/>
          </a:prstGeom>
          <a:solidFill>
            <a:srgbClr val="2E6BE6"/>
          </a:solidFill>
          <a:ln w="1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367052" y="3886785"/>
            <a:ext cx="29026" cy="29026"/>
          </a:xfrm>
          <a:prstGeom prst="ellipse">
            <a:avLst/>
          </a:prstGeom>
          <a:solidFill>
            <a:srgbClr val="2E6BE6"/>
          </a:solidFill>
          <a:ln w="1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417849" y="3886785"/>
            <a:ext cx="29026" cy="29026"/>
          </a:xfrm>
          <a:prstGeom prst="ellipse">
            <a:avLst/>
          </a:prstGeom>
          <a:solidFill>
            <a:srgbClr val="2E6BE6"/>
          </a:solidFill>
          <a:ln w="1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869680" y="3712463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1822"/>
                </a:solidFill>
                <a:latin typeface="Microsoft YaHei"/>
                <a:ea typeface="Microsoft YaHei"/>
                <a:cs typeface="Microsoft YaHei"/>
              </a:rPr>
              <a:t>沟通累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19871" y="4407408"/>
            <a:ext cx="3429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A7280"/>
                </a:solidFill>
                <a:latin typeface="Microsoft YaHei"/>
                <a:ea typeface="Microsoft YaHei"/>
                <a:cs typeface="Microsoft YaHei"/>
              </a:rPr>
              <a:t>跨部门反复对接需求，时间和人力都消耗在沟通上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66928" y="5596128"/>
            <a:ext cx="11055096" cy="603504"/>
          </a:xfrm>
          <a:prstGeom prst="roundRect">
            <a:avLst>
              <a:gd name="adj" fmla="val 12000"/>
            </a:avLst>
          </a:prstGeom>
          <a:solidFill>
            <a:srgbClr val="FEF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863193" y="5736945"/>
            <a:ext cx="321869" cy="292608"/>
          </a:xfrm>
          <a:custGeom>
            <a:avLst/>
            <a:gdLst/>
            <a:ahLst/>
            <a:cxnLst/>
            <a:rect l="l" t="t" r="r" b="b"/>
            <a:pathLst>
              <a:path w="321869" h="292608">
                <a:moveTo>
                  <a:pt x="160935" y="0"/>
                </a:moveTo>
                <a:lnTo>
                  <a:pt x="321869" y="292608"/>
                </a:lnTo>
                <a:lnTo>
                  <a:pt x="0" y="292608"/>
                </a:lnTo>
                <a:close/>
              </a:path>
            </a:pathLst>
          </a:custGeom>
          <a:solidFill>
            <a:srgbClr val="FEF6DE"/>
          </a:solidFill>
          <a:ln w="33020">
            <a:solidFill>
              <a:srgbClr val="C8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>
            <a:off x="1024128" y="5853988"/>
            <a:ext cx="0" cy="80468"/>
          </a:xfrm>
          <a:prstGeom prst="line">
            <a:avLst/>
          </a:prstGeom>
          <a:ln w="40640" cap="rnd">
            <a:solidFill>
              <a:srgbClr val="C88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1009497" y="5963716"/>
            <a:ext cx="29260" cy="29260"/>
          </a:xfrm>
          <a:prstGeom prst="ellipse">
            <a:avLst/>
          </a:prstGeom>
          <a:solidFill>
            <a:srgbClr val="C88A00"/>
          </a:solidFill>
          <a:ln w="1">
            <a:solidFill>
              <a:srgbClr val="C8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371600" y="5705856"/>
            <a:ext cx="10058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C5A10"/>
                </a:solidFill>
                <a:latin typeface="Microsoft YaHei"/>
                <a:ea typeface="Microsoft YaHei"/>
                <a:cs typeface="Microsoft YaHei"/>
              </a:rPr>
              <a:t>结果：很多有价值的小改进，因为「等不起」，被一再搁置。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6928" y="6528816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A3AF"/>
                </a:solidFill>
                <a:latin typeface="Microsoft YaHei"/>
                <a:ea typeface="Microsoft YaHei"/>
                <a:cs typeface="Microsoft YaHei"/>
              </a:rPr>
              <a:t>多 AI Agent 协同开发 · 物品放行监控数据看板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292840" y="6528816"/>
            <a:ext cx="3291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A3A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2976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FBB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47472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rPr>
              <a:t>我们的选择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41822"/>
                </a:solidFill>
                <a:latin typeface="Microsoft YaHei"/>
                <a:ea typeface="Microsoft YaHei"/>
                <a:cs typeface="Microsoft YaHei"/>
              </a:rPr>
              <a:t>不等排队，给自己造了一个数据看板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35024"/>
            <a:ext cx="11064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A7280"/>
                </a:solidFill>
                <a:latin typeface="Microsoft YaHei"/>
                <a:ea typeface="Microsoft YaHei"/>
                <a:cs typeface="Microsoft YaHei"/>
              </a:rPr>
              <a:t>把放行系统导出的 Excel 拖进浏览器，KPI、图表、异常预警自动生成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810512"/>
            <a:ext cx="6126480" cy="4370832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240">
            <a:solidFill>
              <a:srgbClr val="E9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810512"/>
            <a:ext cx="6126480" cy="420624"/>
          </a:xfrm>
          <a:prstGeom prst="rect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9808" y="1947672"/>
            <a:ext cx="109728" cy="109728"/>
          </a:xfrm>
          <a:prstGeom prst="ellipse">
            <a:avLst/>
          </a:prstGeom>
          <a:solidFill>
            <a:srgbClr val="E54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50976" y="1947672"/>
            <a:ext cx="109728" cy="109728"/>
          </a:xfrm>
          <a:prstGeom prst="ellipse">
            <a:avLst/>
          </a:prstGeom>
          <a:solidFill>
            <a:srgbClr val="FBB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2144" y="1947672"/>
            <a:ext cx="109728" cy="109728"/>
          </a:xfrm>
          <a:prstGeom prst="ellipse">
            <a:avLst/>
          </a:prstGeom>
          <a:solidFill>
            <a:srgbClr val="239B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527048" y="1901952"/>
            <a:ext cx="493776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9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64207" y="1924812"/>
            <a:ext cx="47548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CA3AF"/>
                </a:solidFill>
                <a:latin typeface="Microsoft YaHei"/>
                <a:ea typeface="Microsoft YaHei"/>
                <a:cs typeface="Microsoft YaHei"/>
              </a:rPr>
              <a:t>物品放行监控数据看板  v5.6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2395728"/>
            <a:ext cx="1357884" cy="713232"/>
          </a:xfrm>
          <a:prstGeom prst="roundRect">
            <a:avLst>
              <a:gd name="adj" fmla="val 9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2487168"/>
            <a:ext cx="117500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A7280"/>
                </a:solidFill>
                <a:latin typeface="Microsoft YaHei"/>
                <a:ea typeface="Microsoft YaHei"/>
                <a:cs typeface="Microsoft YaHei"/>
              </a:rPr>
              <a:t>放行单总数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2670048"/>
            <a:ext cx="11750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rPr>
              <a:t>1,286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17420" y="2395728"/>
            <a:ext cx="1357884" cy="713232"/>
          </a:xfrm>
          <a:prstGeom prst="roundRect">
            <a:avLst>
              <a:gd name="adj" fmla="val 9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27148" y="2487168"/>
            <a:ext cx="117500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A7280"/>
                </a:solidFill>
                <a:latin typeface="Microsoft YaHei"/>
                <a:ea typeface="Microsoft YaHei"/>
                <a:cs typeface="Microsoft YaHei"/>
              </a:rPr>
              <a:t>特级安保单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7148" y="2670048"/>
            <a:ext cx="11750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B214A"/>
                </a:solidFill>
                <a:latin typeface="Microsoft YaHei"/>
                <a:ea typeface="Microsoft YaHei"/>
                <a:cs typeface="Microsoft YaHei"/>
              </a:rPr>
              <a:t>96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85032" y="2395728"/>
            <a:ext cx="1357884" cy="713232"/>
          </a:xfrm>
          <a:prstGeom prst="roundRect">
            <a:avLst>
              <a:gd name="adj" fmla="val 9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94760" y="2487168"/>
            <a:ext cx="117500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A7280"/>
                </a:solidFill>
                <a:latin typeface="Microsoft YaHei"/>
                <a:ea typeface="Microsoft YaHei"/>
                <a:cs typeface="Microsoft YaHei"/>
              </a:rPr>
              <a:t>在途超时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60" y="2670048"/>
            <a:ext cx="11750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E54B3C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52644" y="2395728"/>
            <a:ext cx="1357884" cy="713232"/>
          </a:xfrm>
          <a:prstGeom prst="roundRect">
            <a:avLst>
              <a:gd name="adj" fmla="val 9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62372" y="2487168"/>
            <a:ext cx="117500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A7280"/>
                </a:solidFill>
                <a:latin typeface="Microsoft YaHei"/>
                <a:ea typeface="Microsoft YaHei"/>
                <a:cs typeface="Microsoft YaHei"/>
              </a:rPr>
              <a:t>结案完成率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2372" y="2670048"/>
            <a:ext cx="117500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C88A00"/>
                </a:solidFill>
                <a:latin typeface="Microsoft YaHei"/>
                <a:ea typeface="Microsoft YaHei"/>
                <a:cs typeface="Microsoft YaHei"/>
              </a:rPr>
              <a:t>98.2%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8" y="3236976"/>
            <a:ext cx="2995574" cy="1627632"/>
          </a:xfrm>
          <a:prstGeom prst="roundRect">
            <a:avLst>
              <a:gd name="adj" fmla="val 9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" y="3328416"/>
            <a:ext cx="23774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41822"/>
                </a:solidFill>
                <a:latin typeface="Microsoft YaHei"/>
                <a:ea typeface="Microsoft YaHei"/>
                <a:cs typeface="Microsoft YaHei"/>
              </a:rPr>
              <a:t>门岗滞留 TOP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24128" y="4151376"/>
            <a:ext cx="274320" cy="457200"/>
          </a:xfrm>
          <a:prstGeom prst="roundRect">
            <a:avLst>
              <a:gd name="adj" fmla="val 30000"/>
            </a:avLst>
          </a:prstGeom>
          <a:solidFill>
            <a:srgbClr val="B9C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499616" y="3739896"/>
            <a:ext cx="274320" cy="868680"/>
          </a:xfrm>
          <a:prstGeom prst="roundRect">
            <a:avLst>
              <a:gd name="adj" fmla="val 30000"/>
            </a:avLst>
          </a:prstGeom>
          <a:solidFill>
            <a:srgbClr val="B9C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975104" y="3419856"/>
            <a:ext cx="274320" cy="1188720"/>
          </a:xfrm>
          <a:prstGeom prst="roundRect">
            <a:avLst>
              <a:gd name="adj" fmla="val 30000"/>
            </a:avLst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450592" y="3968496"/>
            <a:ext cx="274320" cy="640080"/>
          </a:xfrm>
          <a:prstGeom prst="roundRect">
            <a:avLst>
              <a:gd name="adj" fmla="val 30000"/>
            </a:avLst>
          </a:prstGeom>
          <a:solidFill>
            <a:srgbClr val="B9C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926080" y="4224528"/>
            <a:ext cx="274320" cy="384048"/>
          </a:xfrm>
          <a:prstGeom prst="roundRect">
            <a:avLst>
              <a:gd name="adj" fmla="val 30000"/>
            </a:avLst>
          </a:prstGeom>
          <a:solidFill>
            <a:srgbClr val="B9CE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873398" y="3236976"/>
            <a:ext cx="2637129" cy="1627632"/>
          </a:xfrm>
          <a:prstGeom prst="roundRect">
            <a:avLst>
              <a:gd name="adj" fmla="val 9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01414" y="3328416"/>
            <a:ext cx="23774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41822"/>
                </a:solidFill>
                <a:latin typeface="Microsoft YaHei"/>
                <a:ea typeface="Microsoft YaHei"/>
                <a:cs typeface="Microsoft YaHei"/>
              </a:rPr>
              <a:t>状态分布</a:t>
            </a:r>
          </a:p>
        </p:txBody>
      </p:sp>
      <p:sp>
        <p:nvSpPr>
          <p:cNvPr id="34" name="Oval 33"/>
          <p:cNvSpPr/>
          <p:nvPr/>
        </p:nvSpPr>
        <p:spPr>
          <a:xfrm>
            <a:off x="4056278" y="3694176"/>
            <a:ext cx="841248" cy="841248"/>
          </a:xfrm>
          <a:prstGeom prst="ellipse">
            <a:avLst/>
          </a:prstGeom>
          <a:solidFill>
            <a:srgbClr val="DCE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175150" y="3813048"/>
            <a:ext cx="603504" cy="603504"/>
          </a:xfrm>
          <a:prstGeom prst="ellipse">
            <a:avLst/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107838" y="3767328"/>
            <a:ext cx="109728" cy="109728"/>
          </a:xfrm>
          <a:prstGeom prst="ellipse">
            <a:avLst/>
          </a:prstGeom>
          <a:solidFill>
            <a:srgbClr val="239B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90718" y="3694176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A7280"/>
                </a:solidFill>
                <a:latin typeface="Microsoft YaHei"/>
                <a:ea typeface="Microsoft YaHei"/>
                <a:cs typeface="Microsoft YaHei"/>
              </a:rPr>
              <a:t>正常</a:t>
            </a:r>
          </a:p>
        </p:txBody>
      </p:sp>
      <p:sp>
        <p:nvSpPr>
          <p:cNvPr id="38" name="Oval 37"/>
          <p:cNvSpPr/>
          <p:nvPr/>
        </p:nvSpPr>
        <p:spPr>
          <a:xfrm>
            <a:off x="5107838" y="4096512"/>
            <a:ext cx="109728" cy="109728"/>
          </a:xfrm>
          <a:prstGeom prst="ellipse">
            <a:avLst/>
          </a:prstGeom>
          <a:solidFill>
            <a:srgbClr val="E54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90718" y="4023360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A7280"/>
                </a:solidFill>
                <a:latin typeface="Microsoft YaHei"/>
                <a:ea typeface="Microsoft YaHei"/>
                <a:cs typeface="Microsoft YaHei"/>
              </a:rPr>
              <a:t>超时</a:t>
            </a:r>
          </a:p>
        </p:txBody>
      </p:sp>
      <p:sp>
        <p:nvSpPr>
          <p:cNvPr id="40" name="Oval 39"/>
          <p:cNvSpPr/>
          <p:nvPr/>
        </p:nvSpPr>
        <p:spPr>
          <a:xfrm>
            <a:off x="5107838" y="4425696"/>
            <a:ext cx="109728" cy="109728"/>
          </a:xfrm>
          <a:prstGeom prst="ellipse">
            <a:avLst/>
          </a:prstGeom>
          <a:solidFill>
            <a:srgbClr val="C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90718" y="4352544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A7280"/>
                </a:solidFill>
                <a:latin typeface="Microsoft YaHei"/>
                <a:ea typeface="Microsoft YaHei"/>
                <a:cs typeface="Microsoft YaHei"/>
              </a:rPr>
              <a:t>未接收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49808" y="4992624"/>
            <a:ext cx="5760720" cy="566928"/>
          </a:xfrm>
          <a:prstGeom prst="roundRect">
            <a:avLst>
              <a:gd name="adj" fmla="val 10000"/>
            </a:avLst>
          </a:prstGeom>
          <a:solidFill>
            <a:srgbClr val="FEF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14400" y="5175504"/>
            <a:ext cx="182880" cy="182880"/>
          </a:xfrm>
          <a:prstGeom prst="ellipse">
            <a:avLst/>
          </a:prstGeom>
          <a:solidFill>
            <a:srgbClr val="C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207008" y="5111496"/>
            <a:ext cx="5120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7C5A10"/>
                </a:solidFill>
                <a:latin typeface="Microsoft YaHei"/>
                <a:ea typeface="Microsoft YaHei"/>
                <a:cs typeface="Microsoft YaHei"/>
              </a:rPr>
              <a:t>中码头在途滞留 106 单 · 已自动定位超时单据并预警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967728" y="1901952"/>
            <a:ext cx="566928" cy="566928"/>
          </a:xfrm>
          <a:prstGeom prst="roundRect">
            <a:avLst>
              <a:gd name="adj" fmla="val 26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7106058" y="2156389"/>
            <a:ext cx="290267" cy="159647"/>
          </a:xfrm>
          <a:custGeom>
            <a:avLst/>
            <a:gdLst/>
            <a:ahLst/>
            <a:cxnLst/>
            <a:rect l="l" t="t" r="r" b="b"/>
            <a:pathLst>
              <a:path w="290267" h="159647">
                <a:moveTo>
                  <a:pt x="0" y="0"/>
                </a:moveTo>
                <a:lnTo>
                  <a:pt x="72567" y="0"/>
                </a:lnTo>
                <a:lnTo>
                  <a:pt x="108850" y="58053"/>
                </a:lnTo>
                <a:lnTo>
                  <a:pt x="181417" y="58053"/>
                </a:lnTo>
                <a:lnTo>
                  <a:pt x="217700" y="0"/>
                </a:lnTo>
                <a:lnTo>
                  <a:pt x="290267" y="0"/>
                </a:lnTo>
                <a:lnTo>
                  <a:pt x="290267" y="159647"/>
                </a:lnTo>
                <a:lnTo>
                  <a:pt x="0" y="159647"/>
                </a:lnTo>
                <a:close/>
              </a:path>
            </a:pathLst>
          </a:custGeom>
          <a:solidFill>
            <a:srgbClr val="FFFFFF"/>
          </a:solidFill>
          <a:ln w="3302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7251192" y="2076565"/>
            <a:ext cx="0" cy="130621"/>
          </a:xfrm>
          <a:prstGeom prst="line">
            <a:avLst/>
          </a:prstGeom>
          <a:ln w="33020" cap="rnd">
            <a:solidFill>
              <a:srgbClr val="2E6B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207651" y="2163645"/>
            <a:ext cx="43541" cy="50797"/>
          </a:xfrm>
          <a:prstGeom prst="line">
            <a:avLst/>
          </a:prstGeom>
          <a:ln w="33020" cap="rnd">
            <a:solidFill>
              <a:srgbClr val="2E6B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>
            <a:off x="7251192" y="2163645"/>
            <a:ext cx="43540" cy="50797"/>
          </a:xfrm>
          <a:prstGeom prst="line">
            <a:avLst/>
          </a:prstGeom>
          <a:ln w="33020" cap="rnd">
            <a:solidFill>
              <a:srgbClr val="2E6B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7717536" y="192024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41822"/>
                </a:solidFill>
                <a:latin typeface="Microsoft YaHei"/>
                <a:ea typeface="Microsoft YaHei"/>
                <a:cs typeface="Microsoft YaHei"/>
              </a:rPr>
              <a:t>开箱即用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17536" y="2359152"/>
            <a:ext cx="4160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A7280"/>
                </a:solidFill>
                <a:latin typeface="Microsoft YaHei"/>
                <a:ea typeface="Microsoft YaHei"/>
                <a:cs typeface="Microsoft YaHei"/>
              </a:rPr>
              <a:t>不用装软件、不用配服务器，双击打开就能用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967728" y="2980944"/>
            <a:ext cx="566928" cy="566928"/>
          </a:xfrm>
          <a:prstGeom prst="roundRect">
            <a:avLst>
              <a:gd name="adj" fmla="val 26000"/>
            </a:avLst>
          </a:prstGeom>
          <a:solidFill>
            <a:srgbClr val="FEF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7171368" y="3097504"/>
            <a:ext cx="166904" cy="333807"/>
          </a:xfrm>
          <a:custGeom>
            <a:avLst/>
            <a:gdLst/>
            <a:ahLst/>
            <a:cxnLst/>
            <a:rect l="l" t="t" r="r" b="b"/>
            <a:pathLst>
              <a:path w="166904" h="333807">
                <a:moveTo>
                  <a:pt x="116107" y="0"/>
                </a:moveTo>
                <a:lnTo>
                  <a:pt x="0" y="181417"/>
                </a:lnTo>
                <a:lnTo>
                  <a:pt x="68938" y="181417"/>
                </a:lnTo>
                <a:lnTo>
                  <a:pt x="43540" y="333807"/>
                </a:lnTo>
                <a:lnTo>
                  <a:pt x="166904" y="130620"/>
                </a:lnTo>
                <a:lnTo>
                  <a:pt x="94337" y="130620"/>
                </a:lnTo>
                <a:close/>
              </a:path>
            </a:pathLst>
          </a:custGeom>
          <a:solidFill>
            <a:srgbClr val="C88A00"/>
          </a:solidFill>
          <a:ln w="33020">
            <a:solidFill>
              <a:srgbClr val="C8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717536" y="2999232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41822"/>
                </a:solidFill>
                <a:latin typeface="Microsoft YaHei"/>
                <a:ea typeface="Microsoft YaHei"/>
                <a:cs typeface="Microsoft YaHei"/>
              </a:rPr>
              <a:t>又快又稳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17536" y="3438144"/>
            <a:ext cx="4160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A7280"/>
                </a:solidFill>
                <a:latin typeface="Microsoft YaHei"/>
                <a:ea typeface="Microsoft YaHei"/>
                <a:cs typeface="Microsoft YaHei"/>
              </a:rPr>
              <a:t>10 万行数据轻松分析；再次打开约 2 秒恢复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967728" y="4059935"/>
            <a:ext cx="566928" cy="566928"/>
          </a:xfrm>
          <a:prstGeom prst="roundRect">
            <a:avLst>
              <a:gd name="adj" fmla="val 26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7193138" y="4220036"/>
            <a:ext cx="116107" cy="101593"/>
          </a:xfrm>
          <a:custGeom>
            <a:avLst/>
            <a:gdLst/>
            <a:ahLst/>
            <a:cxnLst/>
            <a:rect l="l" t="t" r="r" b="b"/>
            <a:pathLst>
              <a:path w="116107" h="101593">
                <a:moveTo>
                  <a:pt x="0" y="101593"/>
                </a:moveTo>
                <a:lnTo>
                  <a:pt x="0" y="58053"/>
                </a:lnTo>
                <a:lnTo>
                  <a:pt x="21770" y="14513"/>
                </a:lnTo>
                <a:lnTo>
                  <a:pt x="58054" y="0"/>
                </a:lnTo>
                <a:lnTo>
                  <a:pt x="94337" y="14513"/>
                </a:lnTo>
                <a:lnTo>
                  <a:pt x="116107" y="58053"/>
                </a:lnTo>
                <a:lnTo>
                  <a:pt x="116107" y="101593"/>
                </a:lnTo>
              </a:path>
            </a:pathLst>
          </a:custGeom>
          <a:noFill/>
          <a:ln w="3302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7127828" y="4321629"/>
            <a:ext cx="246727" cy="15239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3302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233050" y="4372426"/>
            <a:ext cx="36283" cy="36283"/>
          </a:xfrm>
          <a:prstGeom prst="ellipse">
            <a:avLst/>
          </a:prstGeom>
          <a:solidFill>
            <a:srgbClr val="2E6BE6"/>
          </a:solidFill>
          <a:ln w="1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717536" y="4078223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141822"/>
                </a:solidFill>
                <a:latin typeface="Microsoft YaHei"/>
                <a:ea typeface="Microsoft YaHei"/>
                <a:cs typeface="Microsoft YaHei"/>
              </a:rPr>
              <a:t>数据安全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17536" y="4517136"/>
            <a:ext cx="4160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A7280"/>
                </a:solidFill>
                <a:latin typeface="Microsoft YaHei"/>
                <a:ea typeface="Microsoft YaHei"/>
                <a:cs typeface="Microsoft YaHei"/>
              </a:rPr>
              <a:t>全部在本机浏览器计算，无需联网，数据不出内网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967728" y="5413248"/>
            <a:ext cx="1115568" cy="365760"/>
          </a:xfrm>
          <a:prstGeom prst="roundRect">
            <a:avLst>
              <a:gd name="adj" fmla="val 50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967728" y="5481828"/>
            <a:ext cx="11155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4FC2"/>
                </a:solidFill>
                <a:latin typeface="Microsoft YaHei"/>
                <a:ea typeface="Microsoft YaHei"/>
                <a:cs typeface="Microsoft YaHei"/>
              </a:rPr>
              <a:t>24 张分析卡片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129016" y="5413248"/>
            <a:ext cx="1115568" cy="365760"/>
          </a:xfrm>
          <a:prstGeom prst="roundRect">
            <a:avLst>
              <a:gd name="adj" fmla="val 50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129016" y="5481828"/>
            <a:ext cx="11155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4FC2"/>
                </a:solidFill>
                <a:latin typeface="Microsoft YaHei"/>
                <a:ea typeface="Microsoft YaHei"/>
                <a:cs typeface="Microsoft YaHei"/>
              </a:rPr>
              <a:t>9 套界面主题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290304" y="5413248"/>
            <a:ext cx="1115568" cy="365760"/>
          </a:xfrm>
          <a:prstGeom prst="roundRect">
            <a:avLst>
              <a:gd name="adj" fmla="val 50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290304" y="5481828"/>
            <a:ext cx="11155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4FC2"/>
                </a:solidFill>
                <a:latin typeface="Microsoft YaHei"/>
                <a:ea typeface="Microsoft YaHei"/>
                <a:cs typeface="Microsoft YaHei"/>
              </a:rPr>
              <a:t>5 种岗位视图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0451592" y="5413248"/>
            <a:ext cx="1115568" cy="365760"/>
          </a:xfrm>
          <a:prstGeom prst="roundRect">
            <a:avLst>
              <a:gd name="adj" fmla="val 50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451592" y="5481828"/>
            <a:ext cx="11155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4FC2"/>
                </a:solidFill>
                <a:latin typeface="Microsoft YaHei"/>
                <a:ea typeface="Microsoft YaHei"/>
                <a:cs typeface="Microsoft YaHei"/>
              </a:rPr>
              <a:t>单号一键追踪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967728" y="5870448"/>
            <a:ext cx="4654296" cy="457200"/>
          </a:xfrm>
          <a:prstGeom prst="roundRect">
            <a:avLst>
              <a:gd name="adj" fmla="val 12000"/>
            </a:avLst>
          </a:prstGeom>
          <a:solidFill>
            <a:srgbClr val="0B2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967728" y="5943600"/>
            <a:ext cx="465429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从想法到上线，全部用自然语言完成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66928" y="6528816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A3AF"/>
                </a:solidFill>
                <a:latin typeface="Microsoft YaHei"/>
                <a:ea typeface="Microsoft YaHei"/>
                <a:cs typeface="Microsoft YaHei"/>
              </a:rPr>
              <a:t>多 AI Agent 协同开发 · 物品放行监控数据看板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292840" y="6528816"/>
            <a:ext cx="3291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A3A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2976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FBB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47472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rPr>
              <a:t>使用的 AI 工具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41822"/>
                </a:solidFill>
                <a:latin typeface="Microsoft YaHei"/>
                <a:ea typeface="Microsoft YaHei"/>
                <a:cs typeface="Microsoft YaHei"/>
              </a:rPr>
              <a:t>不是只用一个 AI，而是请了一支「专家队」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35024"/>
            <a:ext cx="11064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A7280"/>
                </a:solidFill>
                <a:latin typeface="Microsoft YaHei"/>
                <a:ea typeface="Microsoft YaHei"/>
                <a:cs typeface="Microsoft YaHei"/>
              </a:rPr>
              <a:t>实战中发现：不同工具各有所长 —— 擅长设计的做设计，擅长写代码的写代码</a:t>
            </a:r>
          </a:p>
        </p:txBody>
      </p:sp>
      <p:sp>
        <p:nvSpPr>
          <p:cNvPr id="6" name="Oval 5"/>
          <p:cNvSpPr/>
          <p:nvPr/>
        </p:nvSpPr>
        <p:spPr>
          <a:xfrm>
            <a:off x="1088136" y="2148840"/>
            <a:ext cx="1133856" cy="1133856"/>
          </a:xfrm>
          <a:prstGeom prst="ellipse">
            <a:avLst/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1427927" y="2488631"/>
            <a:ext cx="454273" cy="454273"/>
          </a:xfrm>
          <a:custGeom>
            <a:avLst/>
            <a:gdLst/>
            <a:ahLst/>
            <a:cxnLst/>
            <a:rect l="l" t="t" r="r" b="b"/>
            <a:pathLst>
              <a:path w="454273" h="454273">
                <a:moveTo>
                  <a:pt x="227137" y="0"/>
                </a:moveTo>
                <a:lnTo>
                  <a:pt x="271576" y="182697"/>
                </a:lnTo>
                <a:lnTo>
                  <a:pt x="454273" y="227137"/>
                </a:lnTo>
                <a:lnTo>
                  <a:pt x="271576" y="271576"/>
                </a:lnTo>
                <a:lnTo>
                  <a:pt x="227137" y="454273"/>
                </a:lnTo>
                <a:lnTo>
                  <a:pt x="182697" y="271576"/>
                </a:lnTo>
                <a:lnTo>
                  <a:pt x="0" y="227137"/>
                </a:lnTo>
                <a:lnTo>
                  <a:pt x="182697" y="182697"/>
                </a:lnTo>
                <a:close/>
              </a:path>
            </a:pathLst>
          </a:custGeom>
          <a:solidFill>
            <a:srgbClr val="2E6BE6"/>
          </a:solidFill>
          <a:ln w="3302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" y="3447288"/>
            <a:ext cx="2103120" cy="3200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41822"/>
                </a:solidFill>
                <a:latin typeface="Microsoft YaHei"/>
                <a:ea typeface="Microsoft YaHei"/>
                <a:cs typeface="Microsoft YaHei"/>
              </a:rPr>
              <a:t>Trae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3849624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3922776"/>
            <a:ext cx="1737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rPr>
              <a:t>界面与原型设计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361688"/>
            <a:ext cx="188366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7280"/>
                </a:solidFill>
                <a:latin typeface="Microsoft YaHei"/>
                <a:ea typeface="Microsoft YaHei"/>
                <a:cs typeface="Microsoft YaHei"/>
              </a:rPr>
              <a:t>审美在线，产出可点击的高保真原型</a:t>
            </a:r>
          </a:p>
        </p:txBody>
      </p:sp>
      <p:sp>
        <p:nvSpPr>
          <p:cNvPr id="12" name="Oval 11"/>
          <p:cNvSpPr/>
          <p:nvPr/>
        </p:nvSpPr>
        <p:spPr>
          <a:xfrm>
            <a:off x="3328415" y="2148840"/>
            <a:ext cx="1133856" cy="1133856"/>
          </a:xfrm>
          <a:prstGeom prst="ellipse">
            <a:avLst/>
          </a:prstGeom>
          <a:solidFill>
            <a:srgbClr val="FEF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87958" y="2508382"/>
            <a:ext cx="414771" cy="414771"/>
          </a:xfrm>
          <a:prstGeom prst="ellipse">
            <a:avLst/>
          </a:prstGeom>
          <a:noFill/>
          <a:ln w="33020">
            <a:solidFill>
              <a:srgbClr val="C8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865717" y="2547884"/>
            <a:ext cx="59253" cy="59253"/>
          </a:xfrm>
          <a:prstGeom prst="ellipse">
            <a:avLst/>
          </a:prstGeom>
          <a:solidFill>
            <a:srgbClr val="C88A00"/>
          </a:solidFill>
          <a:ln w="1">
            <a:solidFill>
              <a:srgbClr val="C8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984223" y="2636763"/>
            <a:ext cx="59253" cy="59253"/>
          </a:xfrm>
          <a:prstGeom prst="ellipse">
            <a:avLst/>
          </a:prstGeom>
          <a:solidFill>
            <a:srgbClr val="C88A00"/>
          </a:solidFill>
          <a:ln w="1">
            <a:solidFill>
              <a:srgbClr val="C8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934846" y="2784896"/>
            <a:ext cx="59253" cy="59253"/>
          </a:xfrm>
          <a:prstGeom prst="ellipse">
            <a:avLst/>
          </a:prstGeom>
          <a:solidFill>
            <a:srgbClr val="C88A00"/>
          </a:solidFill>
          <a:ln w="1">
            <a:solidFill>
              <a:srgbClr val="C8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766962" y="2765145"/>
            <a:ext cx="59253" cy="59253"/>
          </a:xfrm>
          <a:prstGeom prst="ellipse">
            <a:avLst/>
          </a:prstGeom>
          <a:solidFill>
            <a:srgbClr val="C88A00"/>
          </a:solidFill>
          <a:ln w="1">
            <a:solidFill>
              <a:srgbClr val="C8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43784" y="3447288"/>
            <a:ext cx="2103120" cy="3200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41822"/>
                </a:solidFill>
                <a:latin typeface="Microsoft YaHei"/>
                <a:ea typeface="Microsoft YaHei"/>
                <a:cs typeface="Microsoft YaHei"/>
              </a:rPr>
              <a:t>Qoder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26663" y="3849624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EF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26663" y="3922776"/>
            <a:ext cx="1737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88A00"/>
                </a:solidFill>
                <a:latin typeface="Microsoft YaHei"/>
                <a:ea typeface="Microsoft YaHei"/>
                <a:cs typeface="Microsoft YaHei"/>
              </a:rPr>
              <a:t>视觉风格探索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53512" y="4361688"/>
            <a:ext cx="188366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7280"/>
                </a:solidFill>
                <a:latin typeface="Microsoft YaHei"/>
                <a:ea typeface="Microsoft YaHei"/>
                <a:cs typeface="Microsoft YaHei"/>
              </a:rPr>
              <a:t>大胆尝试多种界面风格与视觉效果</a:t>
            </a:r>
          </a:p>
        </p:txBody>
      </p:sp>
      <p:sp>
        <p:nvSpPr>
          <p:cNvPr id="22" name="Oval 21"/>
          <p:cNvSpPr/>
          <p:nvPr/>
        </p:nvSpPr>
        <p:spPr>
          <a:xfrm>
            <a:off x="5568695" y="2148840"/>
            <a:ext cx="1133856" cy="1133856"/>
          </a:xfrm>
          <a:prstGeom prst="ellipse">
            <a:avLst/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918362" y="2577510"/>
            <a:ext cx="434522" cy="276514"/>
          </a:xfrm>
          <a:prstGeom prst="roundRect">
            <a:avLst>
              <a:gd name="adj" fmla="val 14000"/>
            </a:avLst>
          </a:prstGeom>
          <a:noFill/>
          <a:ln w="3302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 flipH="1">
            <a:off x="6026993" y="2666390"/>
            <a:ext cx="59253" cy="49378"/>
          </a:xfrm>
          <a:prstGeom prst="line">
            <a:avLst/>
          </a:prstGeom>
          <a:ln w="33020" cap="rnd">
            <a:solidFill>
              <a:srgbClr val="2E6B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026993" y="2715768"/>
            <a:ext cx="59253" cy="49377"/>
          </a:xfrm>
          <a:prstGeom prst="line">
            <a:avLst/>
          </a:prstGeom>
          <a:ln w="33020" cap="rnd">
            <a:solidFill>
              <a:srgbClr val="2E6B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185001" y="2666390"/>
            <a:ext cx="59253" cy="49378"/>
          </a:xfrm>
          <a:prstGeom prst="line">
            <a:avLst/>
          </a:prstGeom>
          <a:ln w="33020" cap="rnd">
            <a:solidFill>
              <a:srgbClr val="2E6B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6185001" y="2715768"/>
            <a:ext cx="59253" cy="49377"/>
          </a:xfrm>
          <a:prstGeom prst="line">
            <a:avLst/>
          </a:prstGeom>
          <a:ln w="33020" cap="rnd">
            <a:solidFill>
              <a:srgbClr val="2E6B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084064" y="3447288"/>
            <a:ext cx="2103120" cy="3200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41822"/>
                </a:solidFill>
                <a:latin typeface="Microsoft YaHei"/>
                <a:ea typeface="Microsoft YaHei"/>
                <a:cs typeface="Microsoft YaHei"/>
              </a:rPr>
              <a:t>Grok Build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266943" y="3849624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66943" y="3922776"/>
            <a:ext cx="1737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rPr>
              <a:t>主程序开发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93792" y="4361688"/>
            <a:ext cx="188366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7280"/>
                </a:solidFill>
                <a:latin typeface="Microsoft YaHei"/>
                <a:ea typeface="Microsoft YaHei"/>
                <a:cs typeface="Microsoft YaHei"/>
              </a:rPr>
              <a:t>按原型与规格实现正式业务功能</a:t>
            </a:r>
          </a:p>
        </p:txBody>
      </p:sp>
      <p:sp>
        <p:nvSpPr>
          <p:cNvPr id="32" name="Oval 31"/>
          <p:cNvSpPr/>
          <p:nvPr/>
        </p:nvSpPr>
        <p:spPr>
          <a:xfrm>
            <a:off x="7808976" y="2148840"/>
            <a:ext cx="1133856" cy="1133856"/>
          </a:xfrm>
          <a:prstGeom prst="ellipse">
            <a:avLst/>
          </a:prstGeom>
          <a:solidFill>
            <a:srgbClr val="FEF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178393" y="2518257"/>
            <a:ext cx="395020" cy="395020"/>
          </a:xfrm>
          <a:prstGeom prst="ellipse">
            <a:avLst/>
          </a:prstGeom>
          <a:noFill/>
          <a:ln w="33020">
            <a:solidFill>
              <a:srgbClr val="C8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8287024" y="2725643"/>
            <a:ext cx="69128" cy="64191"/>
          </a:xfrm>
          <a:prstGeom prst="line">
            <a:avLst/>
          </a:prstGeom>
          <a:ln w="43180" cap="rnd">
            <a:solidFill>
              <a:srgbClr val="C88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8356152" y="2636763"/>
            <a:ext cx="128382" cy="153071"/>
          </a:xfrm>
          <a:prstGeom prst="line">
            <a:avLst/>
          </a:prstGeom>
          <a:ln w="43180" cap="rnd">
            <a:solidFill>
              <a:srgbClr val="C88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324344" y="3447288"/>
            <a:ext cx="2103120" cy="3200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41822"/>
                </a:solidFill>
                <a:latin typeface="Microsoft YaHei"/>
                <a:ea typeface="Microsoft YaHei"/>
                <a:cs typeface="Microsoft YaHei"/>
              </a:rPr>
              <a:t>DeepSeek Harness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507224" y="3849624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FEF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07224" y="3922776"/>
            <a:ext cx="1737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88A00"/>
                </a:solidFill>
                <a:latin typeface="Microsoft YaHei"/>
                <a:ea typeface="Microsoft YaHei"/>
                <a:cs typeface="Microsoft YaHei"/>
              </a:rPr>
              <a:t>校验与测试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34071" y="4361688"/>
            <a:ext cx="188366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7280"/>
                </a:solidFill>
                <a:latin typeface="Microsoft YaHei"/>
                <a:ea typeface="Microsoft YaHei"/>
                <a:cs typeface="Microsoft YaHei"/>
              </a:rPr>
              <a:t>梳理需求、发现问题、测试验证</a:t>
            </a:r>
          </a:p>
        </p:txBody>
      </p:sp>
      <p:sp>
        <p:nvSpPr>
          <p:cNvPr id="40" name="Oval 39"/>
          <p:cNvSpPr/>
          <p:nvPr/>
        </p:nvSpPr>
        <p:spPr>
          <a:xfrm>
            <a:off x="10049256" y="2148840"/>
            <a:ext cx="1133856" cy="1133856"/>
          </a:xfrm>
          <a:prstGeom prst="ellipse">
            <a:avLst/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0418673" y="2518257"/>
            <a:ext cx="395020" cy="256763"/>
          </a:xfrm>
          <a:prstGeom prst="roundRect">
            <a:avLst>
              <a:gd name="adj" fmla="val 18000"/>
            </a:avLst>
          </a:prstGeom>
          <a:noFill/>
          <a:ln w="3302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>
            <a:off x="10517428" y="2765145"/>
            <a:ext cx="0" cy="118506"/>
          </a:xfrm>
          <a:prstGeom prst="line">
            <a:avLst/>
          </a:prstGeom>
          <a:ln w="33020" cap="rnd">
            <a:solidFill>
              <a:srgbClr val="2E6B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0517428" y="2765145"/>
            <a:ext cx="98756" cy="118506"/>
          </a:xfrm>
          <a:prstGeom prst="line">
            <a:avLst/>
          </a:prstGeom>
          <a:ln w="33020" cap="rnd">
            <a:solidFill>
              <a:srgbClr val="2E6B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10497677" y="2617012"/>
            <a:ext cx="39502" cy="39502"/>
          </a:xfrm>
          <a:prstGeom prst="ellipse">
            <a:avLst/>
          </a:prstGeom>
          <a:solidFill>
            <a:srgbClr val="2E6BE6"/>
          </a:solidFill>
          <a:ln w="1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566806" y="2617012"/>
            <a:ext cx="39502" cy="39502"/>
          </a:xfrm>
          <a:prstGeom prst="ellipse">
            <a:avLst/>
          </a:prstGeom>
          <a:solidFill>
            <a:srgbClr val="2E6BE6"/>
          </a:solidFill>
          <a:ln w="1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635935" y="2617012"/>
            <a:ext cx="39502" cy="39502"/>
          </a:xfrm>
          <a:prstGeom prst="ellipse">
            <a:avLst/>
          </a:prstGeom>
          <a:solidFill>
            <a:srgbClr val="2E6BE6"/>
          </a:solidFill>
          <a:ln w="1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564624" y="3447288"/>
            <a:ext cx="2103120" cy="3200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41822"/>
                </a:solidFill>
                <a:latin typeface="Microsoft YaHei"/>
                <a:ea typeface="Microsoft YaHei"/>
                <a:cs typeface="Microsoft YaHei"/>
              </a:rPr>
              <a:t>Workbuddy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747504" y="3849624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747504" y="3922776"/>
            <a:ext cx="1737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rPr>
              <a:t>日常开发协作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74351" y="4361688"/>
            <a:ext cx="188366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A7280"/>
                </a:solidFill>
                <a:latin typeface="Microsoft YaHei"/>
                <a:ea typeface="Microsoft YaHei"/>
                <a:cs typeface="Microsoft YaHei"/>
              </a:rPr>
              <a:t>代码协助与问题排查的好帮手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66928" y="5504688"/>
            <a:ext cx="11055096" cy="676656"/>
          </a:xfrm>
          <a:prstGeom prst="roundRect">
            <a:avLst>
              <a:gd name="adj" fmla="val 12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856609" y="5666353"/>
            <a:ext cx="353325" cy="353325"/>
          </a:xfrm>
          <a:custGeom>
            <a:avLst/>
            <a:gdLst/>
            <a:ahLst/>
            <a:cxnLst/>
            <a:rect l="l" t="t" r="r" b="b"/>
            <a:pathLst>
              <a:path w="353325" h="353325">
                <a:moveTo>
                  <a:pt x="176663" y="0"/>
                </a:moveTo>
                <a:lnTo>
                  <a:pt x="211227" y="142098"/>
                </a:lnTo>
                <a:lnTo>
                  <a:pt x="353325" y="176663"/>
                </a:lnTo>
                <a:lnTo>
                  <a:pt x="211227" y="211227"/>
                </a:lnTo>
                <a:lnTo>
                  <a:pt x="176663" y="353325"/>
                </a:lnTo>
                <a:lnTo>
                  <a:pt x="142098" y="211227"/>
                </a:lnTo>
                <a:lnTo>
                  <a:pt x="0" y="176663"/>
                </a:lnTo>
                <a:lnTo>
                  <a:pt x="142098" y="142098"/>
                </a:lnTo>
                <a:close/>
              </a:path>
            </a:pathLst>
          </a:custGeom>
          <a:solidFill>
            <a:srgbClr val="2E6BE6"/>
          </a:solidFill>
          <a:ln w="3302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371600" y="5605272"/>
            <a:ext cx="101498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B4FC2"/>
                </a:solidFill>
                <a:latin typeface="Microsoft YaHei"/>
                <a:ea typeface="Microsoft YaHei"/>
                <a:cs typeface="Microsoft YaHei"/>
              </a:rPr>
              <a:t>关键转变：</a:t>
            </a:r>
            <a:r>
              <a:rPr sz="1350" b="0" i="0">
                <a:solidFill>
                  <a:srgbClr val="2B4A7A"/>
                </a:solidFill>
                <a:latin typeface="Microsoft YaHei"/>
                <a:ea typeface="Microsoft YaHei"/>
                <a:cs typeface="Microsoft YaHei"/>
              </a:rPr>
              <a:t>从「一个 AI 包办」走向「多 AI 组队」，质量和速度同时提升。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8" y="6528816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A3AF"/>
                </a:solidFill>
                <a:latin typeface="Microsoft YaHei"/>
                <a:ea typeface="Microsoft YaHei"/>
                <a:cs typeface="Microsoft YaHei"/>
              </a:rPr>
              <a:t>多 AI Agent 协同开发 · 物品放行监控数据看板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292840" y="6528816"/>
            <a:ext cx="3291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A3A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2976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FBB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47472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rPr>
              <a:t>解决方案 · 协作模式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41822"/>
                </a:solidFill>
                <a:latin typeface="Microsoft YaHei"/>
                <a:ea typeface="Microsoft YaHei"/>
                <a:cs typeface="Microsoft YaHei"/>
              </a:rPr>
              <a:t>从「单打独斗」到「虚拟团队」协同作战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35024"/>
            <a:ext cx="11064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A7280"/>
                </a:solidFill>
                <a:latin typeface="Microsoft YaHei"/>
                <a:ea typeface="Microsoft YaHei"/>
                <a:cs typeface="Microsoft YaHei"/>
              </a:rPr>
              <a:t>每个 AI 分工明确、按流程交接；人始终掌握「拍板权」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143000" y="2432304"/>
            <a:ext cx="9902952" cy="0"/>
          </a:xfrm>
          <a:prstGeom prst="line">
            <a:avLst/>
          </a:prstGeom>
          <a:ln w="22860" cap="rnd">
            <a:solidFill>
              <a:srgbClr val="CFD6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685800" y="1975104"/>
            <a:ext cx="914400" cy="91440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52804" y="2242108"/>
            <a:ext cx="380390" cy="247253"/>
          </a:xfrm>
          <a:prstGeom prst="roundRect">
            <a:avLst>
              <a:gd name="adj" fmla="val 18000"/>
            </a:avLst>
          </a:prstGeom>
          <a:noFill/>
          <a:ln w="3302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1047902" y="2479852"/>
            <a:ext cx="0" cy="114117"/>
          </a:xfrm>
          <a:prstGeom prst="line">
            <a:avLst/>
          </a:prstGeom>
          <a:ln w="33020" cap="rnd">
            <a:solidFill>
              <a:srgbClr val="2E6B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047902" y="2479852"/>
            <a:ext cx="95098" cy="114117"/>
          </a:xfrm>
          <a:prstGeom prst="line">
            <a:avLst/>
          </a:prstGeom>
          <a:ln w="33020" cap="rnd">
            <a:solidFill>
              <a:srgbClr val="2E6B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028882" y="2337206"/>
            <a:ext cx="38039" cy="38039"/>
          </a:xfrm>
          <a:prstGeom prst="ellipse">
            <a:avLst/>
          </a:prstGeom>
          <a:solidFill>
            <a:srgbClr val="2E6BE6"/>
          </a:solidFill>
          <a:ln w="1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5451" y="2337206"/>
            <a:ext cx="38039" cy="38039"/>
          </a:xfrm>
          <a:prstGeom prst="ellipse">
            <a:avLst/>
          </a:prstGeom>
          <a:solidFill>
            <a:srgbClr val="2E6BE6"/>
          </a:solidFill>
          <a:ln w="1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62019" y="2337206"/>
            <a:ext cx="38039" cy="38039"/>
          </a:xfrm>
          <a:prstGeom prst="ellipse">
            <a:avLst/>
          </a:prstGeom>
          <a:solidFill>
            <a:srgbClr val="2E6BE6"/>
          </a:solidFill>
          <a:ln w="1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59" y="3035808"/>
            <a:ext cx="2011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1822"/>
                </a:solidFill>
                <a:latin typeface="Microsoft YaHei"/>
                <a:ea typeface="Microsoft YaHei"/>
                <a:cs typeface="Microsoft YaHei"/>
              </a:rPr>
              <a:t>提想法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" y="3419856"/>
            <a:ext cx="1426464" cy="329184"/>
          </a:xfrm>
          <a:prstGeom prst="roundRect">
            <a:avLst>
              <a:gd name="adj" fmla="val 50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" y="3493008"/>
            <a:ext cx="142646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B4FC2"/>
                </a:solidFill>
                <a:latin typeface="Microsoft YaHei"/>
                <a:ea typeface="Microsoft YaHei"/>
                <a:cs typeface="Microsoft YaHei"/>
              </a:rPr>
              <a:t>业务人员</a:t>
            </a:r>
          </a:p>
        </p:txBody>
      </p:sp>
      <p:sp>
        <p:nvSpPr>
          <p:cNvPr id="17" name="Oval 16"/>
          <p:cNvSpPr/>
          <p:nvPr/>
        </p:nvSpPr>
        <p:spPr>
          <a:xfrm>
            <a:off x="3161538" y="1975104"/>
            <a:ext cx="914400" cy="91440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3400013" y="2213579"/>
            <a:ext cx="437449" cy="437449"/>
          </a:xfrm>
          <a:custGeom>
            <a:avLst/>
            <a:gdLst/>
            <a:ahLst/>
            <a:cxnLst/>
            <a:rect l="l" t="t" r="r" b="b"/>
            <a:pathLst>
              <a:path w="437449" h="437449">
                <a:moveTo>
                  <a:pt x="218724" y="0"/>
                </a:moveTo>
                <a:lnTo>
                  <a:pt x="261518" y="175931"/>
                </a:lnTo>
                <a:lnTo>
                  <a:pt x="437449" y="218725"/>
                </a:lnTo>
                <a:lnTo>
                  <a:pt x="261518" y="261518"/>
                </a:lnTo>
                <a:lnTo>
                  <a:pt x="218724" y="437449"/>
                </a:lnTo>
                <a:lnTo>
                  <a:pt x="175931" y="261518"/>
                </a:lnTo>
                <a:lnTo>
                  <a:pt x="0" y="218725"/>
                </a:lnTo>
                <a:lnTo>
                  <a:pt x="175931" y="175931"/>
                </a:lnTo>
                <a:close/>
              </a:path>
            </a:pathLst>
          </a:custGeom>
          <a:solidFill>
            <a:srgbClr val="2E6BE6"/>
          </a:solidFill>
          <a:ln w="3302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12898" y="3035808"/>
            <a:ext cx="2011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1822"/>
                </a:solidFill>
                <a:latin typeface="Microsoft YaHei"/>
                <a:ea typeface="Microsoft YaHei"/>
                <a:cs typeface="Microsoft YaHei"/>
              </a:rPr>
              <a:t>出原型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05506" y="3419856"/>
            <a:ext cx="1426464" cy="329184"/>
          </a:xfrm>
          <a:prstGeom prst="roundRect">
            <a:avLst>
              <a:gd name="adj" fmla="val 50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05506" y="3493008"/>
            <a:ext cx="142646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B4FC2"/>
                </a:solidFill>
                <a:latin typeface="Microsoft YaHei"/>
                <a:ea typeface="Microsoft YaHei"/>
                <a:cs typeface="Microsoft YaHei"/>
              </a:rPr>
              <a:t>设计 Agent</a:t>
            </a:r>
          </a:p>
        </p:txBody>
      </p:sp>
      <p:sp>
        <p:nvSpPr>
          <p:cNvPr id="22" name="Oval 21"/>
          <p:cNvSpPr/>
          <p:nvPr/>
        </p:nvSpPr>
        <p:spPr>
          <a:xfrm>
            <a:off x="5564124" y="1901952"/>
            <a:ext cx="1060704" cy="1060704"/>
          </a:xfrm>
          <a:prstGeom prst="ellipse">
            <a:avLst/>
          </a:prstGeom>
          <a:solidFill>
            <a:srgbClr val="FBBB05"/>
          </a:solidFill>
          <a:ln w="27940">
            <a:solidFill>
              <a:srgbClr val="C8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904280" y="2242108"/>
            <a:ext cx="380390" cy="380390"/>
          </a:xfrm>
          <a:prstGeom prst="ellipse">
            <a:avLst/>
          </a:prstGeom>
          <a:noFill/>
          <a:ln w="33020">
            <a:solidFill>
              <a:srgbClr val="0B21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>
            <a:off x="6008888" y="2441813"/>
            <a:ext cx="66568" cy="61814"/>
          </a:xfrm>
          <a:prstGeom prst="line">
            <a:avLst/>
          </a:prstGeom>
          <a:ln w="43180" cap="rnd">
            <a:solidFill>
              <a:srgbClr val="0B21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6075456" y="2356225"/>
            <a:ext cx="123627" cy="147402"/>
          </a:xfrm>
          <a:prstGeom prst="line">
            <a:avLst/>
          </a:prstGeom>
          <a:ln w="43180" cap="rnd">
            <a:solidFill>
              <a:srgbClr val="0B21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088636" y="3108960"/>
            <a:ext cx="2011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1822"/>
                </a:solidFill>
                <a:latin typeface="Microsoft YaHei"/>
                <a:ea typeface="Microsoft YaHei"/>
                <a:cs typeface="Microsoft YaHei"/>
              </a:rPr>
              <a:t>严把关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81244" y="3493008"/>
            <a:ext cx="1426464" cy="329184"/>
          </a:xfrm>
          <a:prstGeom prst="roundRect">
            <a:avLst>
              <a:gd name="adj" fmla="val 50000"/>
            </a:avLst>
          </a:prstGeom>
          <a:solidFill>
            <a:srgbClr val="FBB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81244" y="3566160"/>
            <a:ext cx="142646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B214A"/>
                </a:solidFill>
                <a:latin typeface="Microsoft YaHei"/>
                <a:ea typeface="Microsoft YaHei"/>
                <a:cs typeface="Microsoft YaHei"/>
              </a:rPr>
              <a:t>人 · 审核闸门</a:t>
            </a:r>
          </a:p>
        </p:txBody>
      </p:sp>
      <p:sp>
        <p:nvSpPr>
          <p:cNvPr id="29" name="Oval 28"/>
          <p:cNvSpPr/>
          <p:nvPr/>
        </p:nvSpPr>
        <p:spPr>
          <a:xfrm>
            <a:off x="8113014" y="1975104"/>
            <a:ext cx="914400" cy="91440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360999" y="2299167"/>
            <a:ext cx="418429" cy="266273"/>
          </a:xfrm>
          <a:prstGeom prst="roundRect">
            <a:avLst>
              <a:gd name="adj" fmla="val 14000"/>
            </a:avLst>
          </a:prstGeom>
          <a:noFill/>
          <a:ln w="3302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 flipH="1">
            <a:off x="8465606" y="2384755"/>
            <a:ext cx="57059" cy="47549"/>
          </a:xfrm>
          <a:prstGeom prst="line">
            <a:avLst/>
          </a:prstGeom>
          <a:ln w="33020" cap="rnd">
            <a:solidFill>
              <a:srgbClr val="2E6B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465606" y="2432304"/>
            <a:ext cx="57059" cy="47548"/>
          </a:xfrm>
          <a:prstGeom prst="line">
            <a:avLst/>
          </a:prstGeom>
          <a:ln w="33020" cap="rnd">
            <a:solidFill>
              <a:srgbClr val="2E6B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617762" y="2384755"/>
            <a:ext cx="57059" cy="47549"/>
          </a:xfrm>
          <a:prstGeom prst="line">
            <a:avLst/>
          </a:prstGeom>
          <a:ln w="33020" cap="rnd">
            <a:solidFill>
              <a:srgbClr val="2E6B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8617762" y="2432304"/>
            <a:ext cx="57059" cy="47548"/>
          </a:xfrm>
          <a:prstGeom prst="line">
            <a:avLst/>
          </a:prstGeom>
          <a:ln w="33020" cap="rnd">
            <a:solidFill>
              <a:srgbClr val="2E6B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564374" y="3035808"/>
            <a:ext cx="2011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1822"/>
                </a:solidFill>
                <a:latin typeface="Microsoft YaHei"/>
                <a:ea typeface="Microsoft YaHei"/>
                <a:cs typeface="Microsoft YaHei"/>
              </a:rPr>
              <a:t>写代码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56982" y="3419856"/>
            <a:ext cx="1426464" cy="329184"/>
          </a:xfrm>
          <a:prstGeom prst="roundRect">
            <a:avLst>
              <a:gd name="adj" fmla="val 50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56982" y="3493008"/>
            <a:ext cx="142646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B4FC2"/>
                </a:solidFill>
                <a:latin typeface="Microsoft YaHei"/>
                <a:ea typeface="Microsoft YaHei"/>
                <a:cs typeface="Microsoft YaHei"/>
              </a:rPr>
              <a:t>开发 Agent</a:t>
            </a:r>
          </a:p>
        </p:txBody>
      </p:sp>
      <p:sp>
        <p:nvSpPr>
          <p:cNvPr id="38" name="Oval 37"/>
          <p:cNvSpPr/>
          <p:nvPr/>
        </p:nvSpPr>
        <p:spPr>
          <a:xfrm>
            <a:off x="10588752" y="1975104"/>
            <a:ext cx="914400" cy="91440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10922325" y="2223089"/>
            <a:ext cx="0" cy="418429"/>
          </a:xfrm>
          <a:prstGeom prst="line">
            <a:avLst/>
          </a:prstGeom>
          <a:ln w="43180" cap="rnd">
            <a:solidFill>
              <a:srgbClr val="2E6B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Freeform 39"/>
          <p:cNvSpPr/>
          <p:nvPr/>
        </p:nvSpPr>
        <p:spPr>
          <a:xfrm>
            <a:off x="10922325" y="2232599"/>
            <a:ext cx="266273" cy="180685"/>
          </a:xfrm>
          <a:custGeom>
            <a:avLst/>
            <a:gdLst/>
            <a:ahLst/>
            <a:cxnLst/>
            <a:rect l="l" t="t" r="r" b="b"/>
            <a:pathLst>
              <a:path w="266273" h="180685">
                <a:moveTo>
                  <a:pt x="0" y="0"/>
                </a:moveTo>
                <a:lnTo>
                  <a:pt x="266273" y="0"/>
                </a:lnTo>
                <a:lnTo>
                  <a:pt x="204459" y="90342"/>
                </a:lnTo>
                <a:lnTo>
                  <a:pt x="266273" y="180685"/>
                </a:lnTo>
                <a:lnTo>
                  <a:pt x="0" y="180685"/>
                </a:lnTo>
                <a:close/>
              </a:path>
            </a:pathLst>
          </a:custGeom>
          <a:solidFill>
            <a:srgbClr val="2E6BE6"/>
          </a:solidFill>
          <a:ln w="3302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40112" y="3035808"/>
            <a:ext cx="2011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41822"/>
                </a:solidFill>
                <a:latin typeface="Microsoft YaHei"/>
                <a:ea typeface="Microsoft YaHei"/>
                <a:cs typeface="Microsoft YaHei"/>
              </a:rPr>
              <a:t>做验收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332720" y="3419856"/>
            <a:ext cx="1426464" cy="329184"/>
          </a:xfrm>
          <a:prstGeom prst="roundRect">
            <a:avLst>
              <a:gd name="adj" fmla="val 50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332720" y="3493008"/>
            <a:ext cx="142646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B4FC2"/>
                </a:solidFill>
                <a:latin typeface="Microsoft YaHei"/>
                <a:ea typeface="Microsoft YaHei"/>
                <a:cs typeface="Microsoft YaHei"/>
              </a:rPr>
              <a:t>AI + 人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6928" y="4526280"/>
            <a:ext cx="5440680" cy="1234440"/>
          </a:xfrm>
          <a:prstGeom prst="roundRect">
            <a:avLst>
              <a:gd name="adj" fmla="val 8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22960" y="4754880"/>
            <a:ext cx="566928" cy="566928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61290" y="4893210"/>
            <a:ext cx="290267" cy="290267"/>
          </a:xfrm>
          <a:prstGeom prst="ellipse">
            <a:avLst/>
          </a:prstGeom>
          <a:solidFill>
            <a:srgbClr val="FFFFFF"/>
          </a:solidFill>
          <a:ln w="3302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1041113" y="5045600"/>
            <a:ext cx="50797" cy="47169"/>
          </a:xfrm>
          <a:prstGeom prst="line">
            <a:avLst/>
          </a:prstGeom>
          <a:ln w="43180" cap="rnd">
            <a:solidFill>
              <a:srgbClr val="2E6B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1091910" y="4980290"/>
            <a:ext cx="94337" cy="112479"/>
          </a:xfrm>
          <a:prstGeom prst="line">
            <a:avLst/>
          </a:prstGeom>
          <a:ln w="43180" cap="rnd">
            <a:solidFill>
              <a:srgbClr val="2E6B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1591056" y="4718304"/>
            <a:ext cx="4160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41822"/>
                </a:solidFill>
                <a:latin typeface="Microsoft YaHei"/>
                <a:ea typeface="Microsoft YaHei"/>
                <a:cs typeface="Microsoft YaHei"/>
              </a:rPr>
              <a:t>人掌握拍板权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91056" y="5120640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A7280"/>
                </a:solidFill>
                <a:latin typeface="Microsoft YaHei"/>
                <a:ea typeface="Microsoft YaHei"/>
                <a:cs typeface="Microsoft YaHei"/>
              </a:rPr>
              <a:t>设计原型经人工审核批准后，开发 AI 才能动正式代码，质量可控、方向不跑偏。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81344" y="4526280"/>
            <a:ext cx="5440680" cy="1234440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437376" y="4754880"/>
            <a:ext cx="566928" cy="566928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6648273" y="4936750"/>
            <a:ext cx="0" cy="224957"/>
          </a:xfrm>
          <a:prstGeom prst="line">
            <a:avLst/>
          </a:prstGeom>
          <a:ln w="33020" cap="rnd">
            <a:solidFill>
              <a:srgbClr val="2E6B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6648273" y="5009317"/>
            <a:ext cx="137877" cy="0"/>
          </a:xfrm>
          <a:prstGeom prst="line">
            <a:avLst/>
          </a:prstGeom>
          <a:ln w="33020" cap="rnd">
            <a:solidFill>
              <a:srgbClr val="2E6B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6786150" y="5009317"/>
            <a:ext cx="0" cy="72567"/>
          </a:xfrm>
          <a:prstGeom prst="line">
            <a:avLst/>
          </a:prstGeom>
          <a:ln w="33020" cap="rnd">
            <a:solidFill>
              <a:srgbClr val="2E6B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6608361" y="4875068"/>
            <a:ext cx="79823" cy="79823"/>
          </a:xfrm>
          <a:prstGeom prst="ellipse">
            <a:avLst/>
          </a:prstGeom>
          <a:solidFill>
            <a:srgbClr val="FFFFFF"/>
          </a:solidFill>
          <a:ln w="3302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608361" y="5121795"/>
            <a:ext cx="79823" cy="79823"/>
          </a:xfrm>
          <a:prstGeom prst="ellipse">
            <a:avLst/>
          </a:prstGeom>
          <a:solidFill>
            <a:srgbClr val="FFFFFF"/>
          </a:solidFill>
          <a:ln w="3302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746238" y="5041972"/>
            <a:ext cx="79823" cy="79823"/>
          </a:xfrm>
          <a:prstGeom prst="ellipse">
            <a:avLst/>
          </a:prstGeom>
          <a:solidFill>
            <a:srgbClr val="FFFFFF"/>
          </a:solidFill>
          <a:ln w="3302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05472" y="4718304"/>
            <a:ext cx="4160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41822"/>
                </a:solidFill>
                <a:latin typeface="Microsoft YaHei"/>
                <a:ea typeface="Microsoft YaHei"/>
                <a:cs typeface="Microsoft YaHei"/>
              </a:rPr>
              <a:t>代码统一放 Git 仓库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205472" y="5120640"/>
            <a:ext cx="4160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A7280"/>
                </a:solidFill>
                <a:latin typeface="Microsoft YaHei"/>
                <a:ea typeface="Microsoft YaHei"/>
                <a:cs typeface="Microsoft YaHei"/>
              </a:rPr>
              <a:t>多个 AI 共用同一份代码、随时接手，解决了「各有各的工作空间、同步麻烦」。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6928" y="6528816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A3AF"/>
                </a:solidFill>
                <a:latin typeface="Microsoft YaHei"/>
                <a:ea typeface="Microsoft YaHei"/>
                <a:cs typeface="Microsoft YaHei"/>
              </a:rPr>
              <a:t>多 AI Agent 协同开发 · 物品放行监控数据看板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292840" y="6528816"/>
            <a:ext cx="3291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A3A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2976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FBB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47472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rPr>
              <a:t>解决方案 · 关键一招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41822"/>
                </a:solidFill>
                <a:latin typeface="Microsoft YaHei"/>
                <a:ea typeface="Microsoft YaHei"/>
                <a:cs typeface="Microsoft YaHei"/>
              </a:rPr>
              <a:t>给 AI 建立「交接班制度」，新助手几分钟上手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35024"/>
            <a:ext cx="11064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A7280"/>
                </a:solidFill>
                <a:latin typeface="Microsoft YaHei"/>
                <a:ea typeface="Microsoft YaHei"/>
                <a:cs typeface="Microsoft YaHei"/>
              </a:rPr>
              <a:t>过去每换一个 AI 就要重讲一遍项目；现在六份文档把项目讲得明明白白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828800"/>
          <a:ext cx="11055096" cy="2798064"/>
        </p:xfrm>
        <a:graphic>
          <a:graphicData uri="http://schemas.openxmlformats.org/drawingml/2006/table">
            <a:tbl>
              <a:tblPr firstRow="0" bandRow="0"/>
              <a:tblGrid>
                <a:gridCol w="2286000"/>
                <a:gridCol w="2103120"/>
                <a:gridCol w="6665976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文档</a:t>
                      </a:r>
                    </a:p>
                  </a:txBody>
                  <a:tcPr anchor="ctr" marL="128016" marR="91440" marT="27432" marB="27432">
                    <a:solidFill>
                      <a:srgbClr val="0B21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它像什么</a:t>
                      </a:r>
                    </a:p>
                  </a:txBody>
                  <a:tcPr anchor="ctr" marL="128016" marR="91440" marT="27432" marB="27432">
                    <a:solidFill>
                      <a:srgbClr val="0B21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解决什么问题</a:t>
                      </a:r>
                    </a:p>
                  </a:txBody>
                  <a:tcPr anchor="ctr" marL="128016" marR="91440" marT="27432" marB="27432">
                    <a:solidFill>
                      <a:srgbClr val="0B214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B4FC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README</a:t>
                      </a:r>
                    </a:p>
                  </a:txBody>
                  <a:tcPr anchor="ctr" marL="128016" marR="91440" marT="27432" marB="27432">
                    <a:solidFill>
                      <a:srgbClr val="FFFFFF"/>
                    </a:solidFill>
                    <a:lnB w="9525" cap="flat">
                      <a:solidFill>
                        <a:srgbClr val="E9ECF1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418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项目门牌</a:t>
                      </a:r>
                    </a:p>
                  </a:txBody>
                  <a:tcPr anchor="ctr" marL="128016" marR="91440" marT="27432" marB="27432">
                    <a:solidFill>
                      <a:srgbClr val="FFFFFF"/>
                    </a:solidFill>
                    <a:lnB w="9525" cap="flat">
                      <a:solidFill>
                        <a:srgbClr val="E9ECF1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6A72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当前版本与使用方式，一眼知道「这是什么」</a:t>
                      </a:r>
                    </a:p>
                  </a:txBody>
                  <a:tcPr anchor="ctr" marL="128016" marR="91440" marT="27432" marB="27432">
                    <a:solidFill>
                      <a:srgbClr val="FFFFFF"/>
                    </a:solidFill>
                    <a:lnB w="9525" cap="flat">
                      <a:solidFill>
                        <a:srgbClr val="E9ECF1"/>
                      </a:solidFill>
                      <a:prstDash val="solid"/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B4FC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CONTEXT</a:t>
                      </a:r>
                    </a:p>
                  </a:txBody>
                  <a:tcPr anchor="ctr" marL="128016" marR="91440" marT="27432" marB="27432">
                    <a:solidFill>
                      <a:srgbClr val="F6F8FC"/>
                    </a:solidFill>
                    <a:lnB w="9525" cap="flat">
                      <a:solidFill>
                        <a:srgbClr val="E9ECF1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418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业务口径</a:t>
                      </a:r>
                    </a:p>
                  </a:txBody>
                  <a:tcPr anchor="ctr" marL="128016" marR="91440" marT="27432" marB="27432">
                    <a:solidFill>
                      <a:srgbClr val="F6F8FC"/>
                    </a:solidFill>
                    <a:lnB w="9525" cap="flat">
                      <a:solidFill>
                        <a:srgbClr val="E9ECF1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6A72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每个数字怎么算，规则统一、绝不跑偏</a:t>
                      </a:r>
                    </a:p>
                  </a:txBody>
                  <a:tcPr anchor="ctr" marL="128016" marR="91440" marT="27432" marB="27432">
                    <a:solidFill>
                      <a:srgbClr val="F6F8FC"/>
                    </a:solidFill>
                    <a:lnB w="9525" cap="flat">
                      <a:solidFill>
                        <a:srgbClr val="E9ECF1"/>
                      </a:solidFill>
                      <a:prstDash val="solid"/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B4FC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ARCHITECTURE</a:t>
                      </a:r>
                    </a:p>
                  </a:txBody>
                  <a:tcPr anchor="ctr" marL="128016" marR="91440" marT="27432" marB="27432">
                    <a:solidFill>
                      <a:srgbClr val="FFFFFF"/>
                    </a:solidFill>
                    <a:lnB w="9525" cap="flat">
                      <a:solidFill>
                        <a:srgbClr val="E9ECF1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418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技术地图</a:t>
                      </a:r>
                    </a:p>
                  </a:txBody>
                  <a:tcPr anchor="ctr" marL="128016" marR="91440" marT="27432" marB="27432">
                    <a:solidFill>
                      <a:srgbClr val="FFFFFF"/>
                    </a:solidFill>
                    <a:lnB w="9525" cap="flat">
                      <a:solidFill>
                        <a:srgbClr val="E9ECF1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6A72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代码如何组织，新功能从哪里加、怎么扩展</a:t>
                      </a:r>
                    </a:p>
                  </a:txBody>
                  <a:tcPr anchor="ctr" marL="128016" marR="91440" marT="27432" marB="27432">
                    <a:solidFill>
                      <a:srgbClr val="FFFFFF"/>
                    </a:solidFill>
                    <a:lnB w="9525" cap="flat">
                      <a:solidFill>
                        <a:srgbClr val="E9ECF1"/>
                      </a:solidFill>
                      <a:prstDash val="solid"/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B4FC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CHANGELOG</a:t>
                      </a:r>
                    </a:p>
                  </a:txBody>
                  <a:tcPr anchor="ctr" marL="128016" marR="91440" marT="27432" marB="27432">
                    <a:solidFill>
                      <a:srgbClr val="F6F8FC"/>
                    </a:solidFill>
                    <a:lnB w="9525" cap="flat">
                      <a:solidFill>
                        <a:srgbClr val="E9ECF1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418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施工日志</a:t>
                      </a:r>
                    </a:p>
                  </a:txBody>
                  <a:tcPr anchor="ctr" marL="128016" marR="91440" marT="27432" marB="27432">
                    <a:solidFill>
                      <a:srgbClr val="F6F8FC"/>
                    </a:solidFill>
                    <a:lnB w="9525" cap="flat">
                      <a:solidFill>
                        <a:srgbClr val="E9ECF1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6A72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今天改了什么、明天从哪里接着做</a:t>
                      </a:r>
                    </a:p>
                  </a:txBody>
                  <a:tcPr anchor="ctr" marL="128016" marR="91440" marT="27432" marB="27432">
                    <a:solidFill>
                      <a:srgbClr val="F6F8FC"/>
                    </a:solidFill>
                    <a:lnB w="9525" cap="flat">
                      <a:solidFill>
                        <a:srgbClr val="E9ECF1"/>
                      </a:solidFill>
                      <a:prstDash val="solid"/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B4FC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DECISIONS</a:t>
                      </a:r>
                    </a:p>
                  </a:txBody>
                  <a:tcPr anchor="ctr" marL="128016" marR="91440" marT="27432" marB="27432">
                    <a:solidFill>
                      <a:srgbClr val="FFFFFF"/>
                    </a:solidFill>
                    <a:lnB w="9525" cap="flat">
                      <a:solidFill>
                        <a:srgbClr val="E9ECF1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418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决策档案</a:t>
                      </a:r>
                    </a:p>
                  </a:txBody>
                  <a:tcPr anchor="ctr" marL="128016" marR="91440" marT="27432" marB="27432">
                    <a:solidFill>
                      <a:srgbClr val="FFFFFF"/>
                    </a:solidFill>
                    <a:lnB w="9525" cap="flat">
                      <a:solidFill>
                        <a:srgbClr val="E9ECF1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6A72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 项关键决策与踩坑记录，同一个坑不踩第二次</a:t>
                      </a:r>
                    </a:p>
                  </a:txBody>
                  <a:tcPr anchor="ctr" marL="128016" marR="91440" marT="27432" marB="27432">
                    <a:solidFill>
                      <a:srgbClr val="FFFFFF"/>
                    </a:solidFill>
                    <a:lnB w="9525" cap="flat">
                      <a:solidFill>
                        <a:srgbClr val="E9ECF1"/>
                      </a:solidFill>
                      <a:prstDash val="solid"/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B4FC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AGENT</a:t>
                      </a:r>
                    </a:p>
                  </a:txBody>
                  <a:tcPr anchor="ctr" marL="128016" marR="91440" marT="27432" marB="27432">
                    <a:solidFill>
                      <a:srgbClr val="F6F8FC"/>
                    </a:solidFill>
                    <a:lnB w="9525" cap="flat">
                      <a:solidFill>
                        <a:srgbClr val="E9ECF1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4182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分工纪律</a:t>
                      </a:r>
                    </a:p>
                  </a:txBody>
                  <a:tcPr anchor="ctr" marL="128016" marR="91440" marT="27432" marB="27432">
                    <a:solidFill>
                      <a:srgbClr val="F6F8FC"/>
                    </a:solidFill>
                    <a:lnB w="9525" cap="flat">
                      <a:solidFill>
                        <a:srgbClr val="E9ECF1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6A728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每个 AI 能改什么、提交前必须检查什么</a:t>
                      </a:r>
                    </a:p>
                  </a:txBody>
                  <a:tcPr anchor="ctr" marL="128016" marR="91440" marT="27432" marB="27432">
                    <a:solidFill>
                      <a:srgbClr val="F6F8FC"/>
                    </a:solidFill>
                    <a:lnB w="9525" cap="flat">
                      <a:solidFill>
                        <a:srgbClr val="E9ECF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66928" y="5321808"/>
            <a:ext cx="11055096" cy="877824"/>
          </a:xfrm>
          <a:prstGeom prst="roundRect">
            <a:avLst>
              <a:gd name="adj" fmla="val 7000"/>
            </a:avLst>
          </a:prstGeom>
          <a:solidFill>
            <a:srgbClr val="FEF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5504688"/>
            <a:ext cx="512064" cy="512064"/>
          </a:xfrm>
          <a:prstGeom prst="roundRect">
            <a:avLst>
              <a:gd name="adj" fmla="val 2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80675" y="5616522"/>
            <a:ext cx="196632" cy="28839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3020">
            <a:solidFill>
              <a:srgbClr val="C8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1020002" y="5701730"/>
            <a:ext cx="117979" cy="0"/>
          </a:xfrm>
          <a:prstGeom prst="line">
            <a:avLst/>
          </a:prstGeom>
          <a:ln w="27940" cap="rnd">
            <a:solidFill>
              <a:srgbClr val="C88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20002" y="5754165"/>
            <a:ext cx="117979" cy="0"/>
          </a:xfrm>
          <a:prstGeom prst="line">
            <a:avLst/>
          </a:prstGeom>
          <a:ln w="27940" cap="rnd">
            <a:solidFill>
              <a:srgbClr val="C88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20002" y="5806600"/>
            <a:ext cx="117979" cy="0"/>
          </a:xfrm>
          <a:prstGeom prst="line">
            <a:avLst/>
          </a:prstGeom>
          <a:ln w="27940" cap="rnd">
            <a:solidFill>
              <a:srgbClr val="C88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517904" y="5449824"/>
            <a:ext cx="9875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7C5A10"/>
                </a:solidFill>
                <a:latin typeface="Microsoft YaHei"/>
                <a:ea typeface="Microsoft YaHei"/>
                <a:cs typeface="Microsoft YaHei"/>
              </a:rPr>
              <a:t>交接单（HANDOFF）：</a:t>
            </a:r>
            <a:r>
              <a:rPr sz="1350" b="0" i="0">
                <a:solidFill>
                  <a:srgbClr val="7C5A10"/>
                </a:solidFill>
                <a:latin typeface="Microsoft YaHei"/>
                <a:ea typeface="Microsoft YaHei"/>
                <a:cs typeface="Microsoft YaHei"/>
              </a:rPr>
              <a:t>设计 AI 写清「怎么做、数字从哪来」，人批准后开发 AI 才动工。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17904" y="5833872"/>
            <a:ext cx="98755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8A00"/>
                </a:solidFill>
                <a:latin typeface="Microsoft YaHei"/>
                <a:ea typeface="Microsoft YaHei"/>
                <a:cs typeface="Microsoft YaHei"/>
              </a:rPr>
              <a:t>效果：新 AI 读文档即可开工，不用人从头描述；过去的经验不会流失。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528816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A3AF"/>
                </a:solidFill>
                <a:latin typeface="Microsoft YaHei"/>
                <a:ea typeface="Microsoft YaHei"/>
                <a:cs typeface="Microsoft YaHei"/>
              </a:rPr>
              <a:t>多 AI Agent 协同开发 · 物品放行监控数据看板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528816"/>
            <a:ext cx="3291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A3AF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2976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FBB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47472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rPr>
              <a:t>解决方案 · 开发方式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41822"/>
                </a:solidFill>
                <a:latin typeface="Microsoft YaHei"/>
                <a:ea typeface="Microsoft YaHei"/>
                <a:cs typeface="Microsoft YaHei"/>
              </a:rPr>
              <a:t>全程只靠「说话」，没手写一行代码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35024"/>
            <a:ext cx="11064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A7280"/>
                </a:solidFill>
                <a:latin typeface="Microsoft YaHei"/>
                <a:ea typeface="Microsoft YaHei"/>
                <a:cs typeface="Microsoft YaHei"/>
              </a:rPr>
              <a:t>从想法到上线的五个环节，全部通过自然语言对话完成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810512"/>
            <a:ext cx="6446520" cy="440740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240">
            <a:solidFill>
              <a:srgbClr val="E9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810512"/>
            <a:ext cx="6446520" cy="457200"/>
          </a:xfrm>
          <a:prstGeom prst="rect">
            <a:avLst/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88212" y="1967788"/>
            <a:ext cx="160934" cy="104607"/>
          </a:xfrm>
          <a:prstGeom prst="roundRect">
            <a:avLst>
              <a:gd name="adj" fmla="val 18000"/>
            </a:avLst>
          </a:prstGeom>
          <a:noFill/>
          <a:ln w="22860">
            <a:solidFill>
              <a:srgbClr val="1B4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828446" y="2068372"/>
            <a:ext cx="0" cy="48281"/>
          </a:xfrm>
          <a:prstGeom prst="line">
            <a:avLst/>
          </a:prstGeom>
          <a:ln w="22860" cap="rnd">
            <a:solidFill>
              <a:srgbClr val="1B4FC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828446" y="2068372"/>
            <a:ext cx="40234" cy="48281"/>
          </a:xfrm>
          <a:prstGeom prst="line">
            <a:avLst/>
          </a:prstGeom>
          <a:ln w="22860" cap="rnd">
            <a:solidFill>
              <a:srgbClr val="1B4FC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820399" y="2008022"/>
            <a:ext cx="16093" cy="16093"/>
          </a:xfrm>
          <a:prstGeom prst="ellipse">
            <a:avLst/>
          </a:prstGeom>
          <a:solidFill>
            <a:srgbClr val="1B4FC2"/>
          </a:solidFill>
          <a:ln w="1">
            <a:solidFill>
              <a:srgbClr val="1B4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8563" y="2008022"/>
            <a:ext cx="16093" cy="16093"/>
          </a:xfrm>
          <a:prstGeom prst="ellipse">
            <a:avLst/>
          </a:prstGeom>
          <a:solidFill>
            <a:srgbClr val="1B4FC2"/>
          </a:solidFill>
          <a:ln w="1">
            <a:solidFill>
              <a:srgbClr val="1B4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6726" y="2008022"/>
            <a:ext cx="16093" cy="16093"/>
          </a:xfrm>
          <a:prstGeom prst="ellipse">
            <a:avLst/>
          </a:prstGeom>
          <a:solidFill>
            <a:srgbClr val="1B4FC2"/>
          </a:solidFill>
          <a:ln w="1">
            <a:solidFill>
              <a:srgbClr val="1B4F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1929384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B4FC2"/>
                </a:solidFill>
                <a:latin typeface="Microsoft YaHei"/>
                <a:ea typeface="Microsoft YaHei"/>
                <a:cs typeface="Microsoft YaHei"/>
              </a:rPr>
              <a:t>与 AI 看板助手对话</a:t>
            </a:r>
          </a:p>
        </p:txBody>
      </p:sp>
      <p:sp>
        <p:nvSpPr>
          <p:cNvPr id="15" name="Oval 14"/>
          <p:cNvSpPr/>
          <p:nvPr/>
        </p:nvSpPr>
        <p:spPr>
          <a:xfrm>
            <a:off x="6300216" y="1984248"/>
            <a:ext cx="82296" cy="82296"/>
          </a:xfrm>
          <a:prstGeom prst="ellipse">
            <a:avLst/>
          </a:prstGeom>
          <a:solidFill>
            <a:srgbClr val="239B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898648" y="2468880"/>
            <a:ext cx="3794760" cy="566928"/>
          </a:xfrm>
          <a:prstGeom prst="roundRect">
            <a:avLst>
              <a:gd name="adj" fmla="val 14000"/>
            </a:avLst>
          </a:prstGeom>
          <a:solidFill>
            <a:srgbClr val="FBB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63240" y="2578608"/>
            <a:ext cx="346557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B214A"/>
                </a:solidFill>
                <a:latin typeface="Microsoft YaHei"/>
                <a:ea typeface="Microsoft YaHei"/>
                <a:cs typeface="Microsoft YaHei"/>
              </a:rPr>
              <a:t>帮我看看哪些单超时了，按部门排个序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" y="3200400"/>
            <a:ext cx="4160520" cy="1024128"/>
          </a:xfrm>
          <a:prstGeom prst="roundRect">
            <a:avLst>
              <a:gd name="adj" fmla="val 14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3310128"/>
            <a:ext cx="301752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41822"/>
                </a:solidFill>
                <a:latin typeface="Microsoft YaHei"/>
                <a:ea typeface="Microsoft YaHei"/>
                <a:cs typeface="Microsoft YaHei"/>
              </a:rPr>
              <a:t>已生成「超时 By 部门」图表，超时最多的 3 个部门已自动标出。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95927" y="3785616"/>
            <a:ext cx="137160" cy="128016"/>
          </a:xfrm>
          <a:prstGeom prst="roundRect">
            <a:avLst>
              <a:gd name="adj" fmla="val 30000"/>
            </a:avLst>
          </a:prstGeom>
          <a:solidFill>
            <a:srgbClr val="7EA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215383" y="3657600"/>
            <a:ext cx="137160" cy="256032"/>
          </a:xfrm>
          <a:prstGeom prst="roundRect">
            <a:avLst>
              <a:gd name="adj" fmla="val 30000"/>
            </a:avLst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434840" y="3749040"/>
            <a:ext cx="137160" cy="164592"/>
          </a:xfrm>
          <a:prstGeom prst="roundRect">
            <a:avLst>
              <a:gd name="adj" fmla="val 30000"/>
            </a:avLst>
          </a:prstGeom>
          <a:solidFill>
            <a:srgbClr val="7EA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048256" y="4425696"/>
            <a:ext cx="4645152" cy="566928"/>
          </a:xfrm>
          <a:prstGeom prst="roundRect">
            <a:avLst>
              <a:gd name="adj" fmla="val 14000"/>
            </a:avLst>
          </a:prstGeom>
          <a:solidFill>
            <a:srgbClr val="FBB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12848" y="4535424"/>
            <a:ext cx="431596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0B214A"/>
                </a:solidFill>
                <a:latin typeface="Microsoft YaHei"/>
                <a:ea typeface="Microsoft YaHei"/>
                <a:cs typeface="Microsoft YaHei"/>
              </a:rPr>
              <a:t>再加个单号查询：输入单号，能看到它的全流程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8096" y="5138928"/>
            <a:ext cx="4709160" cy="658368"/>
          </a:xfrm>
          <a:prstGeom prst="roundRect">
            <a:avLst>
              <a:gd name="adj" fmla="val 14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5248656"/>
            <a:ext cx="437997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41822"/>
                </a:solidFill>
                <a:latin typeface="Microsoft YaHei"/>
                <a:ea typeface="Microsoft YaHei"/>
                <a:cs typeface="Microsoft YaHei"/>
              </a:rPr>
              <a:t>新功能已加好：Ctrl+K 直达，申请 → 放行 → 接收全链路。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5852160"/>
            <a:ext cx="608075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CA3AF"/>
                </a:solidFill>
                <a:latin typeface="Microsoft YaHei"/>
                <a:ea typeface="Microsoft YaHei"/>
                <a:cs typeface="Microsoft YaHei"/>
              </a:rPr>
              <a:t>提想法 → 规划 → 原型 → 构建 → 测试，全程对话完成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60920" y="1847088"/>
            <a:ext cx="4261104" cy="1298448"/>
          </a:xfrm>
          <a:prstGeom prst="roundRect">
            <a:avLst>
              <a:gd name="adj" fmla="val 9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598664" y="2084832"/>
            <a:ext cx="566928" cy="566928"/>
          </a:xfrm>
          <a:prstGeom prst="roundRect">
            <a:avLst>
              <a:gd name="adj" fmla="val 26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824074" y="2223162"/>
            <a:ext cx="116106" cy="116106"/>
          </a:xfrm>
          <a:prstGeom prst="ellipse">
            <a:avLst/>
          </a:prstGeom>
          <a:solidFill>
            <a:srgbClr val="FFFFFF"/>
          </a:solidFill>
          <a:ln w="3302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758764" y="2375552"/>
            <a:ext cx="246727" cy="174160"/>
          </a:xfrm>
          <a:prstGeom prst="ellipse">
            <a:avLst/>
          </a:prstGeom>
          <a:solidFill>
            <a:srgbClr val="FFFFFF"/>
          </a:solidFill>
          <a:ln w="3302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48472" y="2066543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1822"/>
                </a:solidFill>
                <a:latin typeface="Microsoft YaHei"/>
                <a:ea typeface="Microsoft YaHei"/>
                <a:cs typeface="Microsoft YaHei"/>
              </a:rPr>
              <a:t>零门槛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48472" y="2505456"/>
            <a:ext cx="3154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A7280"/>
                </a:solidFill>
                <a:latin typeface="Microsoft YaHei"/>
                <a:ea typeface="Microsoft YaHei"/>
                <a:cs typeface="Microsoft YaHei"/>
              </a:rPr>
              <a:t>不会编程也能开发，会描述需求就行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60920" y="3328416"/>
            <a:ext cx="4261104" cy="1298448"/>
          </a:xfrm>
          <a:prstGeom prst="roundRect">
            <a:avLst>
              <a:gd name="adj" fmla="val 9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598664" y="3566160"/>
            <a:ext cx="566928" cy="566928"/>
          </a:xfrm>
          <a:prstGeom prst="roundRect">
            <a:avLst>
              <a:gd name="adj" fmla="val 26000"/>
            </a:avLst>
          </a:prstGeom>
          <a:solidFill>
            <a:srgbClr val="FEF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7802304" y="3682720"/>
            <a:ext cx="166904" cy="333807"/>
          </a:xfrm>
          <a:custGeom>
            <a:avLst/>
            <a:gdLst/>
            <a:ahLst/>
            <a:cxnLst/>
            <a:rect l="l" t="t" r="r" b="b"/>
            <a:pathLst>
              <a:path w="166904" h="333807">
                <a:moveTo>
                  <a:pt x="116107" y="0"/>
                </a:moveTo>
                <a:lnTo>
                  <a:pt x="0" y="181417"/>
                </a:lnTo>
                <a:lnTo>
                  <a:pt x="68938" y="181417"/>
                </a:lnTo>
                <a:lnTo>
                  <a:pt x="43540" y="333807"/>
                </a:lnTo>
                <a:lnTo>
                  <a:pt x="166904" y="130620"/>
                </a:lnTo>
                <a:lnTo>
                  <a:pt x="94337" y="130620"/>
                </a:lnTo>
                <a:close/>
              </a:path>
            </a:pathLst>
          </a:custGeom>
          <a:solidFill>
            <a:srgbClr val="C88A00"/>
          </a:solidFill>
          <a:ln w="33020">
            <a:solidFill>
              <a:srgbClr val="C8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48472" y="354787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1822"/>
                </a:solidFill>
                <a:latin typeface="Microsoft YaHei"/>
                <a:ea typeface="Microsoft YaHei"/>
                <a:cs typeface="Microsoft YaHei"/>
              </a:rPr>
              <a:t>快迭代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48472" y="3986784"/>
            <a:ext cx="3154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A7280"/>
                </a:solidFill>
                <a:latin typeface="Microsoft YaHei"/>
                <a:ea typeface="Microsoft YaHei"/>
                <a:cs typeface="Microsoft YaHei"/>
              </a:rPr>
              <a:t>当天提、当天改，小功能小时级见效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60920" y="4809744"/>
            <a:ext cx="4261104" cy="1298448"/>
          </a:xfrm>
          <a:prstGeom prst="roundRect">
            <a:avLst>
              <a:gd name="adj" fmla="val 9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598664" y="5047488"/>
            <a:ext cx="566928" cy="566928"/>
          </a:xfrm>
          <a:prstGeom prst="roundRect">
            <a:avLst>
              <a:gd name="adj" fmla="val 26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7744251" y="5171305"/>
            <a:ext cx="275753" cy="326550"/>
          </a:xfrm>
          <a:custGeom>
            <a:avLst/>
            <a:gdLst/>
            <a:ahLst/>
            <a:cxnLst/>
            <a:rect l="l" t="t" r="r" b="b"/>
            <a:pathLst>
              <a:path w="275753" h="326550">
                <a:moveTo>
                  <a:pt x="137876" y="0"/>
                </a:moveTo>
                <a:lnTo>
                  <a:pt x="275753" y="50796"/>
                </a:lnTo>
                <a:lnTo>
                  <a:pt x="275753" y="159647"/>
                </a:lnTo>
                <a:lnTo>
                  <a:pt x="137876" y="326550"/>
                </a:lnTo>
                <a:lnTo>
                  <a:pt x="0" y="159647"/>
                </a:lnTo>
                <a:lnTo>
                  <a:pt x="0" y="50796"/>
                </a:lnTo>
                <a:close/>
              </a:path>
            </a:pathLst>
          </a:custGeom>
          <a:solidFill>
            <a:srgbClr val="FFFFFF"/>
          </a:solidFill>
          <a:ln w="33020">
            <a:solidFill>
              <a:srgbClr val="2E6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>
            <a:off x="7824074" y="5330952"/>
            <a:ext cx="43540" cy="43540"/>
          </a:xfrm>
          <a:prstGeom prst="line">
            <a:avLst/>
          </a:prstGeom>
          <a:ln w="40640" cap="rnd">
            <a:solidFill>
              <a:srgbClr val="2E6B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7867614" y="5272898"/>
            <a:ext cx="87080" cy="101594"/>
          </a:xfrm>
          <a:prstGeom prst="line">
            <a:avLst/>
          </a:prstGeom>
          <a:ln w="40640" cap="rnd">
            <a:solidFill>
              <a:srgbClr val="2E6B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8348472" y="502920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1822"/>
                </a:solidFill>
                <a:latin typeface="Microsoft YaHei"/>
                <a:ea typeface="Microsoft YaHei"/>
                <a:cs typeface="Microsoft YaHei"/>
              </a:rPr>
              <a:t>够安全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48472" y="5468112"/>
            <a:ext cx="3154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A7280"/>
                </a:solidFill>
                <a:latin typeface="Microsoft YaHei"/>
                <a:ea typeface="Microsoft YaHei"/>
                <a:cs typeface="Microsoft YaHei"/>
              </a:rPr>
              <a:t>离线运行、数据不出内网，符合保密要求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6528816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A3AF"/>
                </a:solidFill>
                <a:latin typeface="Microsoft YaHei"/>
                <a:ea typeface="Microsoft YaHei"/>
                <a:cs typeface="Microsoft YaHei"/>
              </a:rPr>
              <a:t>多 AI Agent 协同开发 · 物品放行监控数据看板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92840" y="6528816"/>
            <a:ext cx="3291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A3AF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2976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FBB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347472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rPr>
              <a:t>实际成效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6424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41822"/>
                </a:solidFill>
                <a:latin typeface="Microsoft YaHei"/>
                <a:ea typeface="Microsoft YaHei"/>
                <a:cs typeface="Microsoft YaHei"/>
              </a:rPr>
              <a:t>开发节奏：从「按周等」变成「按天交」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66928" y="1783080"/>
          <a:ext cx="59436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546811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CA3AF"/>
                </a:solidFill>
                <a:latin typeface="Microsoft YaHei"/>
                <a:ea typeface="Microsoft YaHei"/>
                <a:cs typeface="Microsoft YaHei"/>
              </a:rPr>
              <a:t>注：传统流程约 2~4 周；本项目小功能以小时~天计，数据为实际经验估算。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84848" y="1810512"/>
            <a:ext cx="2359152" cy="1700784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784848" y="2066543"/>
            <a:ext cx="73152" cy="1188720"/>
          </a:xfrm>
          <a:prstGeom prst="rect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0" y="2194560"/>
            <a:ext cx="19933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rPr>
              <a:t>约 90%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2834640"/>
            <a:ext cx="19476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A7280"/>
                </a:solidFill>
                <a:latin typeface="Microsoft YaHei"/>
                <a:ea typeface="Microsoft YaHei"/>
                <a:cs typeface="Microsoft YaHei"/>
              </a:rPr>
              <a:t>小功能开发周期缩短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08592" y="1810512"/>
            <a:ext cx="2359152" cy="1700784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08592" y="2066543"/>
            <a:ext cx="73152" cy="1188720"/>
          </a:xfrm>
          <a:prstGeom prst="rect">
            <a:avLst/>
          </a:prstGeom>
          <a:solidFill>
            <a:srgbClr val="C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64624" y="2194560"/>
            <a:ext cx="19933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C88A00"/>
                </a:solidFill>
                <a:latin typeface="Microsoft YaHei"/>
                <a:ea typeface="Microsoft YaHei"/>
                <a:cs typeface="Microsoft YaHei"/>
              </a:rPr>
              <a:t>0 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64624" y="2834640"/>
            <a:ext cx="19476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A7280"/>
                </a:solidFill>
                <a:latin typeface="Microsoft YaHei"/>
                <a:ea typeface="Microsoft YaHei"/>
                <a:cs typeface="Microsoft YaHei"/>
              </a:rPr>
              <a:t>全程未手写代码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84848" y="3675887"/>
            <a:ext cx="2359152" cy="1700784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784848" y="3931920"/>
            <a:ext cx="73152" cy="1188720"/>
          </a:xfrm>
          <a:prstGeom prst="rect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0" y="4059935"/>
            <a:ext cx="19933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E6BE6"/>
                </a:solidFill>
                <a:latin typeface="Microsoft YaHei"/>
                <a:ea typeface="Microsoft YaHei"/>
                <a:cs typeface="Microsoft YaHei"/>
              </a:rPr>
              <a:t>6+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4700016"/>
            <a:ext cx="19476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A7280"/>
                </a:solidFill>
                <a:latin typeface="Microsoft YaHei"/>
                <a:ea typeface="Microsoft YaHei"/>
                <a:cs typeface="Microsoft YaHei"/>
              </a:rPr>
              <a:t>版本持续迭代 v2→v5.6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08592" y="3675887"/>
            <a:ext cx="2359152" cy="1700784"/>
          </a:xfrm>
          <a:prstGeom prst="roundRect">
            <a:avLst>
              <a:gd name="adj" fmla="val 8000"/>
            </a:avLst>
          </a:prstGeom>
          <a:solidFill>
            <a:srgbClr val="F6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308592" y="3931920"/>
            <a:ext cx="73152" cy="1188720"/>
          </a:xfrm>
          <a:prstGeom prst="rect">
            <a:avLst/>
          </a:prstGeom>
          <a:solidFill>
            <a:srgbClr val="C8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64624" y="4059935"/>
            <a:ext cx="19933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C88A00"/>
                </a:solidFill>
                <a:latin typeface="Microsoft YaHei"/>
                <a:ea typeface="Microsoft YaHei"/>
                <a:cs typeface="Microsoft YaHei"/>
              </a:rPr>
              <a:t>20s→2s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64624" y="4700016"/>
            <a:ext cx="19476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A7280"/>
                </a:solidFill>
                <a:latin typeface="Microsoft YaHei"/>
                <a:ea typeface="Microsoft YaHei"/>
                <a:cs typeface="Microsoft YaHei"/>
              </a:rPr>
              <a:t>10 万行数据再次打开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870448"/>
            <a:ext cx="11055096" cy="457200"/>
          </a:xfrm>
          <a:prstGeom prst="roundRect">
            <a:avLst>
              <a:gd name="adj" fmla="val 12000"/>
            </a:avLst>
          </a:prstGeom>
          <a:solidFill>
            <a:srgbClr val="EAF1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5943600"/>
            <a:ext cx="1105509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4FC2"/>
                </a:solidFill>
                <a:latin typeface="Microsoft YaHei"/>
                <a:ea typeface="Microsoft YaHei"/>
                <a:cs typeface="Microsoft YaHei"/>
              </a:rPr>
              <a:t>更大的价值：把宝贵的 IT 开发资源，释放给更核心的系统建设。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528816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CA3AF"/>
                </a:solidFill>
                <a:latin typeface="Microsoft YaHei"/>
                <a:ea typeface="Microsoft YaHei"/>
                <a:cs typeface="Microsoft YaHei"/>
              </a:rPr>
              <a:t>多 AI Agent 协同开发 · 物品放行监控数据看板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528816"/>
            <a:ext cx="32918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CA3AF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1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0" y="-1645920"/>
            <a:ext cx="3657600" cy="3657600"/>
          </a:xfrm>
          <a:prstGeom prst="ellipse">
            <a:avLst/>
          </a:prstGeom>
          <a:solidFill>
            <a:srgbClr val="14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4754880"/>
            <a:ext cx="2926080" cy="2926080"/>
          </a:xfrm>
          <a:prstGeom prst="ellipse">
            <a:avLst/>
          </a:prstGeom>
          <a:solidFill>
            <a:srgbClr val="14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BBB05"/>
                </a:solidFill>
                <a:latin typeface="Microsoft YaHei"/>
                <a:ea typeface="Microsoft YaHei"/>
                <a:cs typeface="Microsoft YaHei"/>
              </a:rPr>
              <a:t>NEXT · 未来规划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686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把这套方法，复制到更多运维系统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188720" y="2514600"/>
            <a:ext cx="9829800" cy="0"/>
          </a:xfrm>
          <a:prstGeom prst="line">
            <a:avLst/>
          </a:prstGeom>
          <a:ln w="20320" cap="rnd">
            <a:solidFill>
              <a:srgbClr val="334E7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901952" y="2267712"/>
            <a:ext cx="493776" cy="493776"/>
          </a:xfrm>
          <a:prstGeom prst="ellipse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01952" y="2286000"/>
            <a:ext cx="49377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214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971800"/>
            <a:ext cx="31089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门禁系统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38328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FD2F2"/>
                </a:solidFill>
                <a:latin typeface="Microsoft YaHei"/>
                <a:ea typeface="Microsoft YaHei"/>
                <a:cs typeface="Microsoft YaHei"/>
              </a:rPr>
              <a:t>通行数据分析，异常情况主动发现</a:t>
            </a:r>
          </a:p>
        </p:txBody>
      </p:sp>
      <p:sp>
        <p:nvSpPr>
          <p:cNvPr id="11" name="Oval 10"/>
          <p:cNvSpPr/>
          <p:nvPr/>
        </p:nvSpPr>
        <p:spPr>
          <a:xfrm>
            <a:off x="5852160" y="2267712"/>
            <a:ext cx="493776" cy="493776"/>
          </a:xfrm>
          <a:prstGeom prst="ellipse">
            <a:avLst/>
          </a:prstGeom>
          <a:solidFill>
            <a:srgbClr val="2E6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0" y="2286000"/>
            <a:ext cx="49377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214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971800"/>
            <a:ext cx="31089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物联管控系统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338328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FD2F2"/>
                </a:solidFill>
                <a:latin typeface="Microsoft YaHei"/>
                <a:ea typeface="Microsoft YaHei"/>
                <a:cs typeface="Microsoft YaHei"/>
              </a:rPr>
              <a:t>设备运行状态看板，故障提前预警</a:t>
            </a:r>
          </a:p>
        </p:txBody>
      </p:sp>
      <p:sp>
        <p:nvSpPr>
          <p:cNvPr id="15" name="Oval 14"/>
          <p:cNvSpPr/>
          <p:nvPr/>
        </p:nvSpPr>
        <p:spPr>
          <a:xfrm>
            <a:off x="9793224" y="2267712"/>
            <a:ext cx="493776" cy="493776"/>
          </a:xfrm>
          <a:prstGeom prst="ellipse">
            <a:avLst/>
          </a:prstGeom>
          <a:solidFill>
            <a:srgbClr val="FBB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93224" y="2286000"/>
            <a:ext cx="493776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B214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85632" y="2971800"/>
            <a:ext cx="31089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更多运维场景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85632" y="338328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FD2F2"/>
                </a:solidFill>
                <a:latin typeface="Microsoft YaHei"/>
                <a:ea typeface="Microsoft YaHei"/>
                <a:cs typeface="Microsoft YaHei"/>
              </a:rPr>
              <a:t>问题收集 → 可行性评估 → 快速落地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315968"/>
            <a:ext cx="11055096" cy="713232"/>
          </a:xfrm>
          <a:prstGeom prst="roundRect">
            <a:avLst>
              <a:gd name="adj" fmla="val 12000"/>
            </a:avLst>
          </a:prstGeom>
          <a:solidFill>
            <a:srgbClr val="1432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874166" y="4495190"/>
            <a:ext cx="336499" cy="336499"/>
          </a:xfrm>
          <a:custGeom>
            <a:avLst/>
            <a:gdLst/>
            <a:ahLst/>
            <a:cxnLst/>
            <a:rect l="l" t="t" r="r" b="b"/>
            <a:pathLst>
              <a:path w="336499" h="336499">
                <a:moveTo>
                  <a:pt x="168249" y="0"/>
                </a:moveTo>
                <a:lnTo>
                  <a:pt x="201168" y="135331"/>
                </a:lnTo>
                <a:lnTo>
                  <a:pt x="336499" y="168250"/>
                </a:lnTo>
                <a:lnTo>
                  <a:pt x="201168" y="201168"/>
                </a:lnTo>
                <a:lnTo>
                  <a:pt x="168249" y="336499"/>
                </a:lnTo>
                <a:lnTo>
                  <a:pt x="135331" y="201168"/>
                </a:lnTo>
                <a:lnTo>
                  <a:pt x="0" y="168250"/>
                </a:lnTo>
                <a:lnTo>
                  <a:pt x="135331" y="135331"/>
                </a:lnTo>
                <a:close/>
              </a:path>
            </a:pathLst>
          </a:custGeom>
          <a:solidFill>
            <a:srgbClr val="FBBB05"/>
          </a:solidFill>
          <a:ln w="33020">
            <a:solidFill>
              <a:srgbClr val="FBBB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4434840"/>
            <a:ext cx="10058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BBB05"/>
                </a:solidFill>
                <a:latin typeface="Microsoft YaHei"/>
                <a:ea typeface="Microsoft YaHei"/>
                <a:cs typeface="Microsoft YaHei"/>
              </a:rPr>
              <a:t>沉淀可复用的「多 AI 协作模板」：</a:t>
            </a:r>
            <a:r>
              <a:rPr sz="1350" b="0" i="0">
                <a:solidFill>
                  <a:srgbClr val="D9E4F7"/>
                </a:solidFill>
                <a:latin typeface="Microsoft YaHei"/>
                <a:ea typeface="Microsoft YaHei"/>
                <a:cs typeface="Microsoft YaHei"/>
              </a:rPr>
              <a:t>文档规范 + 协作流程拿来即用，新场景快速开工。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5449824"/>
            <a:ext cx="457200" cy="54864"/>
          </a:xfrm>
          <a:prstGeom prst="rect">
            <a:avLst/>
          </a:prstGeom>
          <a:solidFill>
            <a:srgbClr val="FBBB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5596128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谢谢聆听！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199632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FD2F2"/>
                </a:solidFill>
                <a:latin typeface="Microsoft YaHei"/>
                <a:ea typeface="Microsoft YaHei"/>
                <a:cs typeface="Microsoft YaHei"/>
              </a:rPr>
              <a:t>人人都能用 AI，解决自己身边的问题。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6236208"/>
            <a:ext cx="3017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EA8CF"/>
                </a:solidFill>
                <a:latin typeface="Microsoft YaHei"/>
                <a:ea typeface="Microsoft YaHei"/>
                <a:cs typeface="Microsoft YaHei"/>
              </a:rPr>
              <a:t>安全技防部 · 2026.10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
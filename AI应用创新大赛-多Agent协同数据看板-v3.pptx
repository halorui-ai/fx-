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  <p:sldMasterId id="2147483663" r:id="rId2"/>
    <p:sldMasterId id="2147483651" r:id="rId3"/>
  </p:sldMasterIdLst>
  <p:notesMasterIdLst>
    <p:notesMasterId r:id="rId8"/>
  </p:notesMasterIdLst>
  <p:sldIdLst>
    <p:sldId id="256" r:id="rId4"/>
    <p:sldId id="257" r:id="rId5"/>
    <p:sldId id="258" r:id="rId6"/>
    <p:sldId id="260" r:id="rId14"/>
    <p:sldId id="261" r:id="rId15"/>
    <p:sldId id="262" r:id="rId16"/>
    <p:sldId id="263" r:id="rId17"/>
    <p:sldId id="264" r:id="rId18"/>
    <p:sldId id="265" r:id="rId19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6" userDrawn="1">
          <p15:clr>
            <a:srgbClr val="A4A3A4"/>
          </p15:clr>
        </p15:guide>
        <p15:guide id="2" pos="692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59A8"/>
    <a:srgbClr val="0966C3"/>
    <a:srgbClr val="FFE549"/>
    <a:srgbClr val="E73433"/>
    <a:srgbClr val="8EC31F"/>
    <a:srgbClr val="0052A4"/>
    <a:srgbClr val="41C0F0"/>
    <a:srgbClr val="FFDE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8908" autoAdjust="0"/>
  </p:normalViewPr>
  <p:slideViewPr>
    <p:cSldViewPr snapToGrid="0">
      <p:cViewPr varScale="1">
        <p:scale>
          <a:sx n="73" d="100"/>
          <a:sy n="73" d="100"/>
        </p:scale>
        <p:origin x="594" y="66"/>
      </p:cViewPr>
      <p:guideLst>
        <p:guide orient="horz" pos="436"/>
        <p:guide pos="69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notesMaster" Target="notesMasters/notesMaster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dPt>
            <c:idx val="2"/>
            <c:invertIfNegative val="0"/>
            <c:bubble3D val="0"/>
            <c:spPr>
              <a:solidFill>
                <a:srgbClr val="F5A623"/>
              </a:solidFill>
              <a:ln>
                <a:noFill/>
              </a:ln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ln>
                <a:noFill/>
              </a:ln>
            </c:spPr>
          </c:dPt>
          <c:dPt>
            <c:idx val="0"/>
            <c:invertIfNegative val="0"/>
            <c:bubble3D val="0"/>
            <c:spPr>
              <a:solidFill>
                <a:srgbClr val="1EA85F"/>
              </a:solidFill>
              <a:ln>
                <a:noFill/>
              </a:ln>
            </c:spPr>
          </c:dPt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正常</c:v>
                </c:pt>
                <c:pt idx="1">
                  <c:v>超时</c:v>
                </c:pt>
                <c:pt idx="2">
                  <c:v>未接收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1164</c:v>
                </c:pt>
                <c:pt idx="1">
                  <c:v>23</c:v>
                </c:pt>
                <c:pt idx="2">
                  <c:v>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天数</c:v>
                </c:pt>
              </c:strCache>
            </c:strRef>
          </c:tx>
          <c:spPr>
            <a:ln>
              <a:noFill/>
            </a:ln>
          </c:spPr>
          <c:dPt>
            <c:idx val="1"/>
            <c:invertIfNegative val="0"/>
            <c:bubble3D val="0"/>
            <c:spPr>
              <a:solidFill>
                <a:srgbClr val="FFC001"/>
              </a:solidFill>
              <a:ln>
                <a:noFill/>
              </a:ln>
            </c:spPr>
          </c:dPt>
          <c:dPt>
            <c:idx val="0"/>
            <c:invertIfNegative val="0"/>
            <c:bubble3D val="0"/>
            <c:spPr>
              <a:solidFill>
                <a:srgbClr val="AFC0DC"/>
              </a:solidFill>
              <a:ln>
                <a:noFill/>
              </a:ln>
            </c:spPr>
          </c:dPt>
          <c:dLbls>
            <c:numFmt formatCode="0&quot; 天&quot;" sourceLinked="0"/>
            <c:txPr>
              <a:bodyPr/>
              <a:lstStyle/>
              <a:p>
                <a:pPr>
                  <a:defRPr sz="1400" b="1">
                    <a:solidFill>
                      <a:srgbClr val="1B2A41"/>
                    </a:solidFill>
                    <a:latin typeface="Microsoft YaHe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传统排期开发</c:v>
                </c:pt>
                <c:pt idx="1">
                  <c:v>AI 协同开发（本项目）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</c:v>
                </c:pt>
                <c:pt idx="1">
                  <c:v>1</c:v>
                </c:pt>
              </c:numCache>
            </c:numRef>
          </c:val>
        </c:ser>
        <c:gapWidth val="13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1B2A41"/>
                </a:solidFill>
                <a:latin typeface="Microsoft YaHe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.0"/>
          <c:min val="0.0"/>
        </c:scaling>
        <c:delete val="0"/>
        <c:axPos val="l"/>
        <c:majorGridlines>
          <c:spPr>
            <a:ln w="9525">
              <a:solidFill>
                <a:srgbClr val="ECF0F6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>
                <a:solidFill>
                  <a:srgbClr val="97A2B3"/>
                </a:solidFill>
              </a:defRPr>
            </a:pPr>
          </a:p>
        </c:txPr>
        <c:crossAx val="-2068027336"/>
        <c:crosses val="autoZero"/>
        <c:majorUnit val="4.0"/>
      </c:valAx>
    </c:plotArea>
    <c:dispBlanksAs val="gap"/>
  </c:chart>
  <c:spPr>
    <a:noFill/>
    <a:ln>
      <a:noFill/>
    </a:ln>
  </c:spPr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83CC5F-F3D2-D240-A0DD-1C8E70CC50D9}" type="datetimeFigureOut">
              <a:rPr kumimoji="1" lang="zh-CN" altLang="en-US" smtClean="0"/>
              <a:t>2024/2/27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24195-F979-4444-AA07-A51AD00F94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735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3EF09D-68CC-78E2-D0B8-9AA93E9F6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0660B7E-67FA-7677-AF42-A3C5B5ADA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4840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>
            <a:extLst>
              <a:ext uri="{FF2B5EF4-FFF2-40B4-BE49-F238E27FC236}">
                <a16:creationId xmlns:a16="http://schemas.microsoft.com/office/drawing/2014/main" id="{DE98DA66-5EE3-2B36-A690-D48E7D0D7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379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对角圆角矩形 6">
            <a:extLst>
              <a:ext uri="{FF2B5EF4-FFF2-40B4-BE49-F238E27FC236}">
                <a16:creationId xmlns:a16="http://schemas.microsoft.com/office/drawing/2014/main" id="{2B3C9C3F-22FF-0A97-FB81-783FECEED7C9}"/>
              </a:ext>
            </a:extLst>
          </p:cNvPr>
          <p:cNvSpPr/>
          <p:nvPr userDrawn="1"/>
        </p:nvSpPr>
        <p:spPr>
          <a:xfrm>
            <a:off x="1738376" y="2195631"/>
            <a:ext cx="1762559" cy="42129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kumimoji="1" lang="en-US" altLang="zh-CN" sz="1600" b="1" dirty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CONTENTS</a:t>
            </a:r>
            <a:endParaRPr kumimoji="1" lang="zh-CN" altLang="en-US" sz="1600" b="1" dirty="0">
              <a:solidFill>
                <a:schemeClr val="tx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151">
            <a:extLst>
              <a:ext uri="{FF2B5EF4-FFF2-40B4-BE49-F238E27FC236}">
                <a16:creationId xmlns:a16="http://schemas.microsoft.com/office/drawing/2014/main" id="{970AA337-AA77-8E0E-322A-6EB6F2110F68}"/>
              </a:ext>
            </a:extLst>
          </p:cNvPr>
          <p:cNvSpPr txBox="1"/>
          <p:nvPr userDrawn="1"/>
        </p:nvSpPr>
        <p:spPr>
          <a:xfrm>
            <a:off x="1642464" y="1212040"/>
            <a:ext cx="19543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5400" b="1" dirty="0">
                <a:latin typeface="Arial" panose="020B0604020202020204" pitchFamily="34" charset="0"/>
                <a:ea typeface="Microsoft YaHei" panose="020B0503020204020204" pitchFamily="34" charset="-122"/>
              </a:rPr>
              <a:t>目  录</a:t>
            </a:r>
          </a:p>
        </p:txBody>
      </p:sp>
    </p:spTree>
    <p:extLst>
      <p:ext uri="{BB962C8B-B14F-4D97-AF65-F5344CB8AC3E}">
        <p14:creationId xmlns:p14="http://schemas.microsoft.com/office/powerpoint/2010/main" val="2917397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6" descr="查看图片">
            <a:extLst>
              <a:ext uri="{FF2B5EF4-FFF2-40B4-BE49-F238E27FC236}">
                <a16:creationId xmlns:a16="http://schemas.microsoft.com/office/drawing/2014/main" id="{CEE14E8C-F004-AC8C-5BA3-9704BF753A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6683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9120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3029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493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3310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2607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8224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74866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9647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9679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2DD62B1-AD48-401F-91A2-BD5637474FB3}" type="datetimeFigureOut">
              <a:rPr lang="zh-TW" altLang="en-US" smtClean="0"/>
              <a:t>2024/2/27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85F256-6833-4D38-8F08-CE680E30314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74311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Relationship Id="rId5" Type="http://schemas.microsoft.com/office/2007/relationships/hdphoto" Target="../media/hdphoto1.wdp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Relationship Id="rId3" Type="http://schemas.openxmlformats.org/officeDocument/2006/relationships/image" Target="../media/image4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theme" Target="../theme/theme3.xml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图片3">
            <a:extLst>
              <a:ext uri="{FF2B5EF4-FFF2-40B4-BE49-F238E27FC236}">
                <a16:creationId xmlns:a16="http://schemas.microsoft.com/office/drawing/2014/main" id="{5B8FCDE2-5D51-F80C-E49D-C678C9BA98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E6FEE67-5F0E-FD88-820E-A87F4B40E5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1848" r="50956" b="80865"/>
          <a:stretch/>
        </p:blipFill>
        <p:spPr>
          <a:xfrm>
            <a:off x="9919085" y="272949"/>
            <a:ext cx="2129623" cy="66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407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6" descr="查看图片">
            <a:extLst>
              <a:ext uri="{FF2B5EF4-FFF2-40B4-BE49-F238E27FC236}">
                <a16:creationId xmlns:a16="http://schemas.microsoft.com/office/drawing/2014/main" id="{CEE14E8C-F004-AC8C-5BA3-9704BF753A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3182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2">
            <a:extLst>
              <a:ext uri="{FF2B5EF4-FFF2-40B4-BE49-F238E27FC236}">
                <a16:creationId xmlns:a16="http://schemas.microsoft.com/office/drawing/2014/main" id="{9A63F3BA-33FA-2F0C-6723-AB9AD55C80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/>
          <a:srcRect t="1848" r="50956" b="80865"/>
          <a:stretch/>
        </p:blipFill>
        <p:spPr>
          <a:xfrm>
            <a:off x="10754997" y="175070"/>
            <a:ext cx="1387456" cy="430858"/>
          </a:xfrm>
          <a:prstGeom prst="rect">
            <a:avLst/>
          </a:prstGeom>
        </p:spPr>
      </p:pic>
      <p:cxnSp>
        <p:nvCxnSpPr>
          <p:cNvPr id="12" name="直线连接符 19">
            <a:extLst>
              <a:ext uri="{FF2B5EF4-FFF2-40B4-BE49-F238E27FC236}">
                <a16:creationId xmlns:a16="http://schemas.microsoft.com/office/drawing/2014/main" id="{400914D6-9219-9818-B60D-D462EC86E324}"/>
              </a:ext>
            </a:extLst>
          </p:cNvPr>
          <p:cNvCxnSpPr>
            <a:cxnSpLocks/>
          </p:cNvCxnSpPr>
          <p:nvPr userDrawn="1"/>
        </p:nvCxnSpPr>
        <p:spPr>
          <a:xfrm>
            <a:off x="0" y="599866"/>
            <a:ext cx="12192000" cy="0"/>
          </a:xfrm>
          <a:prstGeom prst="line">
            <a:avLst/>
          </a:prstGeom>
          <a:ln w="12700" cmpd="sng">
            <a:gradFill>
              <a:gsLst>
                <a:gs pos="100000">
                  <a:schemeClr val="bg1">
                    <a:lumMod val="75000"/>
                    <a:alpha val="0"/>
                  </a:schemeClr>
                </a:gs>
                <a:gs pos="0">
                  <a:schemeClr val="bg1">
                    <a:lumMod val="75000"/>
                  </a:schemeClr>
                </a:gs>
              </a:gsLst>
              <a:lin ang="0" scaled="0"/>
            </a:gradFill>
            <a:prstDash val="sysDash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A4259600-3B48-EB04-9AD0-5807EC3744EA}"/>
              </a:ext>
            </a:extLst>
          </p:cNvPr>
          <p:cNvSpPr/>
          <p:nvPr userDrawn="1"/>
        </p:nvSpPr>
        <p:spPr>
          <a:xfrm>
            <a:off x="450311" y="235244"/>
            <a:ext cx="275773" cy="275773"/>
          </a:xfrm>
          <a:prstGeom prst="ellipse">
            <a:avLst/>
          </a:prstGeom>
          <a:gradFill>
            <a:gsLst>
              <a:gs pos="0">
                <a:srgbClr val="01B0F0">
                  <a:alpha val="0"/>
                </a:srgbClr>
              </a:gs>
              <a:gs pos="100000">
                <a:srgbClr val="01B0F0"/>
              </a:gs>
            </a:gsLst>
            <a:lin ang="0" scaled="0"/>
          </a:gradFill>
          <a:ln w="730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4" name="椭圆 10">
            <a:extLst>
              <a:ext uri="{FF2B5EF4-FFF2-40B4-BE49-F238E27FC236}">
                <a16:creationId xmlns:a16="http://schemas.microsoft.com/office/drawing/2014/main" id="{9273DC72-021C-E3E4-9FB9-C8FB93367F6C}"/>
              </a:ext>
            </a:extLst>
          </p:cNvPr>
          <p:cNvSpPr/>
          <p:nvPr userDrawn="1"/>
        </p:nvSpPr>
        <p:spPr>
          <a:xfrm>
            <a:off x="292488" y="235244"/>
            <a:ext cx="275773" cy="275773"/>
          </a:xfrm>
          <a:prstGeom prst="ellipse">
            <a:avLst/>
          </a:prstGeom>
          <a:solidFill>
            <a:srgbClr val="FFC001"/>
          </a:solidFill>
          <a:ln w="730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73441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角圆角矩形 6">
            <a:extLst>
              <a:ext uri="{FF2B5EF4-FFF2-40B4-BE49-F238E27FC236}">
                <a16:creationId xmlns:a16="http://schemas.microsoft.com/office/drawing/2014/main" id="{F1E50FF4-F791-5056-E497-FFDA41B5B33E}"/>
              </a:ext>
            </a:extLst>
          </p:cNvPr>
          <p:cNvSpPr/>
          <p:nvPr/>
        </p:nvSpPr>
        <p:spPr>
          <a:xfrm>
            <a:off x="8906256" y="4498848"/>
            <a:ext cx="1874519" cy="29810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时间：</a:t>
            </a:r>
            <a:r>
              <a:rPr sz="12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  <p:sp>
        <p:nvSpPr>
          <p:cNvPr id="6" name="对角圆角矩形 5">
            <a:extLst>
              <a:ext uri="{FF2B5EF4-FFF2-40B4-BE49-F238E27FC236}">
                <a16:creationId xmlns:a16="http://schemas.microsoft.com/office/drawing/2014/main" id="{A8653F83-E4CB-0821-92C0-CC6D035E4C8A}"/>
              </a:ext>
            </a:extLst>
          </p:cNvPr>
          <p:cNvSpPr/>
          <p:nvPr/>
        </p:nvSpPr>
        <p:spPr>
          <a:xfrm>
            <a:off x="8613648" y="3913632"/>
            <a:ext cx="2286000" cy="360000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4">
                  <a:lumMod val="5000"/>
                  <a:lumOff val="95000"/>
                </a:schemeClr>
              </a:gs>
              <a:gs pos="74000">
                <a:schemeClr val="accent4">
                  <a:lumMod val="45000"/>
                  <a:lumOff val="55000"/>
                </a:schemeClr>
              </a:gs>
              <a:gs pos="83000">
                <a:schemeClr val="accent4">
                  <a:lumMod val="45000"/>
                  <a:lumOff val="55000"/>
                </a:schemeClr>
              </a:gs>
              <a:gs pos="100000">
                <a:schemeClr val="accent4">
                  <a:lumMod val="30000"/>
                  <a:lumOff val="70000"/>
                </a:schemeClr>
              </a:gs>
            </a:gsLst>
            <a:lin ang="5400000" scaled="1"/>
            <a:tileRect/>
          </a:gra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报告人：</a:t>
            </a:r>
            <a:r>
              <a:rPr sz="16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安全技防部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CDECDD-78EE-6885-7047-12FC1AF3D419}"/>
              </a:ext>
            </a:extLst>
          </p:cNvPr>
          <p:cNvSpPr txBox="1"/>
          <p:nvPr/>
        </p:nvSpPr>
        <p:spPr>
          <a:xfrm>
            <a:off x="274320" y="2529621"/>
            <a:ext cx="10826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sz="44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让运维人员自己「造」工具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1901952"/>
            <a:ext cx="1082649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AI 应用创新大赛 · 参赛项目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401568"/>
            <a:ext cx="10826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700" b="0" i="0">
                <a:solidFill>
                  <a:srgbClr val="44526A"/>
                </a:solidFill>
                <a:latin typeface="Microsoft YaHei"/>
                <a:ea typeface="Microsoft YaHei"/>
                <a:cs typeface="Microsoft YaHei"/>
              </a:rPr>
              <a:t>多个 AI 助手协同开发，零代码打造物品放行监控数据看板</a:t>
            </a:r>
          </a:p>
        </p:txBody>
      </p:sp>
    </p:spTree>
    <p:extLst>
      <p:ext uri="{BB962C8B-B14F-4D97-AF65-F5344CB8AC3E}">
        <p14:creationId xmlns:p14="http://schemas.microsoft.com/office/powerpoint/2010/main" val="313416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95">
            <a:extLst>
              <a:ext uri="{FF2B5EF4-FFF2-40B4-BE49-F238E27FC236}">
                <a16:creationId xmlns:a16="http://schemas.microsoft.com/office/drawing/2014/main" id="{35DA1A08-AA34-CDB3-FF45-B5FACF2606C1}"/>
              </a:ext>
            </a:extLst>
          </p:cNvPr>
          <p:cNvSpPr txBox="1"/>
          <p:nvPr/>
        </p:nvSpPr>
        <p:spPr>
          <a:xfrm>
            <a:off x="5875337" y="1212040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1.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1" name="TextBox 96">
            <a:extLst>
              <a:ext uri="{FF2B5EF4-FFF2-40B4-BE49-F238E27FC236}">
                <a16:creationId xmlns:a16="http://schemas.microsoft.com/office/drawing/2014/main" id="{EF05146C-0FEE-8647-D50E-A4B289E09703}"/>
              </a:ext>
            </a:extLst>
          </p:cNvPr>
          <p:cNvSpPr txBox="1"/>
          <p:nvPr/>
        </p:nvSpPr>
        <p:spPr>
          <a:xfrm>
            <a:off x="5875337" y="1986389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2.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2" name="TextBox 95">
            <a:extLst>
              <a:ext uri="{FF2B5EF4-FFF2-40B4-BE49-F238E27FC236}">
                <a16:creationId xmlns:a16="http://schemas.microsoft.com/office/drawing/2014/main" id="{06472C9C-39B8-DDC1-F841-CB8CF49EFAA2}"/>
              </a:ext>
            </a:extLst>
          </p:cNvPr>
          <p:cNvSpPr txBox="1"/>
          <p:nvPr/>
        </p:nvSpPr>
        <p:spPr>
          <a:xfrm>
            <a:off x="5875337" y="2750349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3.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33" name="TextBox 96">
            <a:extLst>
              <a:ext uri="{FF2B5EF4-FFF2-40B4-BE49-F238E27FC236}">
                <a16:creationId xmlns:a16="http://schemas.microsoft.com/office/drawing/2014/main" id="{6A8A60D1-5C0B-3CCF-55F8-024A64C30C74}"/>
              </a:ext>
            </a:extLst>
          </p:cNvPr>
          <p:cNvSpPr txBox="1"/>
          <p:nvPr/>
        </p:nvSpPr>
        <p:spPr>
          <a:xfrm>
            <a:off x="5875337" y="3522551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4.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7C452DCB-2967-161C-8AA6-9673B6E04CD6}"/>
              </a:ext>
            </a:extLst>
          </p:cNvPr>
          <p:cNvSpPr txBox="1"/>
          <p:nvPr/>
        </p:nvSpPr>
        <p:spPr>
          <a:xfrm>
            <a:off x="6295020" y="1310436"/>
            <a:ext cx="525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9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应用场景</a:t>
            </a:r>
            <a:r>
              <a:rPr sz="12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   小需求，为什么总要等好几周</a:t>
            </a: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9EDF2CD8-9CB5-E824-9C2A-F4F91A324176}"/>
              </a:ext>
            </a:extLst>
          </p:cNvPr>
          <p:cNvSpPr txBox="1"/>
          <p:nvPr/>
        </p:nvSpPr>
        <p:spPr>
          <a:xfrm>
            <a:off x="6295020" y="2076956"/>
            <a:ext cx="525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9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使用的 AI 工具</a:t>
            </a:r>
            <a:r>
              <a:rPr sz="12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   五个智能助手，各有所长</a:t>
            </a:r>
          </a:p>
        </p:txBody>
      </p:sp>
      <p:sp>
        <p:nvSpPr>
          <p:cNvPr id="4" name="TextBox 17">
            <a:extLst>
              <a:ext uri="{FF2B5EF4-FFF2-40B4-BE49-F238E27FC236}">
                <a16:creationId xmlns:a16="http://schemas.microsoft.com/office/drawing/2014/main" id="{C9D74DED-E8D0-0871-91E1-F2C37076E8AF}"/>
              </a:ext>
            </a:extLst>
          </p:cNvPr>
          <p:cNvSpPr txBox="1"/>
          <p:nvPr/>
        </p:nvSpPr>
        <p:spPr>
          <a:xfrm>
            <a:off x="6295020" y="2828176"/>
            <a:ext cx="525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9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解决方案</a:t>
            </a:r>
            <a:r>
              <a:rPr sz="12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   多 AI 组队 + 一套交接制度</a:t>
            </a:r>
          </a:p>
        </p:txBody>
      </p:sp>
      <p:sp>
        <p:nvSpPr>
          <p:cNvPr id="5" name="TextBox 17">
            <a:extLst>
              <a:ext uri="{FF2B5EF4-FFF2-40B4-BE49-F238E27FC236}">
                <a16:creationId xmlns:a16="http://schemas.microsoft.com/office/drawing/2014/main" id="{9267E6ED-4421-04D2-64AE-F51C9249A297}"/>
              </a:ext>
            </a:extLst>
          </p:cNvPr>
          <p:cNvSpPr txBox="1"/>
          <p:nvPr/>
        </p:nvSpPr>
        <p:spPr>
          <a:xfrm>
            <a:off x="6295020" y="3597650"/>
            <a:ext cx="525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9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实际成效</a:t>
            </a:r>
            <a:r>
              <a:rPr sz="12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   开发节奏从「按周」到「按天」</a:t>
            </a:r>
          </a:p>
        </p:txBody>
      </p:sp>
      <p:sp>
        <p:nvSpPr>
          <p:cNvPr id="6" name="TextBox 96">
            <a:extLst>
              <a:ext uri="{FF2B5EF4-FFF2-40B4-BE49-F238E27FC236}">
                <a16:creationId xmlns:a16="http://schemas.microsoft.com/office/drawing/2014/main" id="{233E715A-38B6-F6D7-3C73-8A089F7C4300}"/>
              </a:ext>
            </a:extLst>
          </p:cNvPr>
          <p:cNvSpPr txBox="1"/>
          <p:nvPr/>
        </p:nvSpPr>
        <p:spPr>
          <a:xfrm>
            <a:off x="5875337" y="4244109"/>
            <a:ext cx="5903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859A8"/>
                </a:solidFill>
                <a:latin typeface="Arial" panose="020B0604020202020204" pitchFamily="34" charset="0"/>
                <a:ea typeface="Microsoft YaHei" panose="020B0503020204020204" pitchFamily="34" charset="-122"/>
              </a:rPr>
              <a:t>5.</a:t>
            </a:r>
            <a:endParaRPr lang="zh-CN" altLang="en-US" sz="2800" b="1" dirty="0">
              <a:solidFill>
                <a:srgbClr val="0859A8"/>
              </a:solidFill>
              <a:latin typeface="Arial" panose="020B0604020202020204" pitchFamily="34" charset="0"/>
              <a:ea typeface="Microsoft YaHei" panose="020B0503020204020204" pitchFamily="34" charset="-122"/>
            </a:endParaRPr>
          </a:p>
        </p:txBody>
      </p:sp>
      <p:sp>
        <p:nvSpPr>
          <p:cNvPr id="8" name="TextBox 17">
            <a:extLst>
              <a:ext uri="{FF2B5EF4-FFF2-40B4-BE49-F238E27FC236}">
                <a16:creationId xmlns:a16="http://schemas.microsoft.com/office/drawing/2014/main" id="{06DAC136-0DFB-CF44-9125-0FD0FB81889A}"/>
              </a:ext>
            </a:extLst>
          </p:cNvPr>
          <p:cNvSpPr txBox="1"/>
          <p:nvPr/>
        </p:nvSpPr>
        <p:spPr>
          <a:xfrm>
            <a:off x="6295020" y="4340192"/>
            <a:ext cx="525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19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未来规划</a:t>
            </a:r>
            <a:r>
              <a:rPr sz="12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   把方法复制到更多运维系统</a:t>
            </a:r>
          </a:p>
        </p:txBody>
      </p:sp>
    </p:spTree>
    <p:extLst>
      <p:ext uri="{BB962C8B-B14F-4D97-AF65-F5344CB8AC3E}">
        <p14:creationId xmlns:p14="http://schemas.microsoft.com/office/powerpoint/2010/main" val="3798193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0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43275" y="108732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应用场景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749808"/>
            <a:ext cx="11064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一个小改动，为什么总要等好几周？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1170432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1097280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公司 GDMS 整合了放行、门禁、物联等各大系统；在上面加一个小功能，也必须走完全流程——时间主要花在「规划 + 排队」上</a:t>
            </a:r>
          </a:p>
        </p:txBody>
      </p:sp>
      <p:sp>
        <p:nvSpPr>
          <p:cNvPr id="29" name="Chevron 28"/>
          <p:cNvSpPr/>
          <p:nvPr/>
        </p:nvSpPr>
        <p:spPr>
          <a:xfrm>
            <a:off x="566928" y="1700784"/>
            <a:ext cx="1956816" cy="841248"/>
          </a:xfrm>
          <a:prstGeom prst="chevron">
            <a:avLst>
              <a:gd name="adj" fmla="val 18000"/>
            </a:avLst>
          </a:prstGeom>
          <a:solidFill>
            <a:srgbClr val="0859A8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1700784"/>
            <a:ext cx="157276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 </a:t>
            </a: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需求规划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7" y="2633472"/>
            <a:ext cx="138988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85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2633472"/>
            <a:ext cx="13898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反复确认</a:t>
            </a:r>
          </a:p>
        </p:txBody>
      </p:sp>
      <p:sp>
        <p:nvSpPr>
          <p:cNvPr id="33" name="Chevron 32"/>
          <p:cNvSpPr/>
          <p:nvPr/>
        </p:nvSpPr>
        <p:spPr>
          <a:xfrm>
            <a:off x="2386584" y="1700784"/>
            <a:ext cx="1956816" cy="841248"/>
          </a:xfrm>
          <a:prstGeom prst="chevron">
            <a:avLst>
              <a:gd name="adj" fmla="val 18000"/>
            </a:avLst>
          </a:prstGeom>
          <a:solidFill>
            <a:srgbClr val="2E76D6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32888" y="1700784"/>
            <a:ext cx="157276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 </a:t>
            </a: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跨部门沟通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60903" y="2633472"/>
            <a:ext cx="138988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60903" y="2633472"/>
            <a:ext cx="13898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6D6"/>
                </a:solidFill>
                <a:latin typeface="Microsoft YaHei"/>
                <a:ea typeface="Microsoft YaHei"/>
                <a:cs typeface="Microsoft YaHei"/>
              </a:rPr>
              <a:t>来回对接</a:t>
            </a:r>
          </a:p>
        </p:txBody>
      </p:sp>
      <p:sp>
        <p:nvSpPr>
          <p:cNvPr id="37" name="Chevron 36"/>
          <p:cNvSpPr/>
          <p:nvPr/>
        </p:nvSpPr>
        <p:spPr>
          <a:xfrm>
            <a:off x="4206240" y="1700784"/>
            <a:ext cx="1956816" cy="841248"/>
          </a:xfrm>
          <a:prstGeom prst="chevron">
            <a:avLst>
              <a:gd name="adj" fmla="val 18000"/>
            </a:avLst>
          </a:prstGeom>
          <a:solidFill>
            <a:srgbClr val="F59E0B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1700784"/>
            <a:ext cx="157276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 </a:t>
            </a: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排队等开发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0559" y="2633472"/>
            <a:ext cx="138988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59" y="2633472"/>
            <a:ext cx="138988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资源紧张</a:t>
            </a:r>
          </a:p>
        </p:txBody>
      </p:sp>
      <p:sp>
        <p:nvSpPr>
          <p:cNvPr id="41" name="Chevron 40"/>
          <p:cNvSpPr/>
          <p:nvPr/>
        </p:nvSpPr>
        <p:spPr>
          <a:xfrm>
            <a:off x="6025896" y="1700784"/>
            <a:ext cx="1956816" cy="841248"/>
          </a:xfrm>
          <a:prstGeom prst="chevron">
            <a:avLst>
              <a:gd name="adj" fmla="val 18000"/>
            </a:avLst>
          </a:prstGeom>
          <a:solidFill>
            <a:srgbClr val="01B0F0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72200" y="1700784"/>
            <a:ext cx="157276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 </a:t>
            </a: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代码开发</a:t>
            </a:r>
          </a:p>
        </p:txBody>
      </p:sp>
      <p:sp>
        <p:nvSpPr>
          <p:cNvPr id="43" name="Chevron 42"/>
          <p:cNvSpPr/>
          <p:nvPr/>
        </p:nvSpPr>
        <p:spPr>
          <a:xfrm>
            <a:off x="7845552" y="1700784"/>
            <a:ext cx="1956816" cy="841248"/>
          </a:xfrm>
          <a:prstGeom prst="chevron">
            <a:avLst>
              <a:gd name="adj" fmla="val 18000"/>
            </a:avLst>
          </a:prstGeom>
          <a:solidFill>
            <a:srgbClr val="0EA5A4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91856" y="1700784"/>
            <a:ext cx="157276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  </a:t>
            </a: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测试验证</a:t>
            </a:r>
          </a:p>
        </p:txBody>
      </p:sp>
      <p:sp>
        <p:nvSpPr>
          <p:cNvPr id="45" name="Chevron 44"/>
          <p:cNvSpPr/>
          <p:nvPr/>
        </p:nvSpPr>
        <p:spPr>
          <a:xfrm>
            <a:off x="9665207" y="1700784"/>
            <a:ext cx="1956816" cy="841248"/>
          </a:xfrm>
          <a:prstGeom prst="chevron">
            <a:avLst>
              <a:gd name="adj" fmla="val 18000"/>
            </a:avLst>
          </a:prstGeom>
          <a:solidFill>
            <a:srgbClr val="1EA85F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11511" y="1700784"/>
            <a:ext cx="157276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  </a:t>
            </a: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正式上线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2633472"/>
            <a:ext cx="3108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瓶颈集中在前三步，真正写代码的时间反而最短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3218688"/>
            <a:ext cx="35661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" y="3401568"/>
            <a:ext cx="64008" cy="1463040"/>
          </a:xfrm>
          <a:prstGeom prst="rect">
            <a:avLst/>
          </a:prstGeom>
          <a:solidFill>
            <a:srgbClr val="08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22960" y="345643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AF2FC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56755" y="3590227"/>
            <a:ext cx="299337" cy="299337"/>
          </a:xfrm>
          <a:prstGeom prst="ellipse">
            <a:avLst/>
          </a:prstGeom>
          <a:noFill/>
          <a:ln w="30480">
            <a:solidFill>
              <a:srgbClr val="085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 flipV="1">
            <a:off x="1106424" y="3651455"/>
            <a:ext cx="0" cy="88441"/>
          </a:xfrm>
          <a:prstGeom prst="line">
            <a:avLst/>
          </a:prstGeom>
          <a:ln w="30480">
            <a:solidFill>
              <a:srgbClr val="0859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106424" y="3739896"/>
            <a:ext cx="68031" cy="44220"/>
          </a:xfrm>
          <a:prstGeom prst="line">
            <a:avLst/>
          </a:prstGeom>
          <a:ln w="30480">
            <a:solidFill>
              <a:srgbClr val="0859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554480" y="3474720"/>
            <a:ext cx="23774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等得久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7" y="4187952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小优化也要走完全部流程，一等就是 2~4 周，节奏以「周」计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15968" y="3218688"/>
            <a:ext cx="35661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15968" y="3401568"/>
            <a:ext cx="64008" cy="1463040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72000" y="345643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1F5F3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862267" y="3624242"/>
            <a:ext cx="102047" cy="102047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4814661" y="3794349"/>
            <a:ext cx="183708" cy="88452"/>
          </a:xfrm>
          <a:custGeom>
            <a:avLst/>
            <a:gdLst/>
            <a:ahLst/>
            <a:cxnLst/>
            <a:rect l="l" t="t" r="r" b="b"/>
            <a:pathLst>
              <a:path w="54" h="26">
                <a:moveTo>
                  <a:pt x="0" y="26"/>
                </a:moveTo>
                <a:lnTo>
                  <a:pt x="5" y="0"/>
                </a:lnTo>
                <a:lnTo>
                  <a:pt x="48" y="0"/>
                </a:lnTo>
                <a:lnTo>
                  <a:pt x="54" y="26"/>
                </a:lnTo>
                <a:close/>
              </a:path>
            </a:pathLst>
          </a:cu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4729605" y="3661659"/>
            <a:ext cx="129259" cy="129259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4698993" y="3801153"/>
            <a:ext cx="204120" cy="102060"/>
          </a:xfrm>
          <a:custGeom>
            <a:avLst/>
            <a:gdLst/>
            <a:ahLst/>
            <a:cxnLst/>
            <a:rect l="l" t="t" r="r" b="b"/>
            <a:pathLst>
              <a:path w="60" h="30">
                <a:moveTo>
                  <a:pt x="0" y="30"/>
                </a:moveTo>
                <a:lnTo>
                  <a:pt x="8" y="0"/>
                </a:lnTo>
                <a:lnTo>
                  <a:pt x="52" y="0"/>
                </a:lnTo>
                <a:lnTo>
                  <a:pt x="60" y="30"/>
                </a:lnTo>
                <a:close/>
              </a:path>
            </a:pathLst>
          </a:cu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03520" y="3474720"/>
            <a:ext cx="23774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排不上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90288" y="4187952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IT 开发资源紧张，运维侧的小需求常常排不上队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65007" y="3218688"/>
            <a:ext cx="356616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065007" y="3401568"/>
            <a:ext cx="64008" cy="1463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321039" y="3456432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FF6DB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448031" y="3597030"/>
            <a:ext cx="312944" cy="210897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304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8522877" y="3801153"/>
            <a:ext cx="68040" cy="81648"/>
          </a:xfrm>
          <a:custGeom>
            <a:avLst/>
            <a:gdLst/>
            <a:ahLst/>
            <a:cxnLst/>
            <a:rect l="l" t="t" r="r" b="b"/>
            <a:pathLst>
              <a:path w="20" h="24">
                <a:moveTo>
                  <a:pt x="0" y="0"/>
                </a:moveTo>
                <a:lnTo>
                  <a:pt x="0" y="24"/>
                </a:lnTo>
                <a:lnTo>
                  <a:pt x="2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F59E0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34771" y="3685470"/>
            <a:ext cx="30614" cy="3061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89196" y="3685470"/>
            <a:ext cx="30614" cy="3061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43622" y="3685470"/>
            <a:ext cx="30614" cy="3061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052559" y="3474720"/>
            <a:ext cx="2377439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沟通累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39327" y="4187952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跨部门反复对接需求，时间和人力都消耗在沟通上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66928" y="5321808"/>
            <a:ext cx="11064240" cy="749808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0B2F66"/>
              </a:gs>
              <a:gs pos="100000">
                <a:srgbClr val="0859A8"/>
              </a:gs>
            </a:gsLst>
            <a:lin ang="0" scaled="1"/>
          </a:gra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41248" y="5513832"/>
            <a:ext cx="365760" cy="365760"/>
          </a:xfrm>
          <a:prstGeom prst="ellipse">
            <a:avLst/>
          </a:prstGeom>
          <a:solidFill>
            <a:srgbClr val="FFC0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1248" y="55138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!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371600" y="5321808"/>
            <a:ext cx="1005840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FFC001"/>
                </a:solidFill>
                <a:latin typeface="Microsoft YaHei"/>
                <a:ea typeface="Microsoft YaHei"/>
                <a:cs typeface="Microsoft YaHei"/>
              </a:rPr>
              <a:t>结果：</a:t>
            </a: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很多有价值的小改进，因为「等不起」，被一再搁置。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56423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4026461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pattFill prst="pct50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5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43275" y="108732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我们的选择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749808"/>
            <a:ext cx="11064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不等排队，给自己造了一个数据看板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1170432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1097280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把放行系统导出的 Excel 拖进浏览器，KPI、图表、异常预警自动生成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1572768"/>
            <a:ext cx="8028431" cy="464515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85216" y="1591056"/>
            <a:ext cx="7991856" cy="420624"/>
          </a:xfrm>
          <a:prstGeom prst="rect">
            <a:avLst/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68096" y="1719072"/>
            <a:ext cx="118872" cy="118872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9264" y="1719072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70432" y="1719072"/>
            <a:ext cx="118872" cy="118872"/>
          </a:xfrm>
          <a:prstGeom prst="ellipse">
            <a:avLst/>
          </a:prstGeom>
          <a:solidFill>
            <a:srgbClr val="1E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15768" y="1655064"/>
            <a:ext cx="3749039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15768" y="1655064"/>
            <a:ext cx="37490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物品放行监控数据看板 · v5.6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59" y="1655064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1EA85F"/>
                </a:solidFill>
                <a:latin typeface="Microsoft YaHei"/>
                <a:ea typeface="Microsoft YaHei"/>
                <a:cs typeface="Microsoft YaHei"/>
              </a:rPr>
              <a:t>100% 本地运行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8" y="2121408"/>
            <a:ext cx="1828800" cy="932688"/>
          </a:xfrm>
          <a:prstGeom prst="roundRect">
            <a:avLst>
              <a:gd name="adj" fmla="val 9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2231136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放行单总数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2450591"/>
            <a:ext cx="155448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1,286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59081" y="2256007"/>
            <a:ext cx="198973" cy="26737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0480">
            <a:solidFill>
              <a:srgbClr val="085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2295878" y="2262226"/>
            <a:ext cx="62180" cy="62180"/>
          </a:xfrm>
          <a:custGeom>
            <a:avLst/>
            <a:gdLst/>
            <a:ahLst/>
            <a:cxnLst/>
            <a:rect l="l" t="t" r="r" b="b"/>
            <a:pathLst>
              <a:path w="20" h="20">
                <a:moveTo>
                  <a:pt x="0" y="0"/>
                </a:moveTo>
                <a:lnTo>
                  <a:pt x="20" y="0"/>
                </a:lnTo>
                <a:lnTo>
                  <a:pt x="20" y="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0859A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2196388" y="2361712"/>
            <a:ext cx="124359" cy="0"/>
          </a:xfrm>
          <a:prstGeom prst="line">
            <a:avLst/>
          </a:prstGeom>
          <a:ln w="24130">
            <a:solidFill>
              <a:srgbClr val="0859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196388" y="2405237"/>
            <a:ext cx="124359" cy="0"/>
          </a:xfrm>
          <a:prstGeom prst="line">
            <a:avLst/>
          </a:prstGeom>
          <a:ln w="24130">
            <a:solidFill>
              <a:srgbClr val="0859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196388" y="2448763"/>
            <a:ext cx="124359" cy="0"/>
          </a:xfrm>
          <a:prstGeom prst="line">
            <a:avLst/>
          </a:prstGeom>
          <a:ln w="24130">
            <a:solidFill>
              <a:srgbClr val="0859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2694736" y="2121408"/>
            <a:ext cx="1828800" cy="932688"/>
          </a:xfrm>
          <a:prstGeom prst="roundRect">
            <a:avLst>
              <a:gd name="adj" fmla="val 9000"/>
            </a:avLst>
          </a:prstGeom>
          <a:solidFill>
            <a:srgbClr val="E3F7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59328" y="2231136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特级安保单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41040" y="2450591"/>
            <a:ext cx="155448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01B0F0"/>
                </a:solidFill>
                <a:latin typeface="Microsoft YaHei"/>
                <a:ea typeface="Microsoft YaHei"/>
                <a:cs typeface="Microsoft YaHei"/>
              </a:rPr>
              <a:t>96</a:t>
            </a:r>
          </a:p>
        </p:txBody>
      </p:sp>
      <p:sp>
        <p:nvSpPr>
          <p:cNvPr id="3" name="Freeform 2"/>
          <p:cNvSpPr/>
          <p:nvPr/>
        </p:nvSpPr>
        <p:spPr>
          <a:xfrm>
            <a:off x="4085356" y="2249790"/>
            <a:ext cx="236284" cy="276701"/>
          </a:xfrm>
          <a:custGeom>
            <a:avLst/>
            <a:gdLst/>
            <a:ahLst/>
            <a:cxnLst/>
            <a:rect l="l" t="t" r="r" b="b"/>
            <a:pathLst>
              <a:path w="76" h="89">
                <a:moveTo>
                  <a:pt x="38" y="0"/>
                </a:moveTo>
                <a:lnTo>
                  <a:pt x="76" y="15"/>
                </a:lnTo>
                <a:lnTo>
                  <a:pt x="76" y="46"/>
                </a:lnTo>
                <a:lnTo>
                  <a:pt x="38" y="89"/>
                </a:lnTo>
                <a:lnTo>
                  <a:pt x="0" y="46"/>
                </a:lnTo>
                <a:lnTo>
                  <a:pt x="0" y="15"/>
                </a:lnTo>
                <a:close/>
              </a:path>
            </a:pathLst>
          </a:custGeom>
          <a:noFill/>
          <a:ln w="30480">
            <a:solidFill>
              <a:srgbClr val="01B0F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4153754" y="2343060"/>
            <a:ext cx="111924" cy="87052"/>
          </a:xfrm>
          <a:custGeom>
            <a:avLst/>
            <a:gdLst/>
            <a:ahLst/>
            <a:cxnLst/>
            <a:rect l="l" t="t" r="r" b="b"/>
            <a:pathLst>
              <a:path w="36" h="28">
                <a:moveTo>
                  <a:pt x="0" y="15"/>
                </a:moveTo>
                <a:lnTo>
                  <a:pt x="12" y="28"/>
                </a:lnTo>
                <a:lnTo>
                  <a:pt x="36" y="0"/>
                </a:lnTo>
              </a:path>
            </a:pathLst>
          </a:custGeom>
          <a:noFill/>
          <a:ln w="30480">
            <a:solidFill>
              <a:srgbClr val="01B0F0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639665" y="2121408"/>
            <a:ext cx="1828800" cy="932688"/>
          </a:xfrm>
          <a:prstGeom prst="roundRect">
            <a:avLst>
              <a:gd name="adj" fmla="val 9000"/>
            </a:avLst>
          </a:prstGeom>
          <a:solidFill>
            <a:srgbClr val="FDE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04257" y="2231136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在途超时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85969" y="2450591"/>
            <a:ext cx="155448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5" name="Freeform 4"/>
          <p:cNvSpPr/>
          <p:nvPr/>
        </p:nvSpPr>
        <p:spPr>
          <a:xfrm>
            <a:off x="6011631" y="2256008"/>
            <a:ext cx="273592" cy="242502"/>
          </a:xfrm>
          <a:custGeom>
            <a:avLst/>
            <a:gdLst/>
            <a:ahLst/>
            <a:cxnLst/>
            <a:rect l="l" t="t" r="r" b="b"/>
            <a:pathLst>
              <a:path w="88" h="78">
                <a:moveTo>
                  <a:pt x="44" y="0"/>
                </a:moveTo>
                <a:lnTo>
                  <a:pt x="88" y="78"/>
                </a:lnTo>
                <a:lnTo>
                  <a:pt x="0" y="78"/>
                </a:lnTo>
                <a:close/>
              </a:path>
            </a:pathLst>
          </a:custGeom>
          <a:solidFill>
            <a:srgbClr val="FFF6DB"/>
          </a:solidFill>
          <a:ln w="30480">
            <a:solidFill>
              <a:srgbClr val="E4572E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" name="Connector 49"/>
          <p:cNvCxnSpPr/>
          <p:nvPr/>
        </p:nvCxnSpPr>
        <p:spPr>
          <a:xfrm>
            <a:off x="6148425" y="2336840"/>
            <a:ext cx="0" cy="74615"/>
          </a:xfrm>
          <a:prstGeom prst="line">
            <a:avLst/>
          </a:prstGeom>
          <a:ln w="35560">
            <a:solidFill>
              <a:srgbClr val="E457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6134435" y="2436327"/>
            <a:ext cx="27980" cy="27980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584594" y="2121408"/>
            <a:ext cx="1828800" cy="932688"/>
          </a:xfrm>
          <a:prstGeom prst="roundRect">
            <a:avLst>
              <a:gd name="adj" fmla="val 9000"/>
            </a:avLst>
          </a:prstGeom>
          <a:solidFill>
            <a:srgbClr val="E5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49186" y="2231136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结案完成率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30898" y="2450591"/>
            <a:ext cx="155448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300" b="1" i="0">
                <a:solidFill>
                  <a:srgbClr val="1EA85F"/>
                </a:solidFill>
                <a:latin typeface="Microsoft YaHei"/>
                <a:ea typeface="Microsoft YaHei"/>
                <a:cs typeface="Microsoft YaHei"/>
              </a:rPr>
              <a:t>98.2%</a:t>
            </a:r>
          </a:p>
        </p:txBody>
      </p:sp>
      <p:sp>
        <p:nvSpPr>
          <p:cNvPr id="55" name="Oval 54"/>
          <p:cNvSpPr/>
          <p:nvPr/>
        </p:nvSpPr>
        <p:spPr>
          <a:xfrm>
            <a:off x="7959669" y="2252898"/>
            <a:ext cx="267370" cy="267370"/>
          </a:xfrm>
          <a:prstGeom prst="ellipse">
            <a:avLst/>
          </a:prstGeom>
          <a:noFill/>
          <a:ln w="30480">
            <a:solidFill>
              <a:srgbClr val="1EA8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8031176" y="2343060"/>
            <a:ext cx="130578" cy="96379"/>
          </a:xfrm>
          <a:custGeom>
            <a:avLst/>
            <a:gdLst/>
            <a:ahLst/>
            <a:cxnLst/>
            <a:rect l="l" t="t" r="r" b="b"/>
            <a:pathLst>
              <a:path w="42" h="31">
                <a:moveTo>
                  <a:pt x="0" y="16"/>
                </a:moveTo>
                <a:lnTo>
                  <a:pt x="15" y="31"/>
                </a:lnTo>
                <a:lnTo>
                  <a:pt x="42" y="0"/>
                </a:lnTo>
              </a:path>
            </a:pathLst>
          </a:custGeom>
          <a:noFill/>
          <a:ln w="30480">
            <a:solidFill>
              <a:srgbClr val="1EA85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49808" y="3218688"/>
            <a:ext cx="3419856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4400" y="3310128"/>
            <a:ext cx="314553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状态分布</a:t>
            </a:r>
          </a:p>
        </p:txBody>
      </p:sp>
      <p:graphicFrame>
        <p:nvGraphicFramePr>
          <p:cNvPr id="58" name="Chart 57"/>
          <p:cNvGraphicFramePr>
            <a:graphicFrameLocks noGrp="1"/>
          </p:cNvGraphicFramePr>
          <p:nvPr/>
        </p:nvGraphicFramePr>
        <p:xfrm>
          <a:off x="704088" y="3511296"/>
          <a:ext cx="1600200" cy="1463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9" name="Oval 58"/>
          <p:cNvSpPr/>
          <p:nvPr/>
        </p:nvSpPr>
        <p:spPr>
          <a:xfrm>
            <a:off x="2377440" y="3767328"/>
            <a:ext cx="146304" cy="146304"/>
          </a:xfrm>
          <a:prstGeom prst="ellipse">
            <a:avLst/>
          </a:prstGeom>
          <a:solidFill>
            <a:srgbClr val="1E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96896" y="372160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正常</a:t>
            </a:r>
            <a:r>
              <a:rPr sz="1000" b="1" i="0">
                <a:solidFill>
                  <a:srgbClr val="1EA85F"/>
                </a:solidFill>
                <a:latin typeface="Microsoft YaHei"/>
                <a:ea typeface="Microsoft YaHei"/>
                <a:cs typeface="Microsoft YaHei"/>
              </a:rPr>
              <a:t>  1,164</a:t>
            </a:r>
          </a:p>
        </p:txBody>
      </p:sp>
      <p:sp>
        <p:nvSpPr>
          <p:cNvPr id="61" name="Oval 60"/>
          <p:cNvSpPr/>
          <p:nvPr/>
        </p:nvSpPr>
        <p:spPr>
          <a:xfrm>
            <a:off x="2377440" y="4151376"/>
            <a:ext cx="146304" cy="146304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96896" y="4105656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超时</a:t>
            </a:r>
            <a:r>
              <a:rPr sz="1000" b="1" i="0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  23</a:t>
            </a:r>
          </a:p>
        </p:txBody>
      </p:sp>
      <p:sp>
        <p:nvSpPr>
          <p:cNvPr id="63" name="Oval 62"/>
          <p:cNvSpPr/>
          <p:nvPr/>
        </p:nvSpPr>
        <p:spPr>
          <a:xfrm>
            <a:off x="2377440" y="4535424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96896" y="4489704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未接收</a:t>
            </a:r>
            <a:r>
              <a:rPr sz="10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  99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315968" y="3218688"/>
            <a:ext cx="4078224" cy="181051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80559" y="3310128"/>
            <a:ext cx="38039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门岗滞留 TOP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559" y="3675887"/>
            <a:ext cx="640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中码头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184648" y="3712463"/>
            <a:ext cx="2468880" cy="164592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184648" y="3712463"/>
            <a:ext cx="2468880" cy="164592"/>
          </a:xfrm>
          <a:prstGeom prst="roundRect">
            <a:avLst>
              <a:gd name="adj" fmla="val 50000"/>
            </a:avLst>
          </a:prstGeom>
          <a:solidFill>
            <a:srgbClr val="08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17536" y="3675887"/>
            <a:ext cx="548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106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80559" y="3995927"/>
            <a:ext cx="640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东门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184648" y="4032503"/>
            <a:ext cx="2468880" cy="164592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184648" y="4032503"/>
            <a:ext cx="1357884" cy="164592"/>
          </a:xfrm>
          <a:prstGeom prst="roundRect">
            <a:avLst>
              <a:gd name="adj" fmla="val 50000"/>
            </a:avLst>
          </a:prstGeom>
          <a:solidFill>
            <a:srgbClr val="2E7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17536" y="3995927"/>
            <a:ext cx="548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2E76D6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80559" y="4315968"/>
            <a:ext cx="640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西门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184648" y="4352544"/>
            <a:ext cx="2468880" cy="164592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184648" y="4352544"/>
            <a:ext cx="987552" cy="164592"/>
          </a:xfrm>
          <a:prstGeom prst="roundRect">
            <a:avLst>
              <a:gd name="adj" fmla="val 50000"/>
            </a:avLst>
          </a:prstGeom>
          <a:solidFill>
            <a:srgbClr val="01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17536" y="4315968"/>
            <a:ext cx="548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01B0F0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480559" y="4636007"/>
            <a:ext cx="64008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南区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184648" y="4672583"/>
            <a:ext cx="2468880" cy="164592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184648" y="4672583"/>
            <a:ext cx="666597" cy="164592"/>
          </a:xfrm>
          <a:prstGeom prst="roundRect">
            <a:avLst>
              <a:gd name="adj" fmla="val 50000"/>
            </a:avLst>
          </a:prstGeom>
          <a:solidFill>
            <a:srgbClr val="97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717536" y="4636007"/>
            <a:ext cx="548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49808" y="5138928"/>
            <a:ext cx="7662672" cy="530352"/>
          </a:xfrm>
          <a:prstGeom prst="roundRect">
            <a:avLst>
              <a:gd name="adj" fmla="val 12000"/>
            </a:avLst>
          </a:prstGeom>
          <a:solidFill>
            <a:srgbClr val="FFF6DB"/>
          </a:solidFill>
          <a:ln w="9525">
            <a:solidFill>
              <a:srgbClr val="F0D9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934152" y="5265848"/>
            <a:ext cx="289696" cy="256776"/>
          </a:xfrm>
          <a:custGeom>
            <a:avLst/>
            <a:gdLst/>
            <a:ahLst/>
            <a:cxnLst/>
            <a:rect l="l" t="t" r="r" b="b"/>
            <a:pathLst>
              <a:path w="88" h="78">
                <a:moveTo>
                  <a:pt x="44" y="0"/>
                </a:moveTo>
                <a:lnTo>
                  <a:pt x="88" y="78"/>
                </a:lnTo>
                <a:lnTo>
                  <a:pt x="0" y="78"/>
                </a:lnTo>
                <a:close/>
              </a:path>
            </a:pathLst>
          </a:custGeom>
          <a:solidFill>
            <a:srgbClr val="FFF6DB"/>
          </a:solidFill>
          <a:ln w="30480">
            <a:solidFill>
              <a:srgbClr val="F59E0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4" name="Connector 83"/>
          <p:cNvCxnSpPr/>
          <p:nvPr/>
        </p:nvCxnSpPr>
        <p:spPr>
          <a:xfrm>
            <a:off x="1078992" y="5351434"/>
            <a:ext cx="0" cy="79004"/>
          </a:xfrm>
          <a:prstGeom prst="line">
            <a:avLst/>
          </a:prstGeom>
          <a:ln w="35560">
            <a:solidFill>
              <a:srgbClr val="F59E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1064178" y="5456773"/>
            <a:ext cx="29626" cy="2962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353312" y="5138928"/>
            <a:ext cx="6949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中码头在途滞留 </a:t>
            </a:r>
            <a:r>
              <a:rPr sz="1050" b="1" i="0">
                <a:solidFill>
                  <a:srgbClr val="E4572E"/>
                </a:solidFill>
                <a:latin typeface="Microsoft YaHei"/>
                <a:ea typeface="Microsoft YaHei"/>
                <a:cs typeface="Microsoft YaHei"/>
              </a:rPr>
              <a:t>106 单</a:t>
            </a:r>
            <a:r>
              <a:rPr sz="1050" b="0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 · 已自动定位超时单据并预警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49808" y="5815584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49808" y="5815584"/>
            <a:ext cx="1783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24 张分析卡片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2670048" y="5815584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70048" y="5815584"/>
            <a:ext cx="1783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9 套界面主题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590288" y="5815584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590288" y="5815584"/>
            <a:ext cx="1783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5 种岗位视图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6510528" y="5815584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510528" y="5815584"/>
            <a:ext cx="17830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单号一键追踪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8759952" y="1572768"/>
            <a:ext cx="2871216" cy="14264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759952" y="1773936"/>
            <a:ext cx="64008" cy="1024128"/>
          </a:xfrm>
          <a:prstGeom prst="rect">
            <a:avLst/>
          </a:prstGeom>
          <a:solidFill>
            <a:srgbClr val="08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8997696" y="1792224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AF2FC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143116" y="1962220"/>
            <a:ext cx="221184" cy="43008"/>
          </a:xfrm>
          <a:custGeom>
            <a:avLst/>
            <a:gdLst/>
            <a:ahLst/>
            <a:cxnLst/>
            <a:rect l="l" t="t" r="r" b="b"/>
            <a:pathLst>
              <a:path w="72" h="14">
                <a:moveTo>
                  <a:pt x="0" y="14"/>
                </a:moveTo>
                <a:lnTo>
                  <a:pt x="16" y="0"/>
                </a:lnTo>
                <a:lnTo>
                  <a:pt x="70" y="0"/>
                </a:lnTo>
                <a:lnTo>
                  <a:pt x="72" y="14"/>
                </a:lnTo>
              </a:path>
            </a:pathLst>
          </a:custGeom>
          <a:noFill/>
          <a:ln w="30480">
            <a:solidFill>
              <a:srgbClr val="0859A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9143122" y="2005242"/>
            <a:ext cx="221211" cy="1536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0480">
            <a:solidFill>
              <a:srgbClr val="085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9143122" y="2048256"/>
            <a:ext cx="221211" cy="0"/>
          </a:xfrm>
          <a:prstGeom prst="line">
            <a:avLst/>
          </a:prstGeom>
          <a:ln w="20320">
            <a:solidFill>
              <a:srgbClr val="0859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9656064" y="1792224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开箱即用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15984" y="2359152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不用装软件、不用配服务器，双击打开就能用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759952" y="3145536"/>
            <a:ext cx="2871216" cy="14264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759952" y="3346704"/>
            <a:ext cx="64008" cy="1024128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8997696" y="3364991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1F5F3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9130832" y="3498128"/>
            <a:ext cx="245790" cy="245790"/>
          </a:xfrm>
          <a:prstGeom prst="ellipse">
            <a:avLst/>
          </a:prstGeom>
          <a:noFill/>
          <a:ln w="5588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9253708" y="3559564"/>
            <a:ext cx="67584" cy="86016"/>
          </a:xfrm>
          <a:custGeom>
            <a:avLst/>
            <a:gdLst/>
            <a:ahLst/>
            <a:cxnLst/>
            <a:rect l="l" t="t" r="r" b="b"/>
            <a:pathLst>
              <a:path w="22" h="28">
                <a:moveTo>
                  <a:pt x="0" y="28"/>
                </a:moveTo>
                <a:lnTo>
                  <a:pt x="22" y="0"/>
                </a:lnTo>
              </a:path>
            </a:pathLst>
          </a:custGeom>
          <a:noFill/>
          <a:ln w="30480">
            <a:solidFill>
              <a:srgbClr val="0EA5A4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9232221" y="3624096"/>
            <a:ext cx="43013" cy="43013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656064" y="3364991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又快又稳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015984" y="393192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10 万行数据轻松分析，再次打开约 2 秒恢复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759952" y="4718304"/>
            <a:ext cx="2871216" cy="14264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759952" y="4919472"/>
            <a:ext cx="64008" cy="10241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8997696" y="4937760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FFF6DB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9195340" y="5080108"/>
            <a:ext cx="116736" cy="107520"/>
          </a:xfrm>
          <a:custGeom>
            <a:avLst/>
            <a:gdLst/>
            <a:ahLst/>
            <a:cxnLst/>
            <a:rect l="l" t="t" r="r" b="b"/>
            <a:pathLst>
              <a:path w="38" h="35">
                <a:moveTo>
                  <a:pt x="0" y="35"/>
                </a:moveTo>
                <a:lnTo>
                  <a:pt x="0" y="22"/>
                </a:lnTo>
                <a:lnTo>
                  <a:pt x="19" y="0"/>
                </a:lnTo>
                <a:lnTo>
                  <a:pt x="38" y="22"/>
                </a:lnTo>
                <a:lnTo>
                  <a:pt x="38" y="35"/>
                </a:lnTo>
              </a:path>
            </a:pathLst>
          </a:custGeom>
          <a:noFill/>
          <a:ln w="30480">
            <a:solidFill>
              <a:srgbClr val="F59E0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9152339" y="5175357"/>
            <a:ext cx="202777" cy="14747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304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9235293" y="5224515"/>
            <a:ext cx="36868" cy="368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245125" y="5249094"/>
            <a:ext cx="17205" cy="43013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56064" y="4937760"/>
            <a:ext cx="1828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数据安全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015984" y="5504688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8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全部在本机浏览器计算，无需联网，数据不出内网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pattFill prst="pct50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5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43275" y="108732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使用的 AI 工具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749808"/>
            <a:ext cx="11064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不是只用一个 AI，而是请了一支「专家队」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1170432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1097280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实战中发现：不同工具各有所长——擅长设计的做设计，擅长写代码的写代码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1645920"/>
            <a:ext cx="2075688" cy="367588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1792224"/>
            <a:ext cx="1819656" cy="841248"/>
          </a:xfrm>
          <a:prstGeom prst="roundRect">
            <a:avLst>
              <a:gd name="adj" fmla="val 12000"/>
            </a:avLst>
          </a:prstGeom>
          <a:solidFill>
            <a:srgbClr val="08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275588" y="1883664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85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75588" y="1883664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2761488"/>
            <a:ext cx="189280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Trae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7" y="3127248"/>
            <a:ext cx="1527048" cy="292608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7" y="3127248"/>
            <a:ext cx="152704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界面与原型设计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3584448"/>
            <a:ext cx="16367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019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审美在线，产出可点击的高保真原型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41247" y="4498848"/>
            <a:ext cx="1527049" cy="0"/>
          </a:xfrm>
          <a:prstGeom prst="line">
            <a:avLst/>
          </a:prstGeom>
          <a:ln w="12700">
            <a:solidFill>
              <a:srgbClr val="E2E8F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31520" y="470001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85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700016"/>
            <a:ext cx="841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高保真原型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645920" y="470001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85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645920" y="4700016"/>
            <a:ext cx="841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交互设计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807208" y="1645920"/>
            <a:ext cx="2075688" cy="367588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935224" y="1792224"/>
            <a:ext cx="1819656" cy="841248"/>
          </a:xfrm>
          <a:prstGeom prst="roundRect">
            <a:avLst>
              <a:gd name="adj" fmla="val 12000"/>
            </a:avLst>
          </a:prstGeom>
          <a:solidFill>
            <a:srgbClr val="2E7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3515868" y="1883664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7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15868" y="1883664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2E76D6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98648" y="2761488"/>
            <a:ext cx="189280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Qoder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81528" y="3127248"/>
            <a:ext cx="1527048" cy="292608"/>
          </a:xfrm>
          <a:prstGeom prst="roundRect">
            <a:avLst>
              <a:gd name="adj" fmla="val 50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81528" y="3127248"/>
            <a:ext cx="152704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E76D6"/>
                </a:solidFill>
                <a:latin typeface="Microsoft YaHei"/>
                <a:ea typeface="Microsoft YaHei"/>
                <a:cs typeface="Microsoft YaHei"/>
              </a:rPr>
              <a:t>视觉风格探索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026664" y="3584448"/>
            <a:ext cx="16367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019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大胆尝试多种界面风格与视觉效果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081528" y="4498848"/>
            <a:ext cx="1527048" cy="0"/>
          </a:xfrm>
          <a:prstGeom prst="line">
            <a:avLst/>
          </a:prstGeom>
          <a:ln w="12700">
            <a:solidFill>
              <a:srgbClr val="E2E8F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971800" y="470001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71800" y="4700016"/>
            <a:ext cx="841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E76D6"/>
                </a:solidFill>
                <a:latin typeface="Microsoft YaHei"/>
                <a:ea typeface="Microsoft YaHei"/>
                <a:cs typeface="Microsoft YaHei"/>
              </a:rPr>
              <a:t>多风格探索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86200" y="470001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E7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886200" y="4700016"/>
            <a:ext cx="841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2E76D6"/>
                </a:solidFill>
                <a:latin typeface="Microsoft YaHei"/>
                <a:ea typeface="Microsoft YaHei"/>
                <a:cs typeface="Microsoft YaHei"/>
              </a:rPr>
              <a:t>视觉系统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47488" y="1645920"/>
            <a:ext cx="2075688" cy="367588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175504" y="1792224"/>
            <a:ext cx="1819656" cy="841248"/>
          </a:xfrm>
          <a:prstGeom prst="roundRect">
            <a:avLst>
              <a:gd name="adj" fmla="val 12000"/>
            </a:avLst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756148" y="1883664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56148" y="1883664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38928" y="2761488"/>
            <a:ext cx="189280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Grok Build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21808" y="3127248"/>
            <a:ext cx="1527048" cy="292608"/>
          </a:xfrm>
          <a:prstGeom prst="roundRect">
            <a:avLst>
              <a:gd name="adj" fmla="val 50000"/>
            </a:avLst>
          </a:prstGeom>
          <a:solidFill>
            <a:srgbClr val="EF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21808" y="3127248"/>
            <a:ext cx="152704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主程序开发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66944" y="3584448"/>
            <a:ext cx="16367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019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按原型与规格实现正式业务功能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321808" y="4498848"/>
            <a:ext cx="1527048" cy="0"/>
          </a:xfrm>
          <a:prstGeom prst="line">
            <a:avLst/>
          </a:prstGeom>
          <a:ln w="12700">
            <a:solidFill>
              <a:srgbClr val="E2E8F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5212080" y="470001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12080" y="4700016"/>
            <a:ext cx="841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业务功能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26480" y="470001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26480" y="4700016"/>
            <a:ext cx="841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正式代码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287768" y="1645920"/>
            <a:ext cx="2075688" cy="367588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415784" y="1792224"/>
            <a:ext cx="1819656" cy="841248"/>
          </a:xfrm>
          <a:prstGeom prst="roundRect">
            <a:avLst>
              <a:gd name="adj" fmla="val 12000"/>
            </a:avLst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996428" y="1883664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996428" y="1883664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EA5A4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379208" y="2761488"/>
            <a:ext cx="189280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DeepSeek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562088" y="3127248"/>
            <a:ext cx="1527048" cy="292608"/>
          </a:xfrm>
          <a:prstGeom prst="roundRect">
            <a:avLst>
              <a:gd name="adj" fmla="val 50000"/>
            </a:avLst>
          </a:prstGeom>
          <a:solidFill>
            <a:srgbClr val="E1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562088" y="3127248"/>
            <a:ext cx="152704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0EA5A4"/>
                </a:solidFill>
                <a:latin typeface="Microsoft YaHei"/>
                <a:ea typeface="Microsoft YaHei"/>
                <a:cs typeface="Microsoft YaHei"/>
              </a:rPr>
              <a:t>校验与测试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07224" y="3584448"/>
            <a:ext cx="16367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019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梳理需求、发现问题、测试验证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7562088" y="4498848"/>
            <a:ext cx="1527048" cy="0"/>
          </a:xfrm>
          <a:prstGeom prst="line">
            <a:avLst/>
          </a:prstGeom>
          <a:ln w="12700">
            <a:solidFill>
              <a:srgbClr val="E2E8F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ounded Rectangle 76"/>
          <p:cNvSpPr/>
          <p:nvPr/>
        </p:nvSpPr>
        <p:spPr>
          <a:xfrm>
            <a:off x="7452360" y="470001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452360" y="4700016"/>
            <a:ext cx="841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EA5A4"/>
                </a:solidFill>
                <a:latin typeface="Microsoft YaHei"/>
                <a:ea typeface="Microsoft YaHei"/>
                <a:cs typeface="Microsoft YaHei"/>
              </a:rPr>
              <a:t>需求梳理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366760" y="470001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366760" y="4700016"/>
            <a:ext cx="841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0EA5A4"/>
                </a:solidFill>
                <a:latin typeface="Microsoft YaHei"/>
                <a:ea typeface="Microsoft YaHei"/>
                <a:cs typeface="Microsoft YaHei"/>
              </a:rPr>
              <a:t>测试验证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528048" y="1645920"/>
            <a:ext cx="2075688" cy="3675887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656064" y="1792224"/>
            <a:ext cx="1819656" cy="84124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236708" y="1883664"/>
            <a:ext cx="658368" cy="65836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236708" y="1883664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W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19488" y="2761488"/>
            <a:ext cx="189280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Workbuddy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802368" y="3127248"/>
            <a:ext cx="1527048" cy="292608"/>
          </a:xfrm>
          <a:prstGeom prst="roundRect">
            <a:avLst>
              <a:gd name="adj" fmla="val 50000"/>
            </a:avLst>
          </a:prstGeom>
          <a:solidFill>
            <a:srgbClr val="FFF6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802368" y="3127248"/>
            <a:ext cx="152704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日常开发协作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747504" y="3584448"/>
            <a:ext cx="163677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1019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代码协助与问题排查的好帮手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9802368" y="4498848"/>
            <a:ext cx="1527047" cy="0"/>
          </a:xfrm>
          <a:prstGeom prst="line">
            <a:avLst/>
          </a:prstGeom>
          <a:ln w="12700">
            <a:solidFill>
              <a:srgbClr val="E2E8F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ounded Rectangle 89"/>
          <p:cNvSpPr/>
          <p:nvPr/>
        </p:nvSpPr>
        <p:spPr>
          <a:xfrm>
            <a:off x="9692640" y="470001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692640" y="4700016"/>
            <a:ext cx="841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代码协助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607040" y="4700016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607040" y="4700016"/>
            <a:ext cx="8412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问题排查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566928" y="5541264"/>
            <a:ext cx="11064240" cy="713232"/>
          </a:xfrm>
          <a:prstGeom prst="roundRect">
            <a:avLst>
              <a:gd name="adj" fmla="val 12000"/>
            </a:avLst>
          </a:prstGeom>
          <a:solidFill>
            <a:srgbClr val="EAF2FC"/>
          </a:solidFill>
          <a:ln w="9525">
            <a:solidFill>
              <a:srgbClr val="CBD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822960" y="5696712"/>
            <a:ext cx="1188720" cy="402336"/>
          </a:xfrm>
          <a:prstGeom prst="roundRect">
            <a:avLst>
              <a:gd name="adj" fmla="val 30000"/>
            </a:avLst>
          </a:prstGeom>
          <a:solidFill>
            <a:srgbClr val="08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22960" y="5696712"/>
            <a:ext cx="11887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关键转变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12848" y="5541264"/>
            <a:ext cx="8412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从「一个 AI 包办」</a:t>
            </a:r>
            <a:r>
              <a:rPr sz="125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  →  </a:t>
            </a:r>
            <a:r>
              <a:rPr sz="125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「多 AI 组队」</a:t>
            </a:r>
            <a:r>
              <a:rPr sz="12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，质量和速度同时提升</a:t>
            </a:r>
          </a:p>
        </p:txBody>
      </p:sp>
      <p:sp>
        <p:nvSpPr>
          <p:cNvPr id="98" name="Chevron 97"/>
          <p:cNvSpPr/>
          <p:nvPr/>
        </p:nvSpPr>
        <p:spPr>
          <a:xfrm>
            <a:off x="10561320" y="5724144"/>
            <a:ext cx="640080" cy="347472"/>
          </a:xfrm>
          <a:prstGeom prst="chevron">
            <a:avLst>
              <a:gd name="adj" fmla="val 30000"/>
            </a:avLst>
          </a:prstGeom>
          <a:solidFill>
            <a:srgbClr val="08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pattFill prst="pct50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5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43275" y="108732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解决方案 · 协作模式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749808"/>
            <a:ext cx="11064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从「单打独斗」到「虚拟团队」协同作战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1170432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1097280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每个 AI 分工明确、按流程交接；人始终掌握「拍板权」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8680" y="2395728"/>
            <a:ext cx="10652760" cy="0"/>
          </a:xfrm>
          <a:prstGeom prst="line">
            <a:avLst/>
          </a:prstGeom>
          <a:ln w="31750">
            <a:solidFill>
              <a:srgbClr val="D2DF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13816" y="1975104"/>
            <a:ext cx="841248" cy="841248"/>
          </a:xfrm>
          <a:prstGeom prst="ellipse">
            <a:avLst/>
          </a:prstGeom>
          <a:solidFill>
            <a:srgbClr val="0859A8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4-Point Star 30"/>
          <p:cNvSpPr/>
          <p:nvPr/>
        </p:nvSpPr>
        <p:spPr>
          <a:xfrm>
            <a:off x="1046805" y="2208093"/>
            <a:ext cx="375269" cy="375269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96265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提想法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3246120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业务人员</a:t>
            </a:r>
          </a:p>
        </p:txBody>
      </p:sp>
      <p:sp>
        <p:nvSpPr>
          <p:cNvPr id="34" name="Oval 33"/>
          <p:cNvSpPr/>
          <p:nvPr/>
        </p:nvSpPr>
        <p:spPr>
          <a:xfrm>
            <a:off x="2798064" y="1975104"/>
            <a:ext cx="841248" cy="841248"/>
          </a:xfrm>
          <a:prstGeom prst="ellipse">
            <a:avLst/>
          </a:prstGeom>
          <a:solidFill>
            <a:srgbClr val="2E76D6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3070560" y="2316732"/>
            <a:ext cx="296280" cy="296280"/>
          </a:xfrm>
          <a:custGeom>
            <a:avLst/>
            <a:gdLst/>
            <a:ahLst/>
            <a:cxnLst/>
            <a:rect l="l" t="t" r="r" b="b"/>
            <a:pathLst>
              <a:path w="60" h="60">
                <a:moveTo>
                  <a:pt x="0" y="46"/>
                </a:moveTo>
                <a:lnTo>
                  <a:pt x="46" y="0"/>
                </a:lnTo>
                <a:lnTo>
                  <a:pt x="60" y="14"/>
                </a:lnTo>
                <a:lnTo>
                  <a:pt x="14" y="60"/>
                </a:lnTo>
                <a:close/>
              </a:path>
            </a:pathLst>
          </a:custGeom>
          <a:solidFill>
            <a:srgbClr val="FFFFFF"/>
          </a:solidFill>
          <a:ln w="30480">
            <a:solidFill>
              <a:srgbClr val="FFFF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011304" y="2543880"/>
            <a:ext cx="108636" cy="88884"/>
          </a:xfrm>
          <a:custGeom>
            <a:avLst/>
            <a:gdLst/>
            <a:ahLst/>
            <a:cxnLst/>
            <a:rect l="l" t="t" r="r" b="b"/>
            <a:pathLst>
              <a:path w="22" h="18">
                <a:moveTo>
                  <a:pt x="0" y="12"/>
                </a:moveTo>
                <a:lnTo>
                  <a:pt x="12" y="0"/>
                </a:lnTo>
                <a:lnTo>
                  <a:pt x="22" y="10"/>
                </a:lnTo>
                <a:lnTo>
                  <a:pt x="10" y="1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3258190" y="2356225"/>
            <a:ext cx="59253" cy="59254"/>
          </a:xfrm>
          <a:prstGeom prst="line">
            <a:avLst/>
          </a:prstGeom>
          <a:ln w="22859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350008" y="296265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出原型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50008" y="3246120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设计 Agent</a:t>
            </a:r>
          </a:p>
        </p:txBody>
      </p:sp>
      <p:sp>
        <p:nvSpPr>
          <p:cNvPr id="38" name="Oval 37"/>
          <p:cNvSpPr/>
          <p:nvPr/>
        </p:nvSpPr>
        <p:spPr>
          <a:xfrm>
            <a:off x="4636008" y="1828800"/>
            <a:ext cx="1133856" cy="1133856"/>
          </a:xfrm>
          <a:prstGeom prst="ellipse">
            <a:avLst/>
          </a:prstGeom>
          <a:solidFill>
            <a:srgbClr val="FFF6DB"/>
          </a:solidFill>
          <a:ln w="25400">
            <a:solidFill>
              <a:srgbClr val="FFC0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736592" y="1929384"/>
            <a:ext cx="932688" cy="932688"/>
          </a:xfrm>
          <a:prstGeom prst="ellipse">
            <a:avLst/>
          </a:prstGeom>
          <a:solidFill>
            <a:srgbClr val="FFC001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5008356" y="2152134"/>
            <a:ext cx="389196" cy="455769"/>
          </a:xfrm>
          <a:custGeom>
            <a:avLst/>
            <a:gdLst/>
            <a:ahLst/>
            <a:cxnLst/>
            <a:rect l="l" t="t" r="r" b="b"/>
            <a:pathLst>
              <a:path w="76" h="89">
                <a:moveTo>
                  <a:pt x="38" y="0"/>
                </a:moveTo>
                <a:lnTo>
                  <a:pt x="76" y="15"/>
                </a:lnTo>
                <a:lnTo>
                  <a:pt x="76" y="46"/>
                </a:lnTo>
                <a:lnTo>
                  <a:pt x="38" y="89"/>
                </a:lnTo>
                <a:lnTo>
                  <a:pt x="0" y="46"/>
                </a:lnTo>
                <a:lnTo>
                  <a:pt x="0" y="1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121018" y="2305764"/>
            <a:ext cx="184356" cy="143388"/>
          </a:xfrm>
          <a:custGeom>
            <a:avLst/>
            <a:gdLst/>
            <a:ahLst/>
            <a:cxnLst/>
            <a:rect l="l" t="t" r="r" b="b"/>
            <a:pathLst>
              <a:path w="36" h="28">
                <a:moveTo>
                  <a:pt x="0" y="15"/>
                </a:moveTo>
                <a:lnTo>
                  <a:pt x="12" y="28"/>
                </a:lnTo>
                <a:lnTo>
                  <a:pt x="36" y="0"/>
                </a:lnTo>
              </a:path>
            </a:pathLst>
          </a:custGeom>
          <a:noFill/>
          <a:ln w="30480">
            <a:solidFill>
              <a:srgbClr val="FFFF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544568" y="3054096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44568" y="3054096"/>
            <a:ext cx="1316736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人 · 审核闸门</a:t>
            </a:r>
          </a:p>
        </p:txBody>
      </p:sp>
      <p:sp>
        <p:nvSpPr>
          <p:cNvPr id="42" name="Oval 41"/>
          <p:cNvSpPr/>
          <p:nvPr/>
        </p:nvSpPr>
        <p:spPr>
          <a:xfrm>
            <a:off x="6766560" y="1975104"/>
            <a:ext cx="841248" cy="841248"/>
          </a:xfrm>
          <a:prstGeom prst="ellipse">
            <a:avLst/>
          </a:prstGeom>
          <a:solidFill>
            <a:srgbClr val="6C5CE7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7009428" y="2257476"/>
            <a:ext cx="138264" cy="276528"/>
          </a:xfrm>
          <a:custGeom>
            <a:avLst/>
            <a:gdLst/>
            <a:ahLst/>
            <a:cxnLst/>
            <a:rect l="l" t="t" r="r" b="b"/>
            <a:pathLst>
              <a:path w="28" h="56">
                <a:moveTo>
                  <a:pt x="28" y="0"/>
                </a:moveTo>
                <a:lnTo>
                  <a:pt x="0" y="28"/>
                </a:lnTo>
                <a:lnTo>
                  <a:pt x="28" y="56"/>
                </a:lnTo>
              </a:path>
            </a:pathLst>
          </a:custGeom>
          <a:noFill/>
          <a:ln w="30480">
            <a:solidFill>
              <a:srgbClr val="FFFF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7226700" y="2257476"/>
            <a:ext cx="138264" cy="276528"/>
          </a:xfrm>
          <a:custGeom>
            <a:avLst/>
            <a:gdLst/>
            <a:ahLst/>
            <a:cxnLst/>
            <a:rect l="l" t="t" r="r" b="b"/>
            <a:pathLst>
              <a:path w="28" h="56">
                <a:moveTo>
                  <a:pt x="0" y="0"/>
                </a:moveTo>
                <a:lnTo>
                  <a:pt x="28" y="28"/>
                </a:lnTo>
                <a:lnTo>
                  <a:pt x="0" y="56"/>
                </a:lnTo>
              </a:path>
            </a:pathLst>
          </a:custGeom>
          <a:noFill/>
          <a:ln w="30480">
            <a:solidFill>
              <a:srgbClr val="FFFF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18504" y="296265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写代码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18504" y="3246120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开发 Agent</a:t>
            </a:r>
          </a:p>
        </p:txBody>
      </p:sp>
      <p:sp>
        <p:nvSpPr>
          <p:cNvPr id="45" name="Oval 44"/>
          <p:cNvSpPr/>
          <p:nvPr/>
        </p:nvSpPr>
        <p:spPr>
          <a:xfrm>
            <a:off x="8750807" y="1975104"/>
            <a:ext cx="841248" cy="841248"/>
          </a:xfrm>
          <a:prstGeom prst="ellipse">
            <a:avLst/>
          </a:prstGeom>
          <a:solidFill>
            <a:srgbClr val="0EA5A4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9052932" y="2287104"/>
            <a:ext cx="256776" cy="212334"/>
          </a:xfrm>
          <a:custGeom>
            <a:avLst/>
            <a:gdLst/>
            <a:ahLst/>
            <a:cxnLst/>
            <a:rect l="l" t="t" r="r" b="b"/>
            <a:pathLst>
              <a:path w="52" h="43">
                <a:moveTo>
                  <a:pt x="0" y="24"/>
                </a:moveTo>
                <a:lnTo>
                  <a:pt x="17" y="43"/>
                </a:lnTo>
                <a:lnTo>
                  <a:pt x="52" y="0"/>
                </a:lnTo>
              </a:path>
            </a:pathLst>
          </a:custGeom>
          <a:noFill/>
          <a:ln w="30480">
            <a:solidFill>
              <a:srgbClr val="FFFFFF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296265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做验收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02752" y="3246120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AI + 人</a:t>
            </a:r>
          </a:p>
        </p:txBody>
      </p:sp>
      <p:sp>
        <p:nvSpPr>
          <p:cNvPr id="48" name="Oval 47"/>
          <p:cNvSpPr/>
          <p:nvPr/>
        </p:nvSpPr>
        <p:spPr>
          <a:xfrm>
            <a:off x="10735055" y="1975104"/>
            <a:ext cx="841248" cy="841248"/>
          </a:xfrm>
          <a:prstGeom prst="ellipse">
            <a:avLst/>
          </a:prstGeom>
          <a:solidFill>
            <a:srgbClr val="0B2F66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1027298" y="2198217"/>
            <a:ext cx="0" cy="395021"/>
          </a:xfrm>
          <a:prstGeom prst="line">
            <a:avLst/>
          </a:prstGeom>
          <a:ln w="381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11027304" y="2213034"/>
            <a:ext cx="276528" cy="187644"/>
          </a:xfrm>
          <a:custGeom>
            <a:avLst/>
            <a:gdLst/>
            <a:ahLst/>
            <a:cxnLst/>
            <a:rect l="l" t="t" r="r" b="b"/>
            <a:pathLst>
              <a:path w="56" h="38">
                <a:moveTo>
                  <a:pt x="0" y="0"/>
                </a:moveTo>
                <a:lnTo>
                  <a:pt x="56" y="0"/>
                </a:lnTo>
                <a:lnTo>
                  <a:pt x="39" y="19"/>
                </a:lnTo>
                <a:lnTo>
                  <a:pt x="56" y="38"/>
                </a:lnTo>
                <a:lnTo>
                  <a:pt x="0" y="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87000" y="296265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严把关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246120"/>
            <a:ext cx="1737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人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655064" y="1828800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655064" y="1828800"/>
            <a:ext cx="11338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原型 · 交接单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32704" y="1828800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32704" y="1828800"/>
            <a:ext cx="1133856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批准后开工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6928" y="3767328"/>
            <a:ext cx="5477256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6928" y="3931920"/>
            <a:ext cx="73152" cy="95097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41247" y="404164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6DB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reeform 9"/>
          <p:cNvSpPr/>
          <p:nvPr/>
        </p:nvSpPr>
        <p:spPr>
          <a:xfrm>
            <a:off x="990480" y="4171128"/>
            <a:ext cx="250192" cy="292988"/>
          </a:xfrm>
          <a:custGeom>
            <a:avLst/>
            <a:gdLst/>
            <a:ahLst/>
            <a:cxnLst/>
            <a:rect l="l" t="t" r="r" b="b"/>
            <a:pathLst>
              <a:path w="76" h="89">
                <a:moveTo>
                  <a:pt x="38" y="0"/>
                </a:moveTo>
                <a:lnTo>
                  <a:pt x="76" y="15"/>
                </a:lnTo>
                <a:lnTo>
                  <a:pt x="76" y="46"/>
                </a:lnTo>
                <a:lnTo>
                  <a:pt x="38" y="89"/>
                </a:lnTo>
                <a:lnTo>
                  <a:pt x="0" y="46"/>
                </a:lnTo>
                <a:lnTo>
                  <a:pt x="0" y="15"/>
                </a:lnTo>
                <a:close/>
              </a:path>
            </a:pathLst>
          </a:custGeom>
          <a:noFill/>
          <a:ln w="30480">
            <a:solidFill>
              <a:srgbClr val="F59E0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062904" y="4269888"/>
            <a:ext cx="118512" cy="92176"/>
          </a:xfrm>
          <a:custGeom>
            <a:avLst/>
            <a:gdLst/>
            <a:ahLst/>
            <a:cxnLst/>
            <a:rect l="l" t="t" r="r" b="b"/>
            <a:pathLst>
              <a:path w="36" h="28">
                <a:moveTo>
                  <a:pt x="0" y="15"/>
                </a:moveTo>
                <a:lnTo>
                  <a:pt x="12" y="28"/>
                </a:lnTo>
                <a:lnTo>
                  <a:pt x="36" y="0"/>
                </a:lnTo>
              </a:path>
            </a:pathLst>
          </a:custGeom>
          <a:noFill/>
          <a:ln w="30480">
            <a:solidFill>
              <a:srgbClr val="F59E0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572768" y="3986784"/>
            <a:ext cx="42885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人掌握「拍板权」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572768" y="4352544"/>
            <a:ext cx="41970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19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设计原型经人工审核批准后，开发 AI 才能动正式代码，质量可控、方向不跑偏。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53912" y="3767328"/>
            <a:ext cx="5477256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53912" y="3931920"/>
            <a:ext cx="73152" cy="950976"/>
          </a:xfrm>
          <a:prstGeom prst="rect">
            <a:avLst/>
          </a:prstGeom>
          <a:solidFill>
            <a:srgbClr val="08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28232" y="404164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AF2FC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6630131" y="4260006"/>
            <a:ext cx="0" cy="121798"/>
          </a:xfrm>
          <a:prstGeom prst="line">
            <a:avLst/>
          </a:prstGeom>
          <a:ln w="30480">
            <a:solidFill>
              <a:srgbClr val="0859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Freeform 11"/>
          <p:cNvSpPr/>
          <p:nvPr/>
        </p:nvSpPr>
        <p:spPr>
          <a:xfrm>
            <a:off x="6630136" y="4276472"/>
            <a:ext cx="151432" cy="39504"/>
          </a:xfrm>
          <a:custGeom>
            <a:avLst/>
            <a:gdLst/>
            <a:ahLst/>
            <a:cxnLst/>
            <a:rect l="l" t="t" r="r" b="b"/>
            <a:pathLst>
              <a:path w="46" h="12">
                <a:moveTo>
                  <a:pt x="0" y="4"/>
                </a:moveTo>
                <a:lnTo>
                  <a:pt x="0" y="12"/>
                </a:lnTo>
                <a:lnTo>
                  <a:pt x="46" y="12"/>
                </a:lnTo>
                <a:lnTo>
                  <a:pt x="46" y="0"/>
                </a:lnTo>
              </a:path>
            </a:pathLst>
          </a:custGeom>
          <a:noFill/>
          <a:ln w="30480">
            <a:solidFill>
              <a:srgbClr val="0859A8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600504" y="4200753"/>
            <a:ext cx="59253" cy="59253"/>
          </a:xfrm>
          <a:prstGeom prst="ellipse">
            <a:avLst/>
          </a:prstGeom>
          <a:solidFill>
            <a:srgbClr val="FFFFFF"/>
          </a:solidFill>
          <a:ln w="22859">
            <a:solidFill>
              <a:srgbClr val="085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00504" y="4385096"/>
            <a:ext cx="59253" cy="59253"/>
          </a:xfrm>
          <a:prstGeom prst="ellipse">
            <a:avLst/>
          </a:prstGeom>
          <a:solidFill>
            <a:srgbClr val="FFFFFF"/>
          </a:solidFill>
          <a:ln w="22859">
            <a:solidFill>
              <a:srgbClr val="085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51929" y="4286341"/>
            <a:ext cx="59253" cy="59253"/>
          </a:xfrm>
          <a:prstGeom prst="ellipse">
            <a:avLst/>
          </a:prstGeom>
          <a:solidFill>
            <a:srgbClr val="FFFFFF"/>
          </a:solidFill>
          <a:ln w="22859">
            <a:solidFill>
              <a:srgbClr val="085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59752" y="3986784"/>
            <a:ext cx="428853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代码统一放 Git 仓库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59752" y="4352544"/>
            <a:ext cx="41970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019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多个 AI 共用同一份代码、随时接手，解决了「各有各的工作空间、同步麻烦」。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66928" y="5285232"/>
            <a:ext cx="11064240" cy="786384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0B2F66"/>
              </a:gs>
              <a:gs pos="100000">
                <a:srgbClr val="123E7E"/>
              </a:gs>
            </a:gsLst>
            <a:lin ang="0" scaled="1"/>
          </a:gra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285232"/>
            <a:ext cx="1042416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人负责判断与拍板，AI 负责设计与实现</a:t>
            </a:r>
            <a:r>
              <a:rPr sz="1200" b="0" i="0">
                <a:solidFill>
                  <a:srgbClr val="C2D6F4"/>
                </a:solidFill>
                <a:latin typeface="Microsoft YaHei"/>
                <a:ea typeface="Microsoft YaHei"/>
                <a:cs typeface="Microsoft YaHei"/>
              </a:rPr>
              <a:t>——各干各最擅长的事。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pattFill prst="pct50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5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43275" y="108732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解决方案 · 关键一招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749808"/>
            <a:ext cx="11064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给 AI 建立「交接班制度」，新助手几分钟上手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1170432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1097280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过去每换一个 AI 就要重讲一遍项目；现在六份文档把项目讲得明明白白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66928" y="1664208"/>
          <a:ext cx="7543800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27632"/>
                <a:gridCol w="1417320"/>
                <a:gridCol w="4498848"/>
              </a:tblGrid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</a:t>
                      </a:r>
                    </a:p>
                  </a:txBody>
                  <a:tcPr anchor="ctr" marL="146304">
                    <a:solidFill>
                      <a:srgbClr val="085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它像什么</a:t>
                      </a:r>
                    </a:p>
                  </a:txBody>
                  <a:tcPr anchor="ctr" marL="146304">
                    <a:solidFill>
                      <a:srgbClr val="0859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解决什么问题</a:t>
                      </a:r>
                    </a:p>
                  </a:txBody>
                  <a:tcPr anchor="ctr" marL="146304">
                    <a:solidFill>
                      <a:srgbClr val="0859A8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0859A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README</a:t>
                      </a:r>
                    </a:p>
                  </a:txBody>
                  <a:tcPr anchor="ctr" marL="21945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项目门牌</a:t>
                      </a:r>
                    </a:p>
                  </a:txBody>
                  <a:tcPr anchor="ctr" marL="1463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5C6B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当前版本与使用方式，一眼知道「这是什么」</a:t>
                      </a:r>
                    </a:p>
                  </a:txBody>
                  <a:tcPr anchor="ctr" marL="146304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2E76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CONTEXT</a:t>
                      </a:r>
                    </a:p>
                  </a:txBody>
                  <a:tcPr anchor="ctr" marL="219456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业务口径</a:t>
                      </a:r>
                    </a:p>
                  </a:txBody>
                  <a:tcPr anchor="ctr" marL="146304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5C6B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每个数字怎么算，规则统一、绝不跑偏</a:t>
                      </a:r>
                    </a:p>
                  </a:txBody>
                  <a:tcPr anchor="ctr" marL="146304">
                    <a:solidFill>
                      <a:srgbClr val="F4F8F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6C5CE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ARCHITECTURE</a:t>
                      </a:r>
                    </a:p>
                  </a:txBody>
                  <a:tcPr anchor="ctr" marL="21945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技术地图</a:t>
                      </a:r>
                    </a:p>
                  </a:txBody>
                  <a:tcPr anchor="ctr" marL="1463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5C6B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代码如何组织，新功能从哪里加、怎么扩展</a:t>
                      </a:r>
                    </a:p>
                  </a:txBody>
                  <a:tcPr anchor="ctr" marL="146304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0EA5A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CHANGELOG</a:t>
                      </a:r>
                    </a:p>
                  </a:txBody>
                  <a:tcPr anchor="ctr" marL="219456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施工日志</a:t>
                      </a:r>
                    </a:p>
                  </a:txBody>
                  <a:tcPr anchor="ctr" marL="146304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5C6B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今天改了什么、明天从哪里接着做</a:t>
                      </a:r>
                    </a:p>
                  </a:txBody>
                  <a:tcPr anchor="ctr" marL="146304">
                    <a:solidFill>
                      <a:srgbClr val="F4F8F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F59E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DECISIONS</a:t>
                      </a:r>
                    </a:p>
                  </a:txBody>
                  <a:tcPr anchor="ctr" marL="21945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决策档案</a:t>
                      </a:r>
                    </a:p>
                  </a:txBody>
                  <a:tcPr anchor="ctr" marL="1463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5C6B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 项关键决策与踩坑记录，同一个坑不踩第二次</a:t>
                      </a:r>
                    </a:p>
                  </a:txBody>
                  <a:tcPr anchor="ctr" marL="146304"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EA85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AGENT</a:t>
                      </a:r>
                    </a:p>
                  </a:txBody>
                  <a:tcPr anchor="ctr" marL="219456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i="0">
                          <a:solidFill>
                            <a:srgbClr val="1B2A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分工纪律</a:t>
                      </a:r>
                    </a:p>
                  </a:txBody>
                  <a:tcPr anchor="ctr" marL="146304"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 i="0">
                          <a:solidFill>
                            <a:srgbClr val="5C6B8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每个 AI 能改什么、提交前必须检查什么</a:t>
                      </a:r>
                    </a:p>
                  </a:txBody>
                  <a:tcPr anchor="ctr" marL="146304">
                    <a:solidFill>
                      <a:srgbClr val="F4F8FE"/>
                    </a:solidFill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8275320" y="1664208"/>
            <a:ext cx="3355848" cy="4206240"/>
          </a:xfrm>
          <a:prstGeom prst="roundRect">
            <a:avLst>
              <a:gd name="adj" fmla="val 6000"/>
            </a:avLst>
          </a:prstGeom>
          <a:solidFill>
            <a:srgbClr val="FFF6DB"/>
          </a:solidFill>
          <a:ln w="9525">
            <a:solidFill>
              <a:srgbClr val="EFD48E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549640" y="1938528"/>
            <a:ext cx="914400" cy="566928"/>
          </a:xfrm>
          <a:prstGeom prst="roundRect">
            <a:avLst>
              <a:gd name="adj" fmla="val 16000"/>
            </a:avLst>
          </a:prstGeom>
          <a:solidFill>
            <a:srgbClr val="FFC0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1938528"/>
            <a:ext cx="9144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B2F66"/>
                </a:solidFill>
                <a:latin typeface="Microsoft YaHei"/>
                <a:ea typeface="Microsoft YaHei"/>
                <a:cs typeface="Microsoft YaHei"/>
              </a:rPr>
              <a:t>交接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19385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HANDOFF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1945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人批准后才动工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9640" y="2761488"/>
            <a:ext cx="280720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设计 AI </a:t>
            </a:r>
            <a:r>
              <a:rPr sz="1100" b="0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写清「怎么做、数字从哪来」，</a:t>
            </a:r>
          </a:p>
          <a:p>
            <a:pPr algn="l">
              <a:lnSpc>
                <a:spcPct val="135000"/>
              </a:lnSpc>
              <a:spcAft>
                <a:spcPts val="800"/>
              </a:spcAft>
            </a:pPr>
            <a:r>
              <a:rPr sz="1100" b="0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人批准后，开发 AI 才动工。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549640" y="4178808"/>
            <a:ext cx="2807208" cy="0"/>
          </a:xfrm>
          <a:prstGeom prst="line">
            <a:avLst/>
          </a:prstGeom>
          <a:ln w="15240">
            <a:solidFill>
              <a:srgbClr val="E8CF86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549640" y="4361688"/>
            <a:ext cx="28072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带来什么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4681728"/>
            <a:ext cx="28072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新 AI 读文档即可开工，不用人从头描述；过去的经验不会流失。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pattFill prst="pct50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5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43275" y="108732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解决方案 · 开发方式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749808"/>
            <a:ext cx="11064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全程只靠「说话」，没手写一行代码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1170432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1097280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从想法到上线的五个环节，全部通过自然语言对话完成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1627632"/>
            <a:ext cx="6967728" cy="3822191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6656" y="1737360"/>
            <a:ext cx="6748272" cy="420624"/>
          </a:xfrm>
          <a:prstGeom prst="roundRect">
            <a:avLst>
              <a:gd name="adj" fmla="val 18000"/>
            </a:avLst>
          </a:prstGeom>
          <a:gradFill>
            <a:gsLst>
              <a:gs pos="0">
                <a:srgbClr val="0B2F66"/>
              </a:gs>
              <a:gs pos="100000">
                <a:srgbClr val="0859A8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41247" y="1856232"/>
            <a:ext cx="182880" cy="182880"/>
          </a:xfrm>
          <a:prstGeom prst="ellipse">
            <a:avLst/>
          </a:prstGeom>
          <a:solidFill>
            <a:srgbClr val="1E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1737360"/>
            <a:ext cx="36576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与 AI 看板助手对话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54496" y="1737360"/>
            <a:ext cx="10515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BFD6F6"/>
                </a:solidFill>
                <a:latin typeface="Microsoft YaHei"/>
                <a:ea typeface="Microsoft YaHei"/>
                <a:cs typeface="Microsoft YaHei"/>
              </a:rPr>
              <a:t>在线 · 本地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01568" y="2212848"/>
            <a:ext cx="3931920" cy="566928"/>
          </a:xfrm>
          <a:prstGeom prst="roundRect">
            <a:avLst>
              <a:gd name="adj" fmla="val 16000"/>
            </a:avLst>
          </a:prstGeom>
          <a:solidFill>
            <a:srgbClr val="08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84448" y="2212848"/>
            <a:ext cx="358444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帮我看看哪些单超时了，按部门排个序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" y="2889504"/>
            <a:ext cx="5943600" cy="932688"/>
          </a:xfrm>
          <a:prstGeom prst="roundRect">
            <a:avLst>
              <a:gd name="adj" fmla="val 16000"/>
            </a:avLst>
          </a:prstGeom>
          <a:solidFill>
            <a:srgbClr val="F6F9FD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" y="2962656"/>
            <a:ext cx="47548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已生成「超时 By 部门」图表，超时最多的 3 个部门已自动标出。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51576" y="3456431"/>
            <a:ext cx="182880" cy="256032"/>
          </a:xfrm>
          <a:prstGeom prst="roundRect">
            <a:avLst>
              <a:gd name="adj" fmla="val 40000"/>
            </a:avLst>
          </a:prstGeom>
          <a:solidFill>
            <a:srgbClr val="2E7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007608" y="3255263"/>
            <a:ext cx="182880" cy="457200"/>
          </a:xfrm>
          <a:prstGeom prst="roundRect">
            <a:avLst>
              <a:gd name="adj" fmla="val 40000"/>
            </a:avLst>
          </a:prstGeom>
          <a:solidFill>
            <a:srgbClr val="08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63640" y="3072383"/>
            <a:ext cx="182880" cy="640080"/>
          </a:xfrm>
          <a:prstGeom prst="roundRect">
            <a:avLst>
              <a:gd name="adj" fmla="val 40000"/>
            </a:avLst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852928" y="3931920"/>
            <a:ext cx="4480560" cy="548640"/>
          </a:xfrm>
          <a:prstGeom prst="roundRect">
            <a:avLst>
              <a:gd name="adj" fmla="val 16000"/>
            </a:avLst>
          </a:prstGeom>
          <a:solidFill>
            <a:srgbClr val="08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35808" y="3931920"/>
            <a:ext cx="413308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再加个单号查询：输入单号，能看到它的全流程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8096" y="4590288"/>
            <a:ext cx="6309360" cy="713232"/>
          </a:xfrm>
          <a:prstGeom prst="roundRect">
            <a:avLst>
              <a:gd name="adj" fmla="val 16000"/>
            </a:avLst>
          </a:prstGeom>
          <a:solidFill>
            <a:srgbClr val="F6F9FD"/>
          </a:solidFill>
          <a:ln w="9525">
            <a:solidFill>
              <a:srgbClr val="D8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0976" y="4590288"/>
            <a:ext cx="5961888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新功能已加好：Ctrl+K 直达，申请 → 放行 → 接收全链路。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99248" y="1627632"/>
            <a:ext cx="393192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918704" y="1883664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AF2FC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134136" y="2037868"/>
            <a:ext cx="136062" cy="136062"/>
          </a:xfrm>
          <a:prstGeom prst="ellipse">
            <a:avLst/>
          </a:prstGeom>
          <a:solidFill>
            <a:srgbClr val="08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8086521" y="2207973"/>
            <a:ext cx="231336" cy="115668"/>
          </a:xfrm>
          <a:custGeom>
            <a:avLst/>
            <a:gdLst/>
            <a:ahLst/>
            <a:cxnLst/>
            <a:rect l="l" t="t" r="r" b="b"/>
            <a:pathLst>
              <a:path w="68" h="34">
                <a:moveTo>
                  <a:pt x="0" y="34"/>
                </a:moveTo>
                <a:lnTo>
                  <a:pt x="7" y="0"/>
                </a:lnTo>
                <a:lnTo>
                  <a:pt x="61" y="0"/>
                </a:lnTo>
                <a:lnTo>
                  <a:pt x="68" y="34"/>
                </a:lnTo>
                <a:close/>
              </a:path>
            </a:pathLst>
          </a:custGeom>
          <a:solidFill>
            <a:srgbClr val="08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59368" y="1810512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零门槛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59368" y="2176272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不会编程也能开发，会描述需求就行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699248" y="2935224"/>
            <a:ext cx="393192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7918704" y="3191256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FFF6DB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8100129" y="3311445"/>
            <a:ext cx="210924" cy="326592"/>
          </a:xfrm>
          <a:custGeom>
            <a:avLst/>
            <a:gdLst/>
            <a:ahLst/>
            <a:cxnLst/>
            <a:rect l="l" t="t" r="r" b="b"/>
            <a:pathLst>
              <a:path w="62" h="96">
                <a:moveTo>
                  <a:pt x="40" y="0"/>
                </a:moveTo>
                <a:lnTo>
                  <a:pt x="0" y="53"/>
                </a:lnTo>
                <a:lnTo>
                  <a:pt x="25" y="53"/>
                </a:lnTo>
                <a:lnTo>
                  <a:pt x="16" y="96"/>
                </a:lnTo>
                <a:lnTo>
                  <a:pt x="62" y="38"/>
                </a:lnTo>
                <a:lnTo>
                  <a:pt x="36" y="38"/>
                </a:lnTo>
                <a:close/>
              </a:path>
            </a:pathLst>
          </a:cu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59368" y="3118104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快迭代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59368" y="3483864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当天提、当天改，小功能小时级见效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699248" y="4242816"/>
            <a:ext cx="3931920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918704" y="4498848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E1F5F3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8137551" y="4656459"/>
            <a:ext cx="129276" cy="119070"/>
          </a:xfrm>
          <a:custGeom>
            <a:avLst/>
            <a:gdLst/>
            <a:ahLst/>
            <a:cxnLst/>
            <a:rect l="l" t="t" r="r" b="b"/>
            <a:pathLst>
              <a:path w="38" h="35">
                <a:moveTo>
                  <a:pt x="0" y="35"/>
                </a:moveTo>
                <a:lnTo>
                  <a:pt x="0" y="22"/>
                </a:lnTo>
                <a:lnTo>
                  <a:pt x="19" y="0"/>
                </a:lnTo>
                <a:lnTo>
                  <a:pt x="38" y="22"/>
                </a:lnTo>
                <a:lnTo>
                  <a:pt x="38" y="35"/>
                </a:lnTo>
              </a:path>
            </a:pathLst>
          </a:custGeom>
          <a:noFill/>
          <a:ln w="30480">
            <a:solidFill>
              <a:srgbClr val="0EA5A4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089916" y="4761902"/>
            <a:ext cx="224503" cy="163275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30480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181758" y="4816327"/>
            <a:ext cx="40818" cy="40818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192643" y="4843540"/>
            <a:ext cx="19048" cy="47621"/>
          </a:xfrm>
          <a:prstGeom prst="rect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59368" y="4425696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EA5A4"/>
                </a:solidFill>
                <a:latin typeface="Microsoft YaHei"/>
                <a:ea typeface="Microsoft YaHei"/>
                <a:cs typeface="Microsoft YaHei"/>
              </a:rPr>
              <a:t>够安全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59368" y="4791455"/>
            <a:ext cx="2788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离线运行、数据不出内网，符合保密要求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5596128"/>
            <a:ext cx="11064240" cy="749808"/>
          </a:xfrm>
          <a:prstGeom prst="roundRect">
            <a:avLst>
              <a:gd name="adj" fmla="val 10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51560" y="5779008"/>
            <a:ext cx="384048" cy="384048"/>
          </a:xfrm>
          <a:prstGeom prst="ellipse">
            <a:avLst/>
          </a:prstGeom>
          <a:solidFill>
            <a:srgbClr val="0859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51560" y="5779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08760" y="5596128"/>
            <a:ext cx="1097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提想法</a:t>
            </a:r>
          </a:p>
        </p:txBody>
      </p:sp>
      <p:sp>
        <p:nvSpPr>
          <p:cNvPr id="65" name="Chevron 64"/>
          <p:cNvSpPr/>
          <p:nvPr/>
        </p:nvSpPr>
        <p:spPr>
          <a:xfrm>
            <a:off x="2221991" y="5861304"/>
            <a:ext cx="310896" cy="219456"/>
          </a:xfrm>
          <a:prstGeom prst="chevron">
            <a:avLst>
              <a:gd name="adj" fmla="val 40000"/>
            </a:avLst>
          </a:prstGeom>
          <a:solidFill>
            <a:srgbClr val="97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743200" y="5779008"/>
            <a:ext cx="384048" cy="384048"/>
          </a:xfrm>
          <a:prstGeom prst="ellipse">
            <a:avLst/>
          </a:prstGeom>
          <a:solidFill>
            <a:srgbClr val="2E7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0" y="5779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0" y="5596128"/>
            <a:ext cx="1097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规划</a:t>
            </a:r>
          </a:p>
        </p:txBody>
      </p:sp>
      <p:sp>
        <p:nvSpPr>
          <p:cNvPr id="69" name="Chevron 68"/>
          <p:cNvSpPr/>
          <p:nvPr/>
        </p:nvSpPr>
        <p:spPr>
          <a:xfrm>
            <a:off x="3913632" y="5861304"/>
            <a:ext cx="310896" cy="219456"/>
          </a:xfrm>
          <a:prstGeom prst="chevron">
            <a:avLst>
              <a:gd name="adj" fmla="val 40000"/>
            </a:avLst>
          </a:prstGeom>
          <a:solidFill>
            <a:srgbClr val="97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434840" y="5779008"/>
            <a:ext cx="384048" cy="384048"/>
          </a:xfrm>
          <a:prstGeom prst="ellipse">
            <a:avLst/>
          </a:prstGeom>
          <a:solidFill>
            <a:srgbClr val="01B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434840" y="5779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92040" y="5596128"/>
            <a:ext cx="1097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原型</a:t>
            </a:r>
          </a:p>
        </p:txBody>
      </p:sp>
      <p:sp>
        <p:nvSpPr>
          <p:cNvPr id="73" name="Chevron 72"/>
          <p:cNvSpPr/>
          <p:nvPr/>
        </p:nvSpPr>
        <p:spPr>
          <a:xfrm>
            <a:off x="5605272" y="5861304"/>
            <a:ext cx="310896" cy="219456"/>
          </a:xfrm>
          <a:prstGeom prst="chevron">
            <a:avLst>
              <a:gd name="adj" fmla="val 40000"/>
            </a:avLst>
          </a:prstGeom>
          <a:solidFill>
            <a:srgbClr val="97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6126480" y="5779008"/>
            <a:ext cx="384048" cy="384048"/>
          </a:xfrm>
          <a:prstGeom prst="ellipse">
            <a:avLst/>
          </a:prstGeom>
          <a:solidFill>
            <a:srgbClr val="0EA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126480" y="5779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5596128"/>
            <a:ext cx="1097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构建</a:t>
            </a:r>
          </a:p>
        </p:txBody>
      </p:sp>
      <p:sp>
        <p:nvSpPr>
          <p:cNvPr id="77" name="Chevron 76"/>
          <p:cNvSpPr/>
          <p:nvPr/>
        </p:nvSpPr>
        <p:spPr>
          <a:xfrm>
            <a:off x="7296912" y="5861304"/>
            <a:ext cx="310896" cy="219456"/>
          </a:xfrm>
          <a:prstGeom prst="chevron">
            <a:avLst>
              <a:gd name="adj" fmla="val 40000"/>
            </a:avLst>
          </a:prstGeom>
          <a:solidFill>
            <a:srgbClr val="97A2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818120" y="5779008"/>
            <a:ext cx="384048" cy="384048"/>
          </a:xfrm>
          <a:prstGeom prst="ellipse">
            <a:avLst/>
          </a:prstGeom>
          <a:solidFill>
            <a:srgbClr val="1EA8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818120" y="57790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75320" y="5596128"/>
            <a:ext cx="109728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测试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69680" y="5596128"/>
            <a:ext cx="256032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全程对话完成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pattFill prst="pct50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25" name="文本框 24">
            <a:extLst>
              <a:ext uri="{FF2B5EF4-FFF2-40B4-BE49-F238E27FC236}">
                <a16:creationId xmlns:a16="http://schemas.microsoft.com/office/drawing/2014/main" id="{F1B02A6F-D3FA-88C9-53DB-50390691ED5C}"/>
              </a:ext>
            </a:extLst>
          </p:cNvPr>
          <p:cNvSpPr txBox="1"/>
          <p:nvPr/>
        </p:nvSpPr>
        <p:spPr>
          <a:xfrm>
            <a:off x="743275" y="108732"/>
            <a:ext cx="15183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6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实际成效与未来规划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749808"/>
            <a:ext cx="11064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开发节奏：从「按周等」变成「按天交」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1170432"/>
            <a:ext cx="310896" cy="50292"/>
          </a:xfrm>
          <a:prstGeom prst="roundRect">
            <a:avLst>
              <a:gd name="adj" fmla="val 50000"/>
            </a:avLst>
          </a:prstGeom>
          <a:solidFill>
            <a:srgbClr val="FFC0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1097280"/>
            <a:ext cx="10607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更大的价值：把宝贵的 IT 开发资源，释放给更核心的系统建设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1572768"/>
            <a:ext cx="5440680" cy="3493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1737360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B2A41"/>
                </a:solidFill>
                <a:latin typeface="Microsoft YaHei"/>
                <a:ea typeface="Microsoft YaHei"/>
                <a:cs typeface="Microsoft YaHei"/>
              </a:rPr>
              <a:t>小功能平均上线周期（天 · 经验估算）</a:t>
            </a:r>
          </a:p>
        </p:txBody>
      </p:sp>
      <p:graphicFrame>
        <p:nvGraphicFramePr>
          <p:cNvPr id="31" name="Chart 30"/>
          <p:cNvGraphicFramePr>
            <a:graphicFrameLocks noGrp="1"/>
          </p:cNvGraphicFramePr>
          <p:nvPr/>
        </p:nvGraphicFramePr>
        <p:xfrm>
          <a:off x="704088" y="2075688"/>
          <a:ext cx="5166360" cy="253288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822960" y="4718304"/>
            <a:ext cx="4983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注：传统流程约 2~4 周；本项目小功能以小时~天计，数据为实际经验估算。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0488" y="1572768"/>
            <a:ext cx="2615184" cy="1627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9944" y="1792224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EAF2FC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539774" y="1922054"/>
            <a:ext cx="270691" cy="270691"/>
          </a:xfrm>
          <a:prstGeom prst="ellipse">
            <a:avLst/>
          </a:prstGeom>
          <a:noFill/>
          <a:ln w="30480">
            <a:solidFill>
              <a:srgbClr val="085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6675120" y="1977422"/>
            <a:ext cx="0" cy="79978"/>
          </a:xfrm>
          <a:prstGeom prst="line">
            <a:avLst/>
          </a:prstGeom>
          <a:ln w="30480">
            <a:solidFill>
              <a:srgbClr val="0859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675120" y="2057400"/>
            <a:ext cx="61520" cy="39988"/>
          </a:xfrm>
          <a:prstGeom prst="line">
            <a:avLst/>
          </a:prstGeom>
          <a:ln w="30480">
            <a:solidFill>
              <a:srgbClr val="0859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09944" y="2414016"/>
            <a:ext cx="2249424" cy="4023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859A8"/>
                </a:solidFill>
                <a:latin typeface="Microsoft YaHei"/>
                <a:ea typeface="Microsoft YaHei"/>
                <a:cs typeface="Microsoft YaHei"/>
              </a:rPr>
              <a:t>约 90%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8231" y="2798064"/>
            <a:ext cx="220370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小功能开发周期缩短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70263" y="1572768"/>
            <a:ext cx="2615184" cy="1627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189719" y="1792224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EFEDFE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Freeform 1"/>
          <p:cNvSpPr/>
          <p:nvPr/>
        </p:nvSpPr>
        <p:spPr>
          <a:xfrm>
            <a:off x="9344157" y="1971269"/>
            <a:ext cx="86128" cy="172256"/>
          </a:xfrm>
          <a:custGeom>
            <a:avLst/>
            <a:gdLst/>
            <a:ahLst/>
            <a:cxnLst/>
            <a:rect l="l" t="t" r="r" b="b"/>
            <a:pathLst>
              <a:path w="28" h="56">
                <a:moveTo>
                  <a:pt x="28" y="0"/>
                </a:moveTo>
                <a:lnTo>
                  <a:pt x="0" y="28"/>
                </a:lnTo>
                <a:lnTo>
                  <a:pt x="28" y="56"/>
                </a:lnTo>
              </a:path>
            </a:pathLst>
          </a:custGeom>
          <a:noFill/>
          <a:ln w="30480">
            <a:solidFill>
              <a:srgbClr val="6C5CE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9479501" y="1971269"/>
            <a:ext cx="86128" cy="172256"/>
          </a:xfrm>
          <a:custGeom>
            <a:avLst/>
            <a:gdLst/>
            <a:ahLst/>
            <a:cxnLst/>
            <a:rect l="l" t="t" r="r" b="b"/>
            <a:pathLst>
              <a:path w="28" h="56">
                <a:moveTo>
                  <a:pt x="0" y="0"/>
                </a:moveTo>
                <a:lnTo>
                  <a:pt x="28" y="28"/>
                </a:lnTo>
                <a:lnTo>
                  <a:pt x="0" y="56"/>
                </a:lnTo>
              </a:path>
            </a:pathLst>
          </a:custGeom>
          <a:noFill/>
          <a:ln w="30480">
            <a:solidFill>
              <a:srgbClr val="6C5CE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9719" y="2414016"/>
            <a:ext cx="2249424" cy="4023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6C5CE7"/>
                </a:solidFill>
                <a:latin typeface="Microsoft YaHei"/>
                <a:ea typeface="Microsoft YaHei"/>
                <a:cs typeface="Microsoft YaHei"/>
              </a:rPr>
              <a:t>0 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08007" y="2798064"/>
            <a:ext cx="220370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全程未手写代码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0488" y="3438144"/>
            <a:ext cx="2615184" cy="1627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409944" y="3657600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E1F5F3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6607447" y="3870483"/>
            <a:ext cx="0" cy="113813"/>
          </a:xfrm>
          <a:prstGeom prst="line">
            <a:avLst/>
          </a:prstGeom>
          <a:ln w="30480">
            <a:solidFill>
              <a:srgbClr val="0EA5A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6607445" y="3885861"/>
            <a:ext cx="141496" cy="36912"/>
          </a:xfrm>
          <a:custGeom>
            <a:avLst/>
            <a:gdLst/>
            <a:ahLst/>
            <a:cxnLst/>
            <a:rect l="l" t="t" r="r" b="b"/>
            <a:pathLst>
              <a:path w="46" h="12">
                <a:moveTo>
                  <a:pt x="0" y="4"/>
                </a:moveTo>
                <a:lnTo>
                  <a:pt x="0" y="12"/>
                </a:lnTo>
                <a:lnTo>
                  <a:pt x="46" y="12"/>
                </a:lnTo>
                <a:lnTo>
                  <a:pt x="46" y="0"/>
                </a:lnTo>
              </a:path>
            </a:pathLst>
          </a:custGeom>
          <a:noFill/>
          <a:ln w="30480">
            <a:solidFill>
              <a:srgbClr val="0EA5A4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579762" y="3815114"/>
            <a:ext cx="55368" cy="55368"/>
          </a:xfrm>
          <a:prstGeom prst="ellipse">
            <a:avLst/>
          </a:prstGeom>
          <a:solidFill>
            <a:srgbClr val="FFFFFF"/>
          </a:solidFill>
          <a:ln w="22859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579762" y="3987372"/>
            <a:ext cx="55368" cy="55368"/>
          </a:xfrm>
          <a:prstGeom prst="ellipse">
            <a:avLst/>
          </a:prstGeom>
          <a:solidFill>
            <a:srgbClr val="FFFFFF"/>
          </a:solidFill>
          <a:ln w="22859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721260" y="3895091"/>
            <a:ext cx="55368" cy="55368"/>
          </a:xfrm>
          <a:prstGeom prst="ellipse">
            <a:avLst/>
          </a:prstGeom>
          <a:solidFill>
            <a:srgbClr val="FFFFFF"/>
          </a:solidFill>
          <a:ln w="22859">
            <a:solidFill>
              <a:srgbClr val="0EA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9944" y="4279392"/>
            <a:ext cx="2249424" cy="4023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EA5A4"/>
                </a:solidFill>
                <a:latin typeface="Microsoft YaHei"/>
                <a:ea typeface="Microsoft YaHei"/>
                <a:cs typeface="Microsoft YaHei"/>
              </a:rPr>
              <a:t>6+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28231" y="4663440"/>
            <a:ext cx="220370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版本持续迭代 v2→v5.6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70263" y="3438144"/>
            <a:ext cx="2615184" cy="16276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2E8F1"/>
            </a:solidFill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9719" y="3657600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FFF6DB"/>
          </a:soli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331854" y="3799734"/>
            <a:ext cx="246083" cy="246083"/>
          </a:xfrm>
          <a:prstGeom prst="ellipse">
            <a:avLst/>
          </a:prstGeom>
          <a:noFill/>
          <a:ln w="5588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9454893" y="3861253"/>
            <a:ext cx="67672" cy="86128"/>
          </a:xfrm>
          <a:custGeom>
            <a:avLst/>
            <a:gdLst/>
            <a:ahLst/>
            <a:cxnLst/>
            <a:rect l="l" t="t" r="r" b="b"/>
            <a:pathLst>
              <a:path w="22" h="28">
                <a:moveTo>
                  <a:pt x="0" y="28"/>
                </a:moveTo>
                <a:lnTo>
                  <a:pt x="22" y="0"/>
                </a:lnTo>
              </a:path>
            </a:pathLst>
          </a:custGeom>
          <a:noFill/>
          <a:ln w="30480">
            <a:solidFill>
              <a:srgbClr val="F59E0B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433363" y="3925852"/>
            <a:ext cx="43064" cy="4306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89719" y="4279392"/>
            <a:ext cx="2249424" cy="40233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20s→2s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08007" y="4663440"/>
            <a:ext cx="2203703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C6B82"/>
                </a:solidFill>
                <a:latin typeface="Microsoft YaHei"/>
                <a:ea typeface="Microsoft YaHei"/>
                <a:cs typeface="Microsoft YaHei"/>
              </a:rPr>
              <a:t>10 万行数据再次打开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" y="5230368"/>
            <a:ext cx="11064240" cy="1115568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0E3A77"/>
              </a:gs>
              <a:gs pos="100000">
                <a:srgbClr val="0859A8"/>
              </a:gs>
            </a:gsLst>
            <a:lin ang="0" scaled="1"/>
          </a:gradFill>
          <a:ln>
            <a:noFill/>
          </a:ln>
          <a:effectLst>
            <a:outerShdw blurRad="80000" dist="26000" dir="5400000" rotWithShape="0">
              <a:srgbClr val="0B2A5B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" y="5394959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8FD8FF"/>
                </a:solidFill>
                <a:latin typeface="Microsoft YaHei"/>
                <a:ea typeface="Microsoft YaHei"/>
                <a:cs typeface="Microsoft YaHei"/>
              </a:rPr>
              <a:t>NEXT · 未来规划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41248" y="5650992"/>
            <a:ext cx="21488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把这套方法，复制到更多运维系统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3063240" y="5413248"/>
            <a:ext cx="0" cy="749808"/>
          </a:xfrm>
          <a:prstGeom prst="line">
            <a:avLst/>
          </a:prstGeom>
          <a:ln w="12700">
            <a:solidFill>
              <a:srgbClr val="355E9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3291840" y="5376672"/>
            <a:ext cx="2578608" cy="822960"/>
          </a:xfrm>
          <a:prstGeom prst="roundRect">
            <a:avLst>
              <a:gd name="adj" fmla="val 10000"/>
            </a:avLst>
          </a:prstGeom>
          <a:solidFill>
            <a:srgbClr val="174482"/>
          </a:solidFill>
          <a:ln w="9525">
            <a:solidFill>
              <a:srgbClr val="3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3438144" y="5632704"/>
            <a:ext cx="146304" cy="146304"/>
          </a:xfrm>
          <a:prstGeom prst="ellipse">
            <a:avLst/>
          </a:prstGeom>
          <a:solidFill>
            <a:srgbClr val="FFC0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75888" y="54132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门禁系统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75888" y="570585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C2D6F4"/>
                </a:solidFill>
                <a:latin typeface="Microsoft YaHei"/>
                <a:ea typeface="Microsoft YaHei"/>
                <a:cs typeface="Microsoft YaHei"/>
              </a:rPr>
              <a:t>通行数据分析，异常主动发现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035040" y="5376672"/>
            <a:ext cx="2578608" cy="822960"/>
          </a:xfrm>
          <a:prstGeom prst="roundRect">
            <a:avLst>
              <a:gd name="adj" fmla="val 10000"/>
            </a:avLst>
          </a:prstGeom>
          <a:solidFill>
            <a:srgbClr val="174482"/>
          </a:solidFill>
          <a:ln w="9525">
            <a:solidFill>
              <a:srgbClr val="3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181344" y="5632704"/>
            <a:ext cx="146304" cy="146304"/>
          </a:xfrm>
          <a:prstGeom prst="ellipse">
            <a:avLst/>
          </a:prstGeom>
          <a:solidFill>
            <a:srgbClr val="FFC0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19088" y="54132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物联管控系统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19088" y="570585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C2D6F4"/>
                </a:solidFill>
                <a:latin typeface="Microsoft YaHei"/>
                <a:ea typeface="Microsoft YaHei"/>
                <a:cs typeface="Microsoft YaHei"/>
              </a:rPr>
              <a:t>设备状态看板，故障提前预警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778240" y="5376672"/>
            <a:ext cx="2578608" cy="822960"/>
          </a:xfrm>
          <a:prstGeom prst="roundRect">
            <a:avLst>
              <a:gd name="adj" fmla="val 10000"/>
            </a:avLst>
          </a:prstGeom>
          <a:solidFill>
            <a:srgbClr val="174482"/>
          </a:solidFill>
          <a:ln w="9525">
            <a:solidFill>
              <a:srgbClr val="3E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924544" y="5632704"/>
            <a:ext cx="146304" cy="146304"/>
          </a:xfrm>
          <a:prstGeom prst="ellipse">
            <a:avLst/>
          </a:prstGeom>
          <a:solidFill>
            <a:srgbClr val="FFC0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62288" y="54132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更多运维场景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62288" y="570585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C2D6F4"/>
                </a:solidFill>
                <a:latin typeface="Microsoft YaHei"/>
                <a:ea typeface="Microsoft YaHei"/>
                <a:cs typeface="Microsoft YaHei"/>
              </a:rPr>
              <a:t>问题收集 → 评估 → 快速落地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65105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多 AI Agent 协同开发 · 物品放行监控数据看板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881360" y="6510528"/>
            <a:ext cx="7315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97A2B3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訂設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</TotalTime>
  <Words>109</Words>
  <Application>Microsoft Office PowerPoint</Application>
  <PresentationFormat>寬螢幕</PresentationFormat>
  <Paragraphs>19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4</vt:i4>
      </vt:variant>
    </vt:vector>
  </HeadingPairs>
  <TitlesOfParts>
    <vt:vector size="16" baseType="lpstr">
      <vt:lpstr>等线</vt:lpstr>
      <vt:lpstr>Microsoft YaHei</vt:lpstr>
      <vt:lpstr>Microsoft YaHei</vt:lpstr>
      <vt:lpstr>黑体</vt:lpstr>
      <vt:lpstr>新細明體</vt:lpstr>
      <vt:lpstr>Arial</vt:lpstr>
      <vt:lpstr>Arial Black</vt:lpstr>
      <vt:lpstr>Calibri</vt:lpstr>
      <vt:lpstr>Calibri Light</vt:lpstr>
      <vt:lpstr>Office 主题​​</vt:lpstr>
      <vt:lpstr>1_自訂設計</vt:lpstr>
      <vt:lpstr>自訂設計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劉帆帆</cp:lastModifiedBy>
  <cp:revision>175</cp:revision>
  <dcterms:created xsi:type="dcterms:W3CDTF">2024-02-15T09:33:51Z</dcterms:created>
  <dcterms:modified xsi:type="dcterms:W3CDTF">2024-02-27T08:42:08Z</dcterms:modified>
</cp:coreProperties>
</file>
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3" r:id="rId2"/>
    <p:sldMasterId id="2147483651" r:id="rId3"/>
  </p:sldMasterIdLst>
  <p:notesMasterIdLst>
    <p:notesMasterId r:id="rId8"/>
  </p:notesMasterIdLst>
  <p:sldIdLst>
    <p:sldId id="256" r:id="rId4"/>
    <p:sldId id="257" r:id="rId5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" userDrawn="1">
          <p15:clr>
            <a:srgbClr val="A4A3A4"/>
          </p15:clr>
        </p15:guide>
        <p15:guide id="2" pos="69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59A8"/>
    <a:srgbClr val="0966C3"/>
    <a:srgbClr val="FFE549"/>
    <a:srgbClr val="E73433"/>
    <a:srgbClr val="8EC31F"/>
    <a:srgbClr val="0052A4"/>
    <a:srgbClr val="41C0F0"/>
    <a:srgbClr val="FFDE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8908" autoAdjust="0"/>
  </p:normalViewPr>
  <p:slideViewPr>
    <p:cSldViewPr snapToGrid="0">
      <p:cViewPr varScale="1">
        <p:scale>
          <a:sx n="73" d="100"/>
          <a:sy n="73" d="100"/>
        </p:scale>
        <p:origin x="594" y="66"/>
      </p:cViewPr>
      <p:guideLst>
        <p:guide orient="horz" pos="436"/>
        <p:guide pos="69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7" Type="http://schemas.openxmlformats.org/officeDocument/2006/relationships/slide" Target="slides/slide10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" Type="http://schemas.openxmlformats.org/officeDocument/2006/relationships/slide" Target="slides/slide40.xml"/><Relationship Id="rId21" Type="http://schemas.openxmlformats.org/officeDocument/2006/relationships/slide" Target="slides/slide41.xml"/><Relationship Id="rId22" Type="http://schemas.openxmlformats.org/officeDocument/2006/relationships/slide" Target="slides/slide42.xml"/><Relationship Id="rId23" Type="http://schemas.openxmlformats.org/officeDocument/2006/relationships/slide" Target="slides/slide43.xml"/><Relationship Id="rId24" Type="http://schemas.openxmlformats.org/officeDocument/2006/relationships/slide" Target="slides/slide44.xml"/><Relationship Id="rId25" Type="http://schemas.openxmlformats.org/officeDocument/2006/relationships/slide" Target="slides/slide45.xml"/><Relationship Id="rId26" Type="http://schemas.openxmlformats.org/officeDocument/2006/relationships/slide" Target="slides/slide46.xml"/><Relationship Id="rId27" Type="http://schemas.openxmlformats.org/officeDocument/2006/relationships/slide" Target="slides/slide47.xml"/><Relationship Id="rId28" Type="http://schemas.openxmlformats.org/officeDocument/2006/relationships/slide" Target="slides/slide48.xml"/><Relationship Id="rId29" Type="http://schemas.openxmlformats.org/officeDocument/2006/relationships/slide" Target="slides/slide49.xml"/><Relationship Id="rId30" Type="http://schemas.openxmlformats.org/officeDocument/2006/relationships/slide" Target="slides/slide50.xml"/><Relationship Id="rId31" Type="http://schemas.openxmlformats.org/officeDocument/2006/relationships/slide" Target="slides/slide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天</c:v>
                </c:pt>
              </c:strCache>
            </c:strRef>
          </c:tx>
          <c:dPt>
            <c:idx val="0"/>
            <c:invertIfNegative val="0"/>
            <c:bubble3D val="0"/>
            <c:spPr>
              <a:solidFill>
                <a:srgbClr val="0B2F66"/>
              </a:solidFill>
            </c:spPr>
          </c:dPt>
          <c:dPt>
            <c:idx val="1"/>
            <c:invertIfNegative val="0"/>
            <c:bubble3D val="0"/>
            <c:spPr>
              <a:solidFill>
                <a:srgbClr val="FFC001"/>
              </a:solidFill>
            </c:spPr>
          </c:dPt>
          <c:dLbls>
            <c:numFmt formatCode="0" sourceLinked="0"/>
            <c:txPr>
              <a:bodyPr/>
              <a:lstStyle/>
              <a:p>
                <a:pPr>
                  <a:defRPr sz="1400" b="1">
                    <a:solidFill>
                      <a:srgbClr val="1B2A41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传统 GDMS 排期</c:v>
                </c:pt>
                <c:pt idx="1">
                  <c:v>多 Agent 协同
（单号直查实例）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6</c:v>
                </c:pt>
              </c:numCache>
            </c:numRef>
          </c:val>
        </c:ser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2"/>
            </a:solidFill>
          </a:ln>
        </c:spPr>
        <c:txPr>
          <a:bodyPr/>
          <a:lstStyle/>
          <a:p>
            <a:pPr>
              <a:defRPr sz="1050">
                <a:solidFill>
                  <a:srgbClr val="5C6B82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 val="0"/>
        <c:axPos val="l"/>
        <c:majorGridlines>
          <c:spPr>
            <a:ln w="6350">
              <a:solidFill>
                <a:srgbClr val="EDF1F7"/>
              </a:solidFill>
            </a:ln>
          </c:spPr>
        </c:majorGridlines>
        <c:majorTickMark val="in"/>
        <c:minorTickMark val="none"/>
        <c:tickLblPos val="nextTo"/>
        <c:spPr>
          <a:ln>
            <a:solidFill>
              <a:srgbClr val="E2E8F2"/>
            </a:solidFill>
          </a:ln>
        </c:spPr>
        <c:txPr>
          <a:bodyPr/>
          <a:lstStyle/>
          <a:p>
            <a:pPr>
              <a:defRPr sz="900">
                <a:solidFill>
                  <a:srgbClr val="97A2B3"/>
                </a:solidFill>
                <a:latin typeface="Microsoft YaHe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3CC5F-F3D2-D240-A0DD-1C8E70CC50D9}" type="datetimeFigureOut">
              <a:rPr kumimoji="1" lang="zh-CN" altLang="en-US" smtClean="0"/>
              <a:t>2024/2/27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24195-F979-4444-AA07-A51AD00F94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35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EF09D-68CC-78E2-D0B8-9AA93E9F6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660B7E-67FA-7677-AF42-A3C5B5ADA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484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>
            <a:extLst>
              <a:ext uri="{FF2B5EF4-FFF2-40B4-BE49-F238E27FC236}">
                <a16:creationId xmlns:a16="http://schemas.microsoft.com/office/drawing/2014/main" id="{DE98DA66-5EE3-2B36-A690-D48E7D0D7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7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角圆角矩形 6">
            <a:extLst>
              <a:ext uri="{FF2B5EF4-FFF2-40B4-BE49-F238E27FC236}">
                <a16:creationId xmlns:a16="http://schemas.microsoft.com/office/drawing/2014/main" id="{2B3C9C3F-22FF-0A97-FB81-783FECEED7C9}"/>
              </a:ext>
            </a:extLst>
          </p:cNvPr>
          <p:cNvSpPr/>
          <p:nvPr userDrawn="1"/>
        </p:nvSpPr>
        <p:spPr>
          <a:xfrm>
            <a:off x="1738376" y="2195631"/>
            <a:ext cx="1762559" cy="42129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kumimoji="1" lang="en-US" altLang="zh-CN" sz="1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1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151">
            <a:extLst>
              <a:ext uri="{FF2B5EF4-FFF2-40B4-BE49-F238E27FC236}">
                <a16:creationId xmlns:a16="http://schemas.microsoft.com/office/drawing/2014/main" id="{970AA337-AA77-8E0E-322A-6EB6F2110F68}"/>
              </a:ext>
            </a:extLst>
          </p:cNvPr>
          <p:cNvSpPr txBox="1"/>
          <p:nvPr userDrawn="1"/>
        </p:nvSpPr>
        <p:spPr>
          <a:xfrm>
            <a:off x="1642464" y="1212040"/>
            <a:ext cx="1954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latin typeface="Arial" panose="020B0604020202020204" pitchFamily="34" charset="0"/>
                <a:ea typeface="Microsoft YaHei" panose="020B0503020204020204" pitchFamily="34" charset="-122"/>
              </a:rPr>
              <a:t>目  录</a:t>
            </a:r>
          </a:p>
        </p:txBody>
      </p:sp>
    </p:spTree>
    <p:extLst>
      <p:ext uri="{BB962C8B-B14F-4D97-AF65-F5344CB8AC3E}">
        <p14:creationId xmlns:p14="http://schemas.microsoft.com/office/powerpoint/2010/main" val="291739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68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12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02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49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31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60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22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486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64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9679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4311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microsoft.com/office/2007/relationships/hdphoto" Target="../media/hdphoto1.wdp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图片3">
            <a:extLst>
              <a:ext uri="{FF2B5EF4-FFF2-40B4-BE49-F238E27FC236}">
                <a16:creationId xmlns:a16="http://schemas.microsoft.com/office/drawing/2014/main" id="{5B8FCDE2-5D51-F80C-E49D-C678C9BA98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6FEE67-5F0E-FD88-820E-A87F4B40E5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848" r="50956" b="80865"/>
          <a:stretch/>
        </p:blipFill>
        <p:spPr>
          <a:xfrm>
            <a:off x="9919085" y="272949"/>
            <a:ext cx="2129623" cy="66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0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18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>
            <a:extLst>
              <a:ext uri="{FF2B5EF4-FFF2-40B4-BE49-F238E27FC236}">
                <a16:creationId xmlns:a16="http://schemas.microsoft.com/office/drawing/2014/main" id="{9A63F3BA-33FA-2F0C-6723-AB9AD55C80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1848" r="50956" b="80865"/>
          <a:stretch/>
        </p:blipFill>
        <p:spPr>
          <a:xfrm>
            <a:off x="10754997" y="175070"/>
            <a:ext cx="1387456" cy="430858"/>
          </a:xfrm>
          <a:prstGeom prst="rect">
            <a:avLst/>
          </a:prstGeom>
        </p:spPr>
      </p:pic>
      <p:cxnSp>
        <p:nvCxnSpPr>
          <p:cNvPr id="12" name="直线连接符 19">
            <a:extLst>
              <a:ext uri="{FF2B5EF4-FFF2-40B4-BE49-F238E27FC236}">
                <a16:creationId xmlns:a16="http://schemas.microsoft.com/office/drawing/2014/main" id="{400914D6-9219-9818-B60D-D462EC86E324}"/>
              </a:ext>
            </a:extLst>
          </p:cNvPr>
          <p:cNvCxnSpPr>
            <a:cxnSpLocks/>
          </p:cNvCxnSpPr>
          <p:nvPr userDrawn="1"/>
        </p:nvCxnSpPr>
        <p:spPr>
          <a:xfrm>
            <a:off x="0" y="599866"/>
            <a:ext cx="12192000" cy="0"/>
          </a:xfrm>
          <a:prstGeom prst="line">
            <a:avLst/>
          </a:prstGeom>
          <a:ln w="12700" cmpd="sng">
            <a:gradFill>
              <a:gsLst>
                <a:gs pos="100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0" scaled="0"/>
            </a:gra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A4259600-3B48-EB04-9AD0-5807EC3744EA}"/>
              </a:ext>
            </a:extLst>
          </p:cNvPr>
          <p:cNvSpPr/>
          <p:nvPr userDrawn="1"/>
        </p:nvSpPr>
        <p:spPr>
          <a:xfrm>
            <a:off x="450311" y="235244"/>
            <a:ext cx="275773" cy="275773"/>
          </a:xfrm>
          <a:prstGeom prst="ellipse">
            <a:avLst/>
          </a:prstGeom>
          <a:gradFill>
            <a:gsLst>
              <a:gs pos="0">
                <a:srgbClr val="01B0F0">
                  <a:alpha val="0"/>
                </a:srgbClr>
              </a:gs>
              <a:gs pos="100000">
                <a:srgbClr val="01B0F0"/>
              </a:gs>
            </a:gsLst>
            <a:lin ang="0" scaled="0"/>
          </a:gra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4" name="椭圆 10">
            <a:extLst>
              <a:ext uri="{FF2B5EF4-FFF2-40B4-BE49-F238E27FC236}">
                <a16:creationId xmlns:a16="http://schemas.microsoft.com/office/drawing/2014/main" id="{9273DC72-021C-E3E4-9FB9-C8FB93367F6C}"/>
              </a:ext>
            </a:extLst>
          </p:cNvPr>
          <p:cNvSpPr/>
          <p:nvPr userDrawn="1"/>
        </p:nvSpPr>
        <p:spPr>
          <a:xfrm>
            <a:off x="292488" y="235244"/>
            <a:ext cx="275773" cy="275773"/>
          </a:xfrm>
          <a:prstGeom prst="ellipse">
            <a:avLst/>
          </a:prstGeom>
          <a:solidFill>
            <a:srgbClr val="FFC001"/>
          </a:soli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344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>
            <a:extLst>
              <a:ext uri="{FF2B5EF4-FFF2-40B4-BE49-F238E27FC236}">
                <a16:creationId xmlns:a16="http://schemas.microsoft.com/office/drawing/2014/main" id="{F1E50FF4-F791-5056-E497-FFDA41B5B33E}"/>
              </a:ext>
            </a:extLst>
          </p:cNvPr>
          <p:cNvSpPr/>
          <p:nvPr/>
        </p:nvSpPr>
        <p:spPr>
          <a:xfrm>
            <a:off x="8906256" y="4498848"/>
            <a:ext cx="1874519" cy="29810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时间：</a:t>
            </a:r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  <p:sp>
        <p:nvSpPr>
          <p:cNvPr id="6" name="对角圆角矩形 5">
            <a:extLst>
              <a:ext uri="{FF2B5EF4-FFF2-40B4-BE49-F238E27FC236}">
                <a16:creationId xmlns:a16="http://schemas.microsoft.com/office/drawing/2014/main" id="{A8653F83-E4CB-0821-92C0-CC6D035E4C8A}"/>
              </a:ext>
            </a:extLst>
          </p:cNvPr>
          <p:cNvSpPr/>
          <p:nvPr/>
        </p:nvSpPr>
        <p:spPr>
          <a:xfrm>
            <a:off x="8613648" y="3913632"/>
            <a:ext cx="2286000" cy="360000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报告人：</a:t>
            </a:r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安全技防部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CDECDD-78EE-6885-7047-12FC1AF3D419}"/>
              </a:ext>
            </a:extLst>
          </p:cNvPr>
          <p:cNvSpPr txBox="1"/>
          <p:nvPr/>
        </p:nvSpPr>
        <p:spPr>
          <a:xfrm>
            <a:off x="274320" y="2529621"/>
            <a:ext cx="10826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4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多 Agent 协同，零代码自建业务数据看板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01952"/>
            <a:ext cx="10826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AI 应用创新大赛 · 参赛项目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401568"/>
            <a:ext cx="10826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700" b="0" i="0">
                <a:solidFill>
                  <a:srgbClr val="44526A"/>
                </a:solidFill>
                <a:latin typeface="Microsoft YaHei"/>
                <a:ea typeface="Microsoft YaHei"/>
                <a:cs typeface="Microsoft YaHei"/>
              </a:rPr>
              <a:t>物品放行监控数据看板 · 从想法到上线的 AI 协同开发实践</a:t>
            </a:r>
          </a:p>
        </p:txBody>
      </p:sp>
      <p:sp>
        <p:nvSpPr>
          <p:cNvPr id="15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  <p:sp>
        <p:nvSpPr>
          <p:cNvPr id="16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  <p:extLst>
      <p:ext uri="{BB962C8B-B14F-4D97-AF65-F5344CB8AC3E}">
        <p14:creationId xmlns:p14="http://schemas.microsoft.com/office/powerpoint/2010/main" val="31341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95">
            <a:extLst>
              <a:ext uri="{FF2B5EF4-FFF2-40B4-BE49-F238E27FC236}">
                <a16:creationId xmlns:a16="http://schemas.microsoft.com/office/drawing/2014/main" id="{35DA1A08-AA34-CDB3-FF45-B5FACF2606C1}"/>
              </a:ext>
            </a:extLst>
          </p:cNvPr>
          <p:cNvSpPr txBox="1"/>
          <p:nvPr/>
        </p:nvSpPr>
        <p:spPr>
          <a:xfrm>
            <a:off x="5875337" y="1212040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1" name="TextBox 96">
            <a:extLst>
              <a:ext uri="{FF2B5EF4-FFF2-40B4-BE49-F238E27FC236}">
                <a16:creationId xmlns:a16="http://schemas.microsoft.com/office/drawing/2014/main" id="{EF05146C-0FEE-8647-D50E-A4B289E09703}"/>
              </a:ext>
            </a:extLst>
          </p:cNvPr>
          <p:cNvSpPr txBox="1"/>
          <p:nvPr/>
        </p:nvSpPr>
        <p:spPr>
          <a:xfrm>
            <a:off x="5875337" y="198638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TextBox 95">
            <a:extLst>
              <a:ext uri="{FF2B5EF4-FFF2-40B4-BE49-F238E27FC236}">
                <a16:creationId xmlns:a16="http://schemas.microsoft.com/office/drawing/2014/main" id="{06472C9C-39B8-DDC1-F841-CB8CF49EFAA2}"/>
              </a:ext>
            </a:extLst>
          </p:cNvPr>
          <p:cNvSpPr txBox="1"/>
          <p:nvPr/>
        </p:nvSpPr>
        <p:spPr>
          <a:xfrm>
            <a:off x="5875337" y="275034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3.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3" name="TextBox 96">
            <a:extLst>
              <a:ext uri="{FF2B5EF4-FFF2-40B4-BE49-F238E27FC236}">
                <a16:creationId xmlns:a16="http://schemas.microsoft.com/office/drawing/2014/main" id="{6A8A60D1-5C0B-3CCF-55F8-024A64C30C74}"/>
              </a:ext>
            </a:extLst>
          </p:cNvPr>
          <p:cNvSpPr txBox="1"/>
          <p:nvPr/>
        </p:nvSpPr>
        <p:spPr>
          <a:xfrm>
            <a:off x="5875337" y="3522551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4.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C452DCB-2967-161C-8AA6-9673B6E04CD6}"/>
              </a:ext>
            </a:extLst>
          </p:cNvPr>
          <p:cNvSpPr txBox="1"/>
          <p:nvPr/>
        </p:nvSpPr>
        <p:spPr>
          <a:xfrm>
            <a:off x="6295020" y="1310436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背景与痛点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统一看板之外，为什么还要「自己造」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9EDF2CD8-9CB5-E824-9C2A-F4F91A324176}"/>
              </a:ext>
            </a:extLst>
          </p:cNvPr>
          <p:cNvSpPr txBox="1"/>
          <p:nvPr/>
        </p:nvSpPr>
        <p:spPr>
          <a:xfrm>
            <a:off x="6295020" y="2076956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成果展示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一个会跟着需求「长」的看板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C9D74DED-E8D0-0871-91E1-F2C37076E8AF}"/>
              </a:ext>
            </a:extLst>
          </p:cNvPr>
          <p:cNvSpPr txBox="1"/>
          <p:nvPr/>
        </p:nvSpPr>
        <p:spPr>
          <a:xfrm>
            <a:off x="6295020" y="2828176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多 Agent 协同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从单打独斗到一支虚拟团队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9267E6ED-4421-04D2-64AE-F51C9249A297}"/>
              </a:ext>
            </a:extLst>
          </p:cNvPr>
          <p:cNvSpPr txBox="1"/>
          <p:nvPr/>
        </p:nvSpPr>
        <p:spPr>
          <a:xfrm>
            <a:off x="6295020" y="3597650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开发实战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一个真实功能，六天内上线</a:t>
            </a:r>
          </a:p>
        </p:txBody>
      </p:sp>
      <p:sp>
        <p:nvSpPr>
          <p:cNvPr id="6" name="TextBox 96">
            <a:extLst>
              <a:ext uri="{FF2B5EF4-FFF2-40B4-BE49-F238E27FC236}">
                <a16:creationId xmlns:a16="http://schemas.microsoft.com/office/drawing/2014/main" id="{233E715A-38B6-F6D7-3C73-8A089F7C4300}"/>
              </a:ext>
            </a:extLst>
          </p:cNvPr>
          <p:cNvSpPr txBox="1"/>
          <p:nvPr/>
        </p:nvSpPr>
        <p:spPr>
          <a:xfrm>
            <a:off x="5875337" y="424410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5.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06DAC136-0DFB-CF44-9125-0FD0FB81889A}"/>
              </a:ext>
            </a:extLst>
          </p:cNvPr>
          <p:cNvSpPr txBox="1"/>
          <p:nvPr/>
        </p:nvSpPr>
        <p:spPr>
          <a:xfrm>
            <a:off x="6295020" y="4340192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成效与规划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节奏从「按月」到「按天」</a:t>
            </a:r>
          </a:p>
        </p:txBody>
      </p:sp>
    </p:spTree>
    <p:extLst>
      <p:ext uri="{BB962C8B-B14F-4D97-AF65-F5344CB8AC3E}">
        <p14:creationId xmlns:p14="http://schemas.microsoft.com/office/powerpoint/2010/main" val="379819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026461"/>
      </p:ext>
    </p:extLst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背景与现状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我们不缺系统，缺的是一个「跟得上变化」的工具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公司 GDMS 已整合放行、门禁、物联等各大系统，是日常离不开的统一平台；但在一线使用中，它有三个「跟不上」。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886200" cy="4160520"/>
          </a:xfrm>
          <a:prstGeom prst="roundRect">
            <a:avLst>
              <a:gd name="adj" fmla="val 5000"/>
            </a:avLst>
          </a:prstGeom>
          <a:solidFill>
            <a:srgbClr val="EAF3FC"/>
          </a:solidFill>
          <a:ln w="9525">
            <a:solidFill>
              <a:srgbClr val="CFE0F5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755648"/>
            <a:ext cx="457200" cy="457200"/>
          </a:xfrm>
          <a:prstGeom prst="roundRect">
            <a:avLst>
              <a:gd name="adj" fmla="val 10000"/>
            </a:avLst>
          </a:prstGeom>
          <a:noFill/>
          <a:ln w="139700">
            <a:solidFill>
              <a:srgbClr val="0859A8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69848" y="1792224"/>
            <a:ext cx="0" cy="384048"/>
          </a:xfrm>
          <a:prstGeom prst="line">
            <a:avLst/>
          </a:prstGeom>
          <a:ln w="111760">
            <a:solidFill>
              <a:srgbClr val="085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" y="1984248"/>
            <a:ext cx="384048" cy="0"/>
          </a:xfrm>
          <a:prstGeom prst="line">
            <a:avLst/>
          </a:prstGeom>
          <a:ln w="111760">
            <a:solidFill>
              <a:srgbClr val="085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17320" y="17830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今天：统一的 GDMS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395728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统一登录、数据集中，日常业务都在上面跑：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971800"/>
            <a:ext cx="996695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">
            <a:solidFill>
              <a:srgbClr val="D6E4F4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971800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物品放行系统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447288"/>
            <a:ext cx="996695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">
            <a:solidFill>
              <a:srgbClr val="D6E4F4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447288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3A89E"/>
                </a:solidFill>
                <a:latin typeface="Microsoft YaHei"/>
                <a:ea typeface="Microsoft YaHei"/>
                <a:cs typeface="Microsoft YaHei"/>
              </a:rPr>
              <a:t>门禁管理系统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922776"/>
            <a:ext cx="996695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">
            <a:solidFill>
              <a:srgbClr val="D6E4F4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22776"/>
            <a:ext cx="9966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E5CE6"/>
                </a:solidFill>
                <a:latin typeface="Microsoft YaHei"/>
                <a:ea typeface="Microsoft YaHei"/>
                <a:cs typeface="Microsoft YaHei"/>
              </a:rPr>
              <a:t>物联管控平台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398264"/>
            <a:ext cx="14218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">
            <a:solidFill>
              <a:srgbClr val="D6E4F4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398264"/>
            <a:ext cx="14218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访客 / 特保管理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873752"/>
            <a:ext cx="113842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">
            <a:solidFill>
              <a:srgbClr val="D6E4F4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873752"/>
            <a:ext cx="11384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…… 各大系统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2120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平台很强，但「看什么、怎么排、加什么」都由统一排期决定。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562856" y="3246120"/>
            <a:ext cx="256032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56048" y="1481328"/>
            <a:ext cx="6675120" cy="12435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56048" y="1481328"/>
            <a:ext cx="73152" cy="1243584"/>
          </a:xfrm>
          <a:prstGeom prst="rect">
            <a:avLst/>
          </a:prstGeom>
          <a:solidFill>
            <a:srgbClr val="F0443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75504" y="1737360"/>
            <a:ext cx="731520" cy="731520"/>
          </a:xfrm>
          <a:prstGeom prst="ellipse">
            <a:avLst/>
          </a:prstGeom>
          <a:solidFill>
            <a:srgbClr val="F0443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75504" y="17373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68249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数据有限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103120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能看的字段固定；临时想看的新角度、新指标，看板上没有。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56048" y="2843784"/>
            <a:ext cx="6675120" cy="12435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56048" y="2843784"/>
            <a:ext cx="73152" cy="12435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75504" y="3099816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75504" y="3099816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04495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加功能慢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465576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跨部门反复确认需求，再排队等 IT 开发排期，一两个月很常见。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6048" y="4206240"/>
            <a:ext cx="6675120" cy="12435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56048" y="4206240"/>
            <a:ext cx="73152" cy="1243584"/>
          </a:xfrm>
          <a:prstGeom prst="rect">
            <a:avLst/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175504" y="4462272"/>
            <a:ext cx="731520" cy="731520"/>
          </a:xfrm>
          <a:prstGeom prst="ellipse">
            <a:avLst/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446227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407408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样式固定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828032"/>
            <a:ext cx="5349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页面布局画死，不同岗位、不同场景看到的是同一张脸。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669280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0B2F6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52220" y="5799124"/>
            <a:ext cx="234087" cy="241402"/>
          </a:xfrm>
          <a:custGeom>
            <a:avLst/>
            <a:gdLst/>
            <a:ahLst/>
            <a:cxnLst/>
            <a:rect l="l" t="t" r="r" b="b"/>
            <a:pathLst>
              <a:path w="234087" h="241402">
                <a:moveTo>
                  <a:pt x="117044" y="0"/>
                </a:moveTo>
                <a:lnTo>
                  <a:pt x="204826" y="80468"/>
                </a:lnTo>
                <a:lnTo>
                  <a:pt x="204826" y="190196"/>
                </a:lnTo>
                <a:lnTo>
                  <a:pt x="234087" y="241402"/>
                </a:lnTo>
                <a:lnTo>
                  <a:pt x="0" y="241402"/>
                </a:lnTo>
                <a:lnTo>
                  <a:pt x="29261" y="190196"/>
                </a:lnTo>
                <a:lnTo>
                  <a:pt x="29261" y="80468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0003" y="6055156"/>
            <a:ext cx="58521" cy="58521"/>
          </a:xfrm>
          <a:prstGeom prst="ellipse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0" y="5669280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业务天天在变，看板来不及变——不少有价值的小改进，等不起、也排不上。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一个小改动，为什么总要等一两个月？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在 GDMS 上加功能必须走完全流程——时间主要花在「规划 + 沟通 + 排队」上，真正写代码的环节反而最短。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Chevron 7"/>
          <p:cNvSpPr/>
          <p:nvPr/>
        </p:nvSpPr>
        <p:spPr>
          <a:xfrm>
            <a:off x="566928" y="1591056"/>
            <a:ext cx="1920240" cy="786384"/>
          </a:xfrm>
          <a:prstGeom prst="chevron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591056"/>
            <a:ext cx="16276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01  需求规划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7" y="2487168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">
            <a:solidFill>
              <a:srgbClr val="EAD08A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48716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6D1F"/>
                </a:solidFill>
                <a:latin typeface="Microsoft YaHei"/>
                <a:ea typeface="Microsoft YaHei"/>
                <a:cs typeface="Microsoft YaHei"/>
              </a:rPr>
              <a:t>反复确认</a:t>
            </a:r>
          </a:p>
        </p:txBody>
      </p:sp>
      <p:sp>
        <p:nvSpPr>
          <p:cNvPr id="12" name="Chevron 11"/>
          <p:cNvSpPr/>
          <p:nvPr/>
        </p:nvSpPr>
        <p:spPr>
          <a:xfrm>
            <a:off x="2377440" y="1591056"/>
            <a:ext cx="1920240" cy="786384"/>
          </a:xfrm>
          <a:prstGeom prst="chevron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591056"/>
            <a:ext cx="16276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02  跨部门沟通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487168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">
            <a:solidFill>
              <a:srgbClr val="EAD08A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48716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6D1F"/>
                </a:solidFill>
                <a:latin typeface="Microsoft YaHei"/>
                <a:ea typeface="Microsoft YaHei"/>
                <a:cs typeface="Microsoft YaHei"/>
              </a:rPr>
              <a:t>来回对接</a:t>
            </a:r>
          </a:p>
        </p:txBody>
      </p:sp>
      <p:sp>
        <p:nvSpPr>
          <p:cNvPr id="16" name="Chevron 15"/>
          <p:cNvSpPr/>
          <p:nvPr/>
        </p:nvSpPr>
        <p:spPr>
          <a:xfrm>
            <a:off x="4187952" y="1591056"/>
            <a:ext cx="1920240" cy="786384"/>
          </a:xfrm>
          <a:prstGeom prst="chevron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1591056"/>
            <a:ext cx="16276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03  排队等开发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2487168"/>
            <a:ext cx="135331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">
            <a:solidFill>
              <a:srgbClr val="EAD08A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487168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8A6D1F"/>
                </a:solidFill>
                <a:latin typeface="Microsoft YaHei"/>
                <a:ea typeface="Microsoft YaHei"/>
                <a:cs typeface="Microsoft YaHei"/>
              </a:rPr>
              <a:t>资源紧张</a:t>
            </a:r>
          </a:p>
        </p:txBody>
      </p:sp>
      <p:sp>
        <p:nvSpPr>
          <p:cNvPr id="20" name="Chevron 19"/>
          <p:cNvSpPr/>
          <p:nvPr/>
        </p:nvSpPr>
        <p:spPr>
          <a:xfrm>
            <a:off x="5998464" y="1591056"/>
            <a:ext cx="1920240" cy="786384"/>
          </a:xfrm>
          <a:prstGeom prst="chevron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7" y="1591056"/>
            <a:ext cx="16276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代码开发</a:t>
            </a:r>
          </a:p>
        </p:txBody>
      </p:sp>
      <p:sp>
        <p:nvSpPr>
          <p:cNvPr id="22" name="Chevron 21"/>
          <p:cNvSpPr/>
          <p:nvPr/>
        </p:nvSpPr>
        <p:spPr>
          <a:xfrm>
            <a:off x="7808975" y="1591056"/>
            <a:ext cx="1920240" cy="786384"/>
          </a:xfrm>
          <a:prstGeom prst="chevron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1591056"/>
            <a:ext cx="16276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 测试验证</a:t>
            </a:r>
          </a:p>
        </p:txBody>
      </p:sp>
      <p:sp>
        <p:nvSpPr>
          <p:cNvPr id="24" name="Chevron 23"/>
          <p:cNvSpPr/>
          <p:nvPr/>
        </p:nvSpPr>
        <p:spPr>
          <a:xfrm>
            <a:off x="9619488" y="1591056"/>
            <a:ext cx="1920240" cy="786384"/>
          </a:xfrm>
          <a:prstGeom prst="chevron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1591056"/>
            <a:ext cx="16276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 正式上线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468880"/>
            <a:ext cx="3822191" cy="310896"/>
          </a:xfrm>
          <a:prstGeom prst="roundRect">
            <a:avLst>
              <a:gd name="adj" fmla="val 50000"/>
            </a:avLst>
          </a:prstGeom>
          <a:solidFill>
            <a:srgbClr val="EAF3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468880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瓶颈集中在前三步，写代码反而最快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2999232"/>
            <a:ext cx="356616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2999232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6384" y="3218688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6384" y="3218688"/>
            <a:ext cx="512064" cy="512064"/>
          </a:xfrm>
          <a:prstGeom prst="ellipse">
            <a:avLst/>
          </a:prstGeom>
          <a:noFill/>
          <a:ln w="156464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1042416" y="3356945"/>
            <a:ext cx="0" cy="117775"/>
          </a:xfrm>
          <a:prstGeom prst="line">
            <a:avLst/>
          </a:prstGeom>
          <a:ln w="15646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42416" y="3474720"/>
            <a:ext cx="92171" cy="25603"/>
          </a:xfrm>
          <a:prstGeom prst="line">
            <a:avLst/>
          </a:prstGeom>
          <a:ln w="15646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35607" y="325526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等得久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3840480"/>
            <a:ext cx="31272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再小的优化也要走完全流程，一等就是一两个月，节奏以「月」计。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5968" y="2999232"/>
            <a:ext cx="356616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15968" y="2999232"/>
            <a:ext cx="3566160" cy="64008"/>
          </a:xfrm>
          <a:prstGeom prst="rect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35424" y="3218688"/>
            <a:ext cx="512064" cy="512064"/>
          </a:xfrm>
          <a:prstGeom prst="ellipse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596871" y="3259653"/>
            <a:ext cx="389169" cy="430133"/>
          </a:xfrm>
          <a:custGeom>
            <a:avLst/>
            <a:gdLst/>
            <a:ahLst/>
            <a:cxnLst/>
            <a:rect l="l" t="t" r="r" b="b"/>
            <a:pathLst>
              <a:path w="389169" h="430133">
                <a:moveTo>
                  <a:pt x="0" y="92171"/>
                </a:moveTo>
                <a:lnTo>
                  <a:pt x="194585" y="0"/>
                </a:lnTo>
                <a:lnTo>
                  <a:pt x="389169" y="92171"/>
                </a:lnTo>
                <a:lnTo>
                  <a:pt x="389169" y="337962"/>
                </a:lnTo>
                <a:lnTo>
                  <a:pt x="194585" y="430133"/>
                </a:lnTo>
                <a:lnTo>
                  <a:pt x="0" y="337962"/>
                </a:lnTo>
                <a:close/>
              </a:path>
            </a:pathLst>
          </a:custGeom>
          <a:noFill/>
          <a:ln w="156464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596871" y="3351824"/>
            <a:ext cx="194585" cy="92172"/>
          </a:xfrm>
          <a:prstGeom prst="line">
            <a:avLst/>
          </a:prstGeom>
          <a:ln w="15646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791456" y="3351824"/>
            <a:ext cx="194584" cy="92172"/>
          </a:xfrm>
          <a:prstGeom prst="line">
            <a:avLst/>
          </a:prstGeom>
          <a:ln w="15646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791456" y="3443996"/>
            <a:ext cx="0" cy="245790"/>
          </a:xfrm>
          <a:prstGeom prst="line">
            <a:avLst/>
          </a:prstGeom>
          <a:ln w="156464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184648" y="325526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排不上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3840480"/>
            <a:ext cx="31272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IT 资源优先保障核心系统，运维侧的小需求常常排不上队。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65008" y="2999232"/>
            <a:ext cx="3566160" cy="1627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65008" y="2999232"/>
            <a:ext cx="3566160" cy="64008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84464" y="3218688"/>
            <a:ext cx="512064" cy="512064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73927" y="3269894"/>
            <a:ext cx="133136" cy="1331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407359" y="3423513"/>
            <a:ext cx="266273" cy="17410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10067" y="3331342"/>
            <a:ext cx="102412" cy="102412"/>
          </a:xfrm>
          <a:prstGeom prst="ellipse">
            <a:avLst/>
          </a:prstGeom>
          <a:noFill/>
          <a:ln w="156464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94705" y="3505443"/>
            <a:ext cx="153619" cy="133136"/>
          </a:xfrm>
          <a:prstGeom prst="roundRect">
            <a:avLst>
              <a:gd name="adj" fmla="val 50000"/>
            </a:avLst>
          </a:prstGeom>
          <a:noFill/>
          <a:ln w="156464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668512" y="3331342"/>
            <a:ext cx="102412" cy="102412"/>
          </a:xfrm>
          <a:prstGeom prst="ellipse">
            <a:avLst/>
          </a:prstGeom>
          <a:noFill/>
          <a:ln w="156464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32667" y="3505443"/>
            <a:ext cx="153619" cy="133136"/>
          </a:xfrm>
          <a:prstGeom prst="roundRect">
            <a:avLst>
              <a:gd name="adj" fmla="val 50000"/>
            </a:avLst>
          </a:prstGeom>
          <a:noFill/>
          <a:ln w="156464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33688" y="3255264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沟通累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3840480"/>
            <a:ext cx="312724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需求在多个部门之间反复转述确认，时间和人力都消耗在沟通上。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4846320"/>
            <a:ext cx="11064240" cy="676656"/>
          </a:xfrm>
          <a:prstGeom prst="roundRect">
            <a:avLst>
              <a:gd name="adj" fmla="val 12000"/>
            </a:avLst>
          </a:prstGeom>
          <a:solidFill>
            <a:srgbClr val="0B2F6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22960" y="4956048"/>
            <a:ext cx="457200" cy="457200"/>
          </a:xfrm>
          <a:prstGeom prst="ellipse">
            <a:avLst/>
          </a:prstGeom>
          <a:noFill/>
          <a:ln w="139700">
            <a:solidFill>
              <a:srgbClr val="FFC001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96695" y="5129784"/>
            <a:ext cx="109728" cy="109728"/>
          </a:xfrm>
          <a:prstGeom prst="ellipse">
            <a:avLst/>
          </a:prstGeom>
          <a:noFill/>
          <a:ln w="139700">
            <a:solidFill>
              <a:srgbClr val="FFC001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1051560" y="5184648"/>
            <a:ext cx="0" cy="0"/>
          </a:xfrm>
          <a:prstGeom prst="line">
            <a:avLst/>
          </a:prstGeom>
          <a:ln w="139700">
            <a:solidFill>
              <a:srgbClr val="FFC0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1024127" y="5157216"/>
            <a:ext cx="54864" cy="54864"/>
          </a:xfrm>
          <a:prstGeom prst="ellipse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17320" y="4846320"/>
            <a:ext cx="10058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真正的瓶颈不在「写代码」，而在规划、沟通与排队。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5596128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559612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与其等上一两个月——不如换个思路：用 AI 给自己造一个看板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0835640" y="5760720"/>
            <a:ext cx="502920" cy="310896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0B2F6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成果展示 · 看板全貌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不等排队，给自己造了一个数据看板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把放行系统导出的 Excel 拖进浏览器，KPI、图表、异常预警自动生成；纯前端、离线运行。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7315200" cy="4892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7315200" cy="310896"/>
          </a:xfrm>
          <a:prstGeom prst="roundRect">
            <a:avLst>
              <a:gd name="adj" fmla="val 3500"/>
            </a:avLst>
          </a:prstGeom>
          <a:solidFill>
            <a:srgbClr val="EDF1F7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55064"/>
            <a:ext cx="7315200" cy="73152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1527048"/>
            <a:ext cx="91440" cy="91440"/>
          </a:xfrm>
          <a:prstGeom prst="ellipse">
            <a:avLst/>
          </a:prstGeom>
          <a:solidFill>
            <a:srgbClr val="F05B57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1527048"/>
            <a:ext cx="91440" cy="91440"/>
          </a:xfrm>
          <a:prstGeom prst="ellipse">
            <a:avLst/>
          </a:prstGeom>
          <a:solidFill>
            <a:srgbClr val="FFB02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1527048"/>
            <a:ext cx="91440" cy="91440"/>
          </a:xfrm>
          <a:prstGeom prst="ellipse">
            <a:avLst/>
          </a:prstGeom>
          <a:solidFill>
            <a:srgbClr val="33C043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25295" y="1472184"/>
            <a:ext cx="649224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1472184"/>
            <a:ext cx="6309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物品放行监控看板 v5.6 · file:// 离线运行</a:t>
            </a:r>
          </a:p>
        </p:txBody>
      </p:sp>
      <p:pic>
        <p:nvPicPr>
          <p:cNvPr id="16" name="Picture 15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28216"/>
            <a:ext cx="7132320" cy="4489704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1193292" y="4322551"/>
            <a:ext cx="292608" cy="292608"/>
          </a:xfrm>
          <a:prstGeom prst="ellipse">
            <a:avLst/>
          </a:prstGeom>
          <a:solidFill>
            <a:srgbClr val="FFC001"/>
          </a:solidFill>
          <a:ln w="15240">
            <a:solidFill>
              <a:srgbClr val="FFFFFF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3292" y="43179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2798063" y="4942149"/>
            <a:ext cx="292608" cy="292608"/>
          </a:xfrm>
          <a:prstGeom prst="ellipse">
            <a:avLst/>
          </a:prstGeom>
          <a:solidFill>
            <a:srgbClr val="FFC001"/>
          </a:solidFill>
          <a:ln w="15240">
            <a:solidFill>
              <a:srgbClr val="FFFFFF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98063" y="493757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367174" y="2950585"/>
            <a:ext cx="292608" cy="292608"/>
          </a:xfrm>
          <a:prstGeom prst="ellipse">
            <a:avLst/>
          </a:prstGeom>
          <a:solidFill>
            <a:srgbClr val="FFC001"/>
          </a:solidFill>
          <a:ln w="15240">
            <a:solidFill>
              <a:srgbClr val="FFFFFF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7174" y="294601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6364224" y="2397373"/>
            <a:ext cx="292608" cy="292608"/>
          </a:xfrm>
          <a:prstGeom prst="ellipse">
            <a:avLst/>
          </a:prstGeom>
          <a:solidFill>
            <a:srgbClr val="FFC001"/>
          </a:solidFill>
          <a:ln w="15240">
            <a:solidFill>
              <a:srgbClr val="FFFFFF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239280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417320"/>
            <a:ext cx="3538728" cy="1078992"/>
          </a:xfrm>
          <a:prstGeom prst="roundRect">
            <a:avLst>
              <a:gd name="adj" fmla="val 8000"/>
            </a:avLst>
          </a:prstGeom>
          <a:solidFill>
            <a:srgbClr val="0B2F66"/>
          </a:solidFill>
          <a:ln w="9525">
            <a:solidFill>
              <a:srgbClr val="0B2F66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15544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物品放行监控数据看板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901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BFD6F5"/>
                </a:solidFill>
                <a:latin typeface="Microsoft YaHei"/>
                <a:ea typeface="Microsoft YaHei"/>
                <a:cs typeface="Microsoft YaHei"/>
              </a:rPr>
              <a:t>v5.6 · 双击即用的单个 HTML 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670048"/>
            <a:ext cx="1097280" cy="786384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9525">
            <a:solidFill>
              <a:srgbClr val="CFE0F5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7432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108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张分析卡片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547872"/>
            <a:ext cx="1097280" cy="786384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9525">
            <a:solidFill>
              <a:srgbClr val="CFE0F5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62102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8678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套界面主题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4425696"/>
            <a:ext cx="1097280" cy="786384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9525">
            <a:solidFill>
              <a:srgbClr val="CFE0F5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4988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8646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种岗位视图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263347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五张 KPI 一屏总览</a:t>
            </a:r>
          </a:p>
          <a:p>
            <a:pPr algn="l"/>
            <a:r>
              <a:rPr sz="8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放行单 / 特保 / 超时 / 结案率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419856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图表自动生成</a:t>
            </a:r>
          </a:p>
          <a:p>
            <a:pPr algn="l"/>
            <a:r>
              <a:rPr sz="8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环形图、趋势、门岗滞留 TOP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5168" y="42062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实时流入动态</a:t>
            </a:r>
          </a:p>
          <a:p>
            <a:pPr algn="l"/>
            <a:r>
              <a:rPr sz="8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最新单据滚动可见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4992624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单号直查 Ctrl+K</a:t>
            </a:r>
          </a:p>
          <a:p>
            <a:pPr algn="l"/>
            <a:r>
              <a:rPr sz="8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一单到底全链路追踪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5504688"/>
            <a:ext cx="3538728" cy="749808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1270">
            <a:solidFill>
              <a:srgbClr val="BFE6CC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8293608" y="5655564"/>
            <a:ext cx="365760" cy="416052"/>
          </a:xfrm>
          <a:custGeom>
            <a:avLst/>
            <a:gdLst/>
            <a:ahLst/>
            <a:cxnLst/>
            <a:rect l="l" t="t" r="r" b="b"/>
            <a:pathLst>
              <a:path w="365760" h="416052">
                <a:moveTo>
                  <a:pt x="182880" y="0"/>
                </a:moveTo>
                <a:lnTo>
                  <a:pt x="365760" y="68580"/>
                </a:lnTo>
                <a:lnTo>
                  <a:pt x="347472" y="228600"/>
                </a:lnTo>
                <a:lnTo>
                  <a:pt x="182880" y="416052"/>
                </a:lnTo>
                <a:lnTo>
                  <a:pt x="18288" y="228600"/>
                </a:lnTo>
                <a:lnTo>
                  <a:pt x="0" y="68580"/>
                </a:lnTo>
                <a:close/>
              </a:path>
            </a:pathLst>
          </a:cu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8394192" y="5788152"/>
            <a:ext cx="173736" cy="132588"/>
          </a:xfrm>
          <a:custGeom>
            <a:avLst/>
            <a:gdLst/>
            <a:ahLst/>
            <a:cxnLst/>
            <a:rect l="l" t="t" r="r" b="b"/>
            <a:pathLst>
              <a:path w="173736" h="132588">
                <a:moveTo>
                  <a:pt x="0" y="73152"/>
                </a:moveTo>
                <a:lnTo>
                  <a:pt x="59436" y="132588"/>
                </a:lnTo>
                <a:lnTo>
                  <a:pt x="173736" y="0"/>
                </a:lnTo>
                <a:close/>
              </a:path>
            </a:pathLst>
          </a:custGeom>
          <a:noFill/>
          <a:ln w="1536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96528" y="56235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A41"/>
                </a:solidFill>
                <a:latin typeface="Microsoft YaHei"/>
                <a:ea typeface="Microsoft YaHei"/>
                <a:cs typeface="Microsoft YaHei"/>
              </a:rPr>
              <a:t>100% 本地运行</a:t>
            </a:r>
          </a:p>
          <a:p>
            <a:pPr algn="l"/>
            <a:r>
              <a:rPr sz="900" b="0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数据不出内网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成果展示 · 灵活布局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布局不是画死的——拖动、缩放、增删，自己说了算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24 列自由网格：编辑模式下整条卡片可拖移、拖边缘缩放，卡片可自由增删，布局一键保存。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44752"/>
            <a:ext cx="5760720" cy="3127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pic>
        <p:nvPicPr>
          <p:cNvPr id="9" name="Picture 8" descr="p6edi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54480"/>
            <a:ext cx="5541264" cy="2743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6384" y="39136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6DA"/>
          </a:solidFill>
          <a:ln>
            <a:noFill/>
          </a:ln>
        </p:spPr>
        <p:txBody>
          <a:bodyPr rtlCol="0" anchor="ctr" lIns="50800" rIns="50800" tIns="0" bIns="0"/>
          <a:lstStyle/>
          <a:p>
            <a:pPr algn="ctr"/>
            <a:r>
              <a:rPr sz="900" b="1" i="0">
                <a:solidFill>
                  <a:srgbClr val="8A6D1F"/>
                </a:solidFill>
                <a:latin typeface="Microsoft YaHei"/>
                <a:ea typeface="Microsoft YaHei"/>
                <a:cs typeface="Microsoft YaHei"/>
              </a:rPr>
              <a:t>✥  按住拖移换位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9136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lIns="50800" rIns="50800" tIns="0" bIns="0"/>
          <a:lstStyle/>
          <a:p>
            <a:pPr algn="ctr"/>
            <a:r>
              <a:rPr sz="900" b="1" i="0">
                <a:solidFill>
                  <a:srgbClr val="B03A36"/>
                </a:solidFill>
                <a:latin typeface="Microsoft YaHei"/>
                <a:ea typeface="Microsoft YaHei"/>
                <a:cs typeface="Microsoft YaHei"/>
              </a:rPr>
              <a:t>✕  一键移除卡片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编辑工具栏：增删卡片 / 保存布局 / 导出视图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5138928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pic>
        <p:nvPicPr>
          <p:cNvPr id="14" name="Picture 13" descr="p6tool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1728216"/>
            <a:ext cx="4937760" cy="7680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92240" y="2724912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9 套主题一键换肤，支持深色模式：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980944"/>
            <a:ext cx="5138928" cy="15910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pic>
        <p:nvPicPr>
          <p:cNvPr id="17" name="Picture 16" descr="p6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072384"/>
            <a:ext cx="4937760" cy="13716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66928" y="4681728"/>
            <a:ext cx="35661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pic>
        <p:nvPicPr>
          <p:cNvPr id="19" name="Picture 18" descr="p6s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828032"/>
            <a:ext cx="1417320" cy="1024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58568" y="493776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小卡 ·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5285232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一个数字一眼读完，适合核心 KPI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4681728"/>
            <a:ext cx="35661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pic>
        <p:nvPicPr>
          <p:cNvPr id="23" name="Picture 22" descr="p6m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3" y="4828032"/>
            <a:ext cx="1417320" cy="10241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07608" y="493776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中卡 ·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7608" y="5285232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数字 + 微图形 + 关键拆解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4681728"/>
            <a:ext cx="356616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pic>
        <p:nvPicPr>
          <p:cNvPr id="27" name="Picture 26" descr="p6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4828032"/>
            <a:ext cx="1417320" cy="10241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56648" y="493776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大卡 · 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5285232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三栏钻取：图表 / Tab / 最新记录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成果展示 · 安全与效率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不装软件、不连服务器，数据不出内网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一个 HTML 文件双击即用，所有解析、统计、图表都在本机浏览器完成。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56616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92807" y="1810512"/>
            <a:ext cx="914400" cy="914400"/>
          </a:xfrm>
          <a:prstGeom prst="ellipse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020823" y="1828800"/>
            <a:ext cx="658368" cy="877824"/>
          </a:xfrm>
          <a:custGeom>
            <a:avLst/>
            <a:gdLst/>
            <a:ahLst/>
            <a:cxnLst/>
            <a:rect l="l" t="t" r="r" b="b"/>
            <a:pathLst>
              <a:path w="658368" h="877824">
                <a:moveTo>
                  <a:pt x="384048" y="0"/>
                </a:moveTo>
                <a:lnTo>
                  <a:pt x="0" y="475488"/>
                </a:lnTo>
                <a:lnTo>
                  <a:pt x="274320" y="475488"/>
                </a:lnTo>
                <a:lnTo>
                  <a:pt x="210312" y="877824"/>
                </a:lnTo>
                <a:lnTo>
                  <a:pt x="658368" y="365760"/>
                </a:lnTo>
                <a:lnTo>
                  <a:pt x="374904" y="3657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8529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开箱即用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3410712"/>
            <a:ext cx="73152" cy="73152"/>
          </a:xfrm>
          <a:prstGeom prst="ellipse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46704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Chrome / Edge 双击打开，file:// 即可运行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3739896"/>
            <a:ext cx="73152" cy="73152"/>
          </a:xfrm>
          <a:prstGeom prst="ellipse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75888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不用装软件、不用配服务器</a:t>
            </a:r>
          </a:p>
        </p:txBody>
      </p:sp>
      <p:sp>
        <p:nvSpPr>
          <p:cNvPr id="16" name="Oval 15"/>
          <p:cNvSpPr/>
          <p:nvPr/>
        </p:nvSpPr>
        <p:spPr>
          <a:xfrm>
            <a:off x="841247" y="4069080"/>
            <a:ext cx="73152" cy="73152"/>
          </a:xfrm>
          <a:prstGeom prst="ellipse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05072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内置导出 Excel、转 CSV、导出截图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1572768"/>
            <a:ext cx="356616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41848" y="1810512"/>
            <a:ext cx="914400" cy="9144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934456" y="2084831"/>
            <a:ext cx="0" cy="164593"/>
          </a:xfrm>
          <a:prstGeom prst="line">
            <a:avLst/>
          </a:prstGeom>
          <a:ln w="265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263640" y="2084831"/>
            <a:ext cx="0" cy="164593"/>
          </a:xfrm>
          <a:prstGeom prst="line">
            <a:avLst/>
          </a:prstGeom>
          <a:ln w="265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34456" y="2084831"/>
            <a:ext cx="329184" cy="0"/>
          </a:xfrm>
          <a:prstGeom prst="line">
            <a:avLst/>
          </a:prstGeom>
          <a:ln w="265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06440" y="2194560"/>
            <a:ext cx="585216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48756" y="2359152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099048" y="2450591"/>
            <a:ext cx="0" cy="109729"/>
          </a:xfrm>
          <a:prstGeom prst="line">
            <a:avLst/>
          </a:prstGeom>
          <a:ln w="26543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15968" y="28529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数据安全</a:t>
            </a:r>
          </a:p>
        </p:txBody>
      </p:sp>
      <p:sp>
        <p:nvSpPr>
          <p:cNvPr id="27" name="Oval 26"/>
          <p:cNvSpPr/>
          <p:nvPr/>
        </p:nvSpPr>
        <p:spPr>
          <a:xfrm>
            <a:off x="4590288" y="3410712"/>
            <a:ext cx="73152" cy="73152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79" y="3346704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100% 本机浏览器计算，支持完全离线</a:t>
            </a:r>
          </a:p>
        </p:txBody>
      </p:sp>
      <p:sp>
        <p:nvSpPr>
          <p:cNvPr id="29" name="Oval 28"/>
          <p:cNvSpPr/>
          <p:nvPr/>
        </p:nvSpPr>
        <p:spPr>
          <a:xfrm>
            <a:off x="4590288" y="3739896"/>
            <a:ext cx="73152" cy="73152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3675888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数据不出内网、不上传任何服务器</a:t>
            </a:r>
          </a:p>
        </p:txBody>
      </p:sp>
      <p:sp>
        <p:nvSpPr>
          <p:cNvPr id="31" name="Oval 30"/>
          <p:cNvSpPr/>
          <p:nvPr/>
        </p:nvSpPr>
        <p:spPr>
          <a:xfrm>
            <a:off x="4590288" y="4069080"/>
            <a:ext cx="73152" cy="73152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79" y="4005072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满足安保业务数据的保密要求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1572768"/>
            <a:ext cx="356616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90888" y="1810512"/>
            <a:ext cx="914400" cy="914400"/>
          </a:xfrm>
          <a:prstGeom prst="ellipse">
            <a:avLst/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9665208" y="1828800"/>
            <a:ext cx="365760" cy="640080"/>
          </a:xfrm>
          <a:custGeom>
            <a:avLst/>
            <a:gdLst/>
            <a:ahLst/>
            <a:cxnLst/>
            <a:rect l="l" t="t" r="r" b="b"/>
            <a:pathLst>
              <a:path w="365760" h="640080">
                <a:moveTo>
                  <a:pt x="182880" y="0"/>
                </a:moveTo>
                <a:lnTo>
                  <a:pt x="365760" y="292608"/>
                </a:lnTo>
                <a:lnTo>
                  <a:pt x="292608" y="493776"/>
                </a:lnTo>
                <a:lnTo>
                  <a:pt x="182880" y="640080"/>
                </a:lnTo>
                <a:lnTo>
                  <a:pt x="73152" y="493776"/>
                </a:lnTo>
                <a:lnTo>
                  <a:pt x="0" y="2926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56648" y="2066543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9500616" y="221284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64592" h="164592">
                <a:moveTo>
                  <a:pt x="164592" y="0"/>
                </a:moveTo>
                <a:lnTo>
                  <a:pt x="0" y="128016"/>
                </a:lnTo>
                <a:lnTo>
                  <a:pt x="146304" y="1645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0030968" y="2212848"/>
            <a:ext cx="164592" cy="164592"/>
          </a:xfrm>
          <a:custGeom>
            <a:avLst/>
            <a:gdLst/>
            <a:ahLst/>
            <a:cxnLst/>
            <a:rect l="l" t="t" r="r" b="b"/>
            <a:pathLst>
              <a:path w="164592" h="164592">
                <a:moveTo>
                  <a:pt x="0" y="0"/>
                </a:moveTo>
                <a:lnTo>
                  <a:pt x="164592" y="128016"/>
                </a:lnTo>
                <a:lnTo>
                  <a:pt x="18288" y="1645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774936" y="2468880"/>
            <a:ext cx="146304" cy="164592"/>
          </a:xfrm>
          <a:custGeom>
            <a:avLst/>
            <a:gdLst/>
            <a:ahLst/>
            <a:cxnLst/>
            <a:rect l="l" t="t" r="r" b="b"/>
            <a:pathLst>
              <a:path w="146304" h="164592">
                <a:moveTo>
                  <a:pt x="0" y="0"/>
                </a:moveTo>
                <a:lnTo>
                  <a:pt x="73152" y="164592"/>
                </a:lnTo>
                <a:lnTo>
                  <a:pt x="146304" y="0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285292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又快又稳</a:t>
            </a:r>
          </a:p>
        </p:txBody>
      </p:sp>
      <p:sp>
        <p:nvSpPr>
          <p:cNvPr id="41" name="Oval 40"/>
          <p:cNvSpPr/>
          <p:nvPr/>
        </p:nvSpPr>
        <p:spPr>
          <a:xfrm>
            <a:off x="8339328" y="3410712"/>
            <a:ext cx="73152" cy="73152"/>
          </a:xfrm>
          <a:prstGeom prst="ellipse">
            <a:avLst/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346704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 万行数据解析约 20 秒</a:t>
            </a:r>
          </a:p>
        </p:txBody>
      </p:sp>
      <p:sp>
        <p:nvSpPr>
          <p:cNvPr id="43" name="Oval 42"/>
          <p:cNvSpPr/>
          <p:nvPr/>
        </p:nvSpPr>
        <p:spPr>
          <a:xfrm>
            <a:off x="8339328" y="3739896"/>
            <a:ext cx="73152" cy="73152"/>
          </a:xfrm>
          <a:prstGeom prst="ellipse">
            <a:avLst/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3675888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本地缓存后二次打开约 2 秒恢复</a:t>
            </a:r>
          </a:p>
        </p:txBody>
      </p:sp>
      <p:sp>
        <p:nvSpPr>
          <p:cNvPr id="45" name="Oval 44"/>
          <p:cNvSpPr/>
          <p:nvPr/>
        </p:nvSpPr>
        <p:spPr>
          <a:xfrm>
            <a:off x="8339328" y="4069080"/>
            <a:ext cx="73152" cy="73152"/>
          </a:xfrm>
          <a:prstGeom prst="ellipse">
            <a:avLst/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4005072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老电脑可开「流畅模式」稳定使用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617720"/>
            <a:ext cx="11064240" cy="1627632"/>
          </a:xfrm>
          <a:prstGeom prst="roundRect">
            <a:avLst>
              <a:gd name="adj" fmla="val 8000"/>
            </a:avLst>
          </a:prstGeom>
          <a:solidFill>
            <a:srgbClr val="0B2F6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" y="4828032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828032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有新需求怎么办？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" y="52303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当天提、当天做、当天改——小功能以「小时 ~ 天」计见效，不用排期。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" y="5760720"/>
            <a:ext cx="3246120" cy="329184"/>
          </a:xfrm>
          <a:prstGeom prst="roundRect">
            <a:avLst>
              <a:gd name="adj" fmla="val 50000"/>
            </a:avLst>
          </a:prstGeom>
          <a:solidFill>
            <a:srgbClr val="173E74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76072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1B0F0"/>
                </a:solidFill>
                <a:latin typeface="Microsoft YaHei"/>
                <a:ea typeface="Microsoft YaHei"/>
                <a:cs typeface="Microsoft YaHei"/>
              </a:rPr>
              <a:t>小功能小时级见效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07408" y="5760720"/>
            <a:ext cx="3246120" cy="329184"/>
          </a:xfrm>
          <a:prstGeom prst="roundRect">
            <a:avLst>
              <a:gd name="adj" fmla="val 50000"/>
            </a:avLst>
          </a:prstGeom>
          <a:solidFill>
            <a:srgbClr val="173E74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7408" y="576072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C001"/>
                </a:solidFill>
                <a:latin typeface="Microsoft YaHei"/>
                <a:ea typeface="Microsoft YaHei"/>
                <a:cs typeface="Microsoft YaHei"/>
              </a:rPr>
              <a:t>v2 → v5.6 持续迭代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73568" y="5760720"/>
            <a:ext cx="3246120" cy="329184"/>
          </a:xfrm>
          <a:prstGeom prst="roundRect">
            <a:avLst>
              <a:gd name="adj" fmla="val 50000"/>
            </a:avLst>
          </a:prstGeom>
          <a:solidFill>
            <a:srgbClr val="173E74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73568" y="576072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BE3C0"/>
                </a:solidFill>
                <a:latin typeface="Microsoft YaHei"/>
                <a:ea typeface="Microsoft YaHei"/>
                <a:cs typeface="Microsoft YaHei"/>
              </a:rPr>
              <a:t>AI 开发不占 IT 排期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多 Agent 协同 · 工具阵容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不是只用一个 AI，而是请了一支「专家队」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实战中发现：不同工具各有所长——擅长设计的做设计，擅长写代码的写代码。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121408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2121408" cy="164592"/>
          </a:xfrm>
          <a:prstGeom prst="roundRect">
            <a:avLst>
              <a:gd name="adj" fmla="val 0"/>
            </a:avLst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43584" y="1847088"/>
            <a:ext cx="768096" cy="768096"/>
          </a:xfrm>
          <a:prstGeom prst="ellipse">
            <a:avLst/>
          </a:prstGeom>
          <a:solidFill>
            <a:srgbClr val="0859A8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847088"/>
            <a:ext cx="2121408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2491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127248"/>
            <a:ext cx="1682495" cy="310896"/>
          </a:xfrm>
          <a:prstGeom prst="roundRect">
            <a:avLst>
              <a:gd name="adj" fmla="val 50000"/>
            </a:avLst>
          </a:prstGeom>
          <a:solidFill>
            <a:srgbClr val="EAF3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127248"/>
            <a:ext cx="16824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界面与原型设计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584448"/>
            <a:ext cx="1719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审美在线，产出可点击的高保真交互原型。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高保真原型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64208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4208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交互设计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75788" y="1572768"/>
            <a:ext cx="2121408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75788" y="1572768"/>
            <a:ext cx="2121408" cy="164592"/>
          </a:xfrm>
          <a:prstGeom prst="roundRect">
            <a:avLst>
              <a:gd name="adj" fmla="val 0"/>
            </a:avLst>
          </a:prstGeom>
          <a:solidFill>
            <a:srgbClr val="01B0F0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52444" y="1847088"/>
            <a:ext cx="768096" cy="768096"/>
          </a:xfrm>
          <a:prstGeom prst="ellipse">
            <a:avLst/>
          </a:prstGeom>
          <a:solidFill>
            <a:srgbClr val="01B0F0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75788" y="1847088"/>
            <a:ext cx="2121408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5788" y="272491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95244" y="3127248"/>
            <a:ext cx="1682495" cy="310896"/>
          </a:xfrm>
          <a:prstGeom prst="roundRect">
            <a:avLst>
              <a:gd name="adj" fmla="val 50000"/>
            </a:avLst>
          </a:prstGeom>
          <a:solidFill>
            <a:srgbClr val="EAF3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5244" y="3127248"/>
            <a:ext cx="16824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1B0F0"/>
                </a:solidFill>
                <a:latin typeface="Microsoft YaHei"/>
                <a:ea typeface="Microsoft YaHei"/>
                <a:cs typeface="Microsoft YaHei"/>
              </a:rPr>
              <a:t>视觉风格探索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6956" y="3584448"/>
            <a:ext cx="1719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大胆尝试多种界面风格与视觉方案。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0380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0380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多风格探索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3068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3068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视觉系统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84648" y="1572768"/>
            <a:ext cx="2121408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84648" y="1572768"/>
            <a:ext cx="2121408" cy="164592"/>
          </a:xfrm>
          <a:prstGeom prst="roundRect">
            <a:avLst>
              <a:gd name="adj" fmla="val 0"/>
            </a:avLst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61304" y="1847088"/>
            <a:ext cx="768096" cy="768096"/>
          </a:xfrm>
          <a:prstGeom prst="ellipse">
            <a:avLst/>
          </a:prstGeom>
          <a:solidFill>
            <a:srgbClr val="6E5CE6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8" y="1847088"/>
            <a:ext cx="2121408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272491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Grok Build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04104" y="3127248"/>
            <a:ext cx="1682495" cy="310896"/>
          </a:xfrm>
          <a:prstGeom prst="roundRect">
            <a:avLst>
              <a:gd name="adj" fmla="val 50000"/>
            </a:avLst>
          </a:prstGeom>
          <a:solidFill>
            <a:srgbClr val="EAF3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4104" y="3127248"/>
            <a:ext cx="16824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6E5CE6"/>
                </a:solidFill>
                <a:latin typeface="Microsoft YaHei"/>
                <a:ea typeface="Microsoft YaHei"/>
                <a:cs typeface="Microsoft YaHei"/>
              </a:rPr>
              <a:t>主程序开发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85816" y="3584448"/>
            <a:ext cx="1719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按原型与规格实现正式业务功能。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49240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49240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业务功能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1927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1927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正式代码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3508" y="1572768"/>
            <a:ext cx="2121408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493508" y="1572768"/>
            <a:ext cx="2121408" cy="164592"/>
          </a:xfrm>
          <a:prstGeom prst="roundRect">
            <a:avLst>
              <a:gd name="adj" fmla="val 0"/>
            </a:avLst>
          </a:prstGeom>
          <a:solidFill>
            <a:srgbClr val="13A89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70164" y="1847088"/>
            <a:ext cx="768096" cy="768096"/>
          </a:xfrm>
          <a:prstGeom prst="ellipse">
            <a:avLst/>
          </a:prstGeom>
          <a:solidFill>
            <a:srgbClr val="13A89E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3508" y="1847088"/>
            <a:ext cx="2121408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508" y="272491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12964" y="3127248"/>
            <a:ext cx="1682495" cy="310896"/>
          </a:xfrm>
          <a:prstGeom prst="roundRect">
            <a:avLst>
              <a:gd name="adj" fmla="val 50000"/>
            </a:avLst>
          </a:prstGeom>
          <a:solidFill>
            <a:srgbClr val="EAF3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12964" y="3127248"/>
            <a:ext cx="16824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3A89E"/>
                </a:solidFill>
                <a:latin typeface="Microsoft YaHei"/>
                <a:ea typeface="Microsoft YaHei"/>
                <a:cs typeface="Microsoft YaHei"/>
              </a:rPr>
              <a:t>校验与测试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4676" y="3584448"/>
            <a:ext cx="1719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梳理需求、发现问题、测试验证。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58100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58100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需求梳理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0788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0788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02368" y="1572768"/>
            <a:ext cx="2121408" cy="3401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802368" y="1572768"/>
            <a:ext cx="2121408" cy="164592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479024" y="1847088"/>
            <a:ext cx="768096" cy="768096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02368" y="1847088"/>
            <a:ext cx="2121408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02368" y="272491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21824" y="3127248"/>
            <a:ext cx="1682495" cy="310896"/>
          </a:xfrm>
          <a:prstGeom prst="roundRect">
            <a:avLst>
              <a:gd name="adj" fmla="val 50000"/>
            </a:avLst>
          </a:prstGeom>
          <a:solidFill>
            <a:srgbClr val="EAF3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21824" y="3127248"/>
            <a:ext cx="16824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日常开发协作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03536" y="3584448"/>
            <a:ext cx="1719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代码协助与问题排查的好帮手。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66960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66960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代码协助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899648" y="4370832"/>
            <a:ext cx="859536" cy="274320"/>
          </a:xfrm>
          <a:prstGeom prst="roundRect">
            <a:avLst>
              <a:gd name="adj" fmla="val 50000"/>
            </a:avLst>
          </a:prstGeom>
          <a:solidFill>
            <a:srgbClr val="F2F5FA"/>
          </a:solidFill>
          <a:ln w="635">
            <a:solidFill>
              <a:srgbClr val="DDE5F0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899648" y="4370832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问题排查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230368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2F6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868680" y="544982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88036" y="169164"/>
                </a:lnTo>
                <a:lnTo>
                  <a:pt x="457200" y="228600"/>
                </a:lnTo>
                <a:lnTo>
                  <a:pt x="288036" y="288036"/>
                </a:lnTo>
                <a:lnTo>
                  <a:pt x="228600" y="457200"/>
                </a:lnTo>
                <a:lnTo>
                  <a:pt x="169164" y="288036"/>
                </a:lnTo>
                <a:lnTo>
                  <a:pt x="0" y="228600"/>
                </a:lnTo>
                <a:lnTo>
                  <a:pt x="169164" y="169164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63040" y="5358384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001"/>
                </a:solidFill>
                <a:latin typeface="Microsoft YaHei"/>
                <a:ea typeface="Microsoft YaHei"/>
                <a:cs typeface="Microsoft YaHei"/>
              </a:rPr>
              <a:t>关键转变：</a:t>
            </a: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从「一个 AI 包办」 → 「多 AI 组队」</a:t>
            </a:r>
          </a:p>
          <a:p>
            <a:pPr algn="l"/>
            <a:r>
              <a:rPr sz="1000" b="0" i="0">
                <a:solidFill>
                  <a:srgbClr val="BFD6F5"/>
                </a:solidFill>
                <a:latin typeface="Microsoft YaHei"/>
                <a:ea typeface="Microsoft YaHei"/>
                <a:cs typeface="Microsoft YaHei"/>
              </a:rPr>
              <a:t>让每个 AI 只做最擅长的事——质量和速度同时提升。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多 Agent 协同 · 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协作模式，是一步步「长」出来的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从一个 AI 从头包办，到一支有分工、有交接、有纪律的虚拟团队，我们走了三个阶段。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56616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10" name="Oval 9"/>
          <p:cNvSpPr/>
          <p:nvPr/>
        </p:nvSpPr>
        <p:spPr>
          <a:xfrm>
            <a:off x="3328416" y="1828800"/>
            <a:ext cx="548640" cy="548640"/>
          </a:xfrm>
          <a:prstGeom prst="ellipse">
            <a:avLst/>
          </a:prstGeom>
          <a:noFill/>
          <a:ln w="167640">
            <a:solidFill>
              <a:srgbClr val="0859A8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3602736" y="1976932"/>
            <a:ext cx="0" cy="126188"/>
          </a:xfrm>
          <a:prstGeom prst="line">
            <a:avLst/>
          </a:prstGeom>
          <a:ln w="167640">
            <a:solidFill>
              <a:srgbClr val="085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02736" y="2103120"/>
            <a:ext cx="98755" cy="27431"/>
          </a:xfrm>
          <a:prstGeom prst="line">
            <a:avLst/>
          </a:prstGeom>
          <a:ln w="167640">
            <a:solidFill>
              <a:srgbClr val="085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2542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单 Agent 包办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一个 AI 从头做到尾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3456432"/>
            <a:ext cx="82296" cy="82296"/>
          </a:xfrm>
          <a:prstGeom prst="ellipse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3832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设计、开发、测试都将就同一个 AI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3931920"/>
            <a:ext cx="82296" cy="82296"/>
          </a:xfrm>
          <a:prstGeom prst="ellipse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85876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能力有短板，质量全靠运气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06240" y="3063240"/>
            <a:ext cx="219456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7A2B3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5968" y="1572768"/>
            <a:ext cx="3566160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7830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2.0</a:t>
            </a:r>
          </a:p>
        </p:txBody>
      </p:sp>
      <p:sp>
        <p:nvSpPr>
          <p:cNvPr id="22" name="Oval 21"/>
          <p:cNvSpPr/>
          <p:nvPr/>
        </p:nvSpPr>
        <p:spPr>
          <a:xfrm>
            <a:off x="7148779" y="1900123"/>
            <a:ext cx="98755" cy="98755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56017" y="1900123"/>
            <a:ext cx="98755" cy="98755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398" y="2174443"/>
            <a:ext cx="98755" cy="98755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247534" y="1949500"/>
            <a:ext cx="208483" cy="0"/>
          </a:xfrm>
          <a:prstGeom prst="line">
            <a:avLst/>
          </a:prstGeom>
          <a:ln w="1676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98156" y="1998878"/>
            <a:ext cx="131674" cy="175565"/>
          </a:xfrm>
          <a:prstGeom prst="line">
            <a:avLst/>
          </a:prstGeom>
          <a:ln w="1676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373721" y="1998878"/>
            <a:ext cx="131674" cy="175565"/>
          </a:xfrm>
          <a:prstGeom prst="line">
            <a:avLst/>
          </a:prstGeom>
          <a:ln w="16764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2542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多 Agent 手动切换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926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哪个强用哪个，人工来回切换</a:t>
            </a:r>
          </a:p>
        </p:txBody>
      </p:sp>
      <p:sp>
        <p:nvSpPr>
          <p:cNvPr id="30" name="Oval 29"/>
          <p:cNvSpPr/>
          <p:nvPr/>
        </p:nvSpPr>
        <p:spPr>
          <a:xfrm>
            <a:off x="4590288" y="3456432"/>
            <a:ext cx="82296" cy="82296"/>
          </a:xfrm>
          <a:prstGeom prst="ellipse">
            <a:avLst/>
          </a:prstGeom>
          <a:solidFill>
            <a:srgbClr val="F0443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33832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4A12"/>
                </a:solidFill>
                <a:latin typeface="Microsoft YaHei"/>
                <a:ea typeface="Microsoft YaHei"/>
                <a:cs typeface="Microsoft YaHei"/>
              </a:rPr>
              <a:t>每换一个 AI 就要重讲一遍项目</a:t>
            </a:r>
          </a:p>
        </p:txBody>
      </p:sp>
      <p:sp>
        <p:nvSpPr>
          <p:cNvPr id="32" name="Oval 31"/>
          <p:cNvSpPr/>
          <p:nvPr/>
        </p:nvSpPr>
        <p:spPr>
          <a:xfrm>
            <a:off x="4590288" y="3931920"/>
            <a:ext cx="82296" cy="82296"/>
          </a:xfrm>
          <a:prstGeom prst="ellipse">
            <a:avLst/>
          </a:prstGeom>
          <a:solidFill>
            <a:srgbClr val="F0443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385876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4A12"/>
                </a:solidFill>
                <a:latin typeface="Microsoft YaHei"/>
                <a:ea typeface="Microsoft YaHei"/>
                <a:cs typeface="Microsoft YaHei"/>
              </a:rPr>
              <a:t>上下文容易丢失，信息断层</a:t>
            </a:r>
          </a:p>
        </p:txBody>
      </p:sp>
      <p:sp>
        <p:nvSpPr>
          <p:cNvPr id="34" name="Oval 33"/>
          <p:cNvSpPr/>
          <p:nvPr/>
        </p:nvSpPr>
        <p:spPr>
          <a:xfrm>
            <a:off x="4590288" y="4407408"/>
            <a:ext cx="82296" cy="82296"/>
          </a:xfrm>
          <a:prstGeom prst="ellipse">
            <a:avLst/>
          </a:prstGeom>
          <a:solidFill>
            <a:srgbClr val="F0443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73168" y="4334256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4A12"/>
                </a:solidFill>
                <a:latin typeface="Microsoft YaHei"/>
                <a:ea typeface="Microsoft YaHei"/>
                <a:cs typeface="Microsoft YaHei"/>
              </a:rPr>
              <a:t>各有各的工作空间，版本容易撞车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955279" y="3063240"/>
            <a:ext cx="219456" cy="38404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7A2B3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65008" y="1572768"/>
            <a:ext cx="3566160" cy="3520440"/>
          </a:xfrm>
          <a:prstGeom prst="roundRect">
            <a:avLst>
              <a:gd name="adj" fmla="val 7000"/>
            </a:avLst>
          </a:prstGeom>
          <a:solidFill>
            <a:srgbClr val="FFFBEE"/>
          </a:solidFill>
          <a:ln w="9525">
            <a:solidFill>
              <a:srgbClr val="FFC001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7830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4C759"/>
                </a:solidFill>
                <a:latin typeface="Microsoft YaHei"/>
                <a:ea typeface="Microsoft YaHei"/>
                <a:cs typeface="Microsoft YaHei"/>
              </a:rPr>
              <a:t>3.0</a:t>
            </a:r>
          </a:p>
        </p:txBody>
      </p:sp>
      <p:sp>
        <p:nvSpPr>
          <p:cNvPr id="39" name="Oval 38"/>
          <p:cNvSpPr/>
          <p:nvPr/>
        </p:nvSpPr>
        <p:spPr>
          <a:xfrm>
            <a:off x="11029492" y="1883664"/>
            <a:ext cx="142646" cy="142646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958169" y="2048256"/>
            <a:ext cx="285292" cy="186537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53928" y="1949500"/>
            <a:ext cx="109728" cy="109728"/>
          </a:xfrm>
          <a:prstGeom prst="ellipse">
            <a:avLst/>
          </a:prstGeom>
          <a:noFill/>
          <a:ln w="167640">
            <a:solidFill>
              <a:srgbClr val="34C759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837468" y="2136038"/>
            <a:ext cx="164592" cy="142646"/>
          </a:xfrm>
          <a:prstGeom prst="roundRect">
            <a:avLst>
              <a:gd name="adj" fmla="val 50000"/>
            </a:avLst>
          </a:prstGeom>
          <a:noFill/>
          <a:ln w="167640">
            <a:solidFill>
              <a:srgbClr val="34C759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37976" y="1949500"/>
            <a:ext cx="109728" cy="109728"/>
          </a:xfrm>
          <a:prstGeom prst="ellipse">
            <a:avLst/>
          </a:prstGeom>
          <a:noFill/>
          <a:ln w="167640">
            <a:solidFill>
              <a:srgbClr val="34C759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1199571" y="2136038"/>
            <a:ext cx="164592" cy="142646"/>
          </a:xfrm>
          <a:prstGeom prst="roundRect">
            <a:avLst>
              <a:gd name="adj" fmla="val 50000"/>
            </a:avLst>
          </a:prstGeom>
          <a:noFill/>
          <a:ln w="167640">
            <a:solidFill>
              <a:srgbClr val="34C759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542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文档驱动的虚拟团队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926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现在的协作方式</a:t>
            </a:r>
          </a:p>
        </p:txBody>
      </p:sp>
      <p:sp>
        <p:nvSpPr>
          <p:cNvPr id="47" name="Oval 46"/>
          <p:cNvSpPr/>
          <p:nvPr/>
        </p:nvSpPr>
        <p:spPr>
          <a:xfrm>
            <a:off x="8339328" y="3456432"/>
            <a:ext cx="82296" cy="82296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22208" y="33832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一套文档成为团队「共同记忆」</a:t>
            </a:r>
          </a:p>
        </p:txBody>
      </p:sp>
      <p:sp>
        <p:nvSpPr>
          <p:cNvPr id="49" name="Oval 48"/>
          <p:cNvSpPr/>
          <p:nvPr/>
        </p:nvSpPr>
        <p:spPr>
          <a:xfrm>
            <a:off x="8339328" y="3877056"/>
            <a:ext cx="82296" cy="82296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22208" y="3803904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明确分工 + 人工审核闸门</a:t>
            </a:r>
          </a:p>
        </p:txBody>
      </p:sp>
      <p:sp>
        <p:nvSpPr>
          <p:cNvPr id="51" name="Oval 50"/>
          <p:cNvSpPr/>
          <p:nvPr/>
        </p:nvSpPr>
        <p:spPr>
          <a:xfrm>
            <a:off x="8339328" y="4297680"/>
            <a:ext cx="82296" cy="82296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22208" y="422452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唯一 Git 仓库 + PR 复核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285232"/>
            <a:ext cx="11064240" cy="932688"/>
          </a:xfrm>
          <a:prstGeom prst="roundRect">
            <a:avLst>
              <a:gd name="adj" fmla="val 10000"/>
            </a:avLst>
          </a:prstGeom>
          <a:solidFill>
            <a:srgbClr val="10356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394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C001"/>
                </a:solidFill>
                <a:latin typeface="Microsoft YaHei"/>
                <a:ea typeface="Microsoft YaHei"/>
                <a:cs typeface="Microsoft YaHei"/>
              </a:rPr>
              <a:t>于是有了对策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395728" y="5413248"/>
            <a:ext cx="2871216" cy="603504"/>
          </a:xfrm>
          <a:prstGeom prst="roundRect">
            <a:avLst>
              <a:gd name="adj" fmla="val 8000"/>
            </a:avLst>
          </a:prstGeom>
          <a:solidFill>
            <a:srgbClr val="1B4483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87168" y="5413248"/>
            <a:ext cx="268833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重复介绍 → 开工先读文档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31536" y="5413248"/>
            <a:ext cx="2871216" cy="603504"/>
          </a:xfrm>
          <a:prstGeom prst="roundRect">
            <a:avLst>
              <a:gd name="adj" fmla="val 8000"/>
            </a:avLst>
          </a:prstGeom>
          <a:solidFill>
            <a:srgbClr val="1B4483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22976" y="5413248"/>
            <a:ext cx="268833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上下文丢失 → CHANGELOG 每日交接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67344" y="5413248"/>
            <a:ext cx="2871216" cy="603504"/>
          </a:xfrm>
          <a:prstGeom prst="roundRect">
            <a:avLst>
              <a:gd name="adj" fmla="val 8000"/>
            </a:avLst>
          </a:prstGeom>
          <a:solidFill>
            <a:srgbClr val="1B4483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58784" y="5413248"/>
            <a:ext cx="2688336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版本撞车 → 唯一主文件 + PR 闸门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多 Agent 协同 · 团队作战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一个任务，怎样被「虚拟团队」完成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每个 Agent 只读该读的文档、只改该改的文件；人始终掌握「拍板权」。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444752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提需求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1444752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出原型 + 交接单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5503" y="1444752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人工审核闸门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444752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按规格开发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1444752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测试验收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48672" y="1444752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合并 + 更新文档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9" y="1883664"/>
            <a:ext cx="1517904" cy="2706624"/>
          </a:xfrm>
          <a:prstGeom prst="rect">
            <a:avLst/>
          </a:prstGeom>
          <a:solidFill>
            <a:srgbClr val="FFF6D9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1883664"/>
            <a:ext cx="1335024" cy="5669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524">
            <a:solidFill>
              <a:srgbClr val="E2E8F2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883664"/>
            <a:ext cx="12618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业务人员（人）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56816" y="1883664"/>
            <a:ext cx="9582912" cy="566928"/>
          </a:xfrm>
          <a:prstGeom prst="rect">
            <a:avLst/>
          </a:prstGeom>
          <a:solidFill>
            <a:srgbClr val="FFFFFF"/>
          </a:solidFill>
          <a:ln w="381">
            <a:solidFill>
              <a:srgbClr val="EDF1F6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2560320"/>
            <a:ext cx="1335024" cy="5669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524">
            <a:solidFill>
              <a:srgbClr val="E2E8F2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560320"/>
            <a:ext cx="12618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设计 · Trae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6816" y="2560320"/>
            <a:ext cx="9582912" cy="566928"/>
          </a:xfrm>
          <a:prstGeom prst="rect">
            <a:avLst/>
          </a:prstGeom>
          <a:solidFill>
            <a:srgbClr val="FAFBFE"/>
          </a:solidFill>
          <a:ln w="381">
            <a:solidFill>
              <a:srgbClr val="EDF1F6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236976"/>
            <a:ext cx="1335024" cy="5669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524">
            <a:solidFill>
              <a:srgbClr val="E2E8F2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236976"/>
            <a:ext cx="12618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开发 · Grok 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56816" y="3236976"/>
            <a:ext cx="9582912" cy="566928"/>
          </a:xfrm>
          <a:prstGeom prst="rect">
            <a:avLst/>
          </a:prstGeom>
          <a:solidFill>
            <a:srgbClr val="FFFFFF"/>
          </a:solidFill>
          <a:ln w="381">
            <a:solidFill>
              <a:srgbClr val="EDF1F6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3913631"/>
            <a:ext cx="1335024" cy="566928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524">
            <a:solidFill>
              <a:srgbClr val="E2E8F2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913631"/>
            <a:ext cx="12618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测试 · DeepSeek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56816" y="3913631"/>
            <a:ext cx="9582912" cy="566928"/>
          </a:xfrm>
          <a:prstGeom prst="rect">
            <a:avLst/>
          </a:prstGeom>
          <a:solidFill>
            <a:srgbClr val="FAFBFE"/>
          </a:solidFill>
          <a:ln w="381">
            <a:solidFill>
              <a:srgbClr val="EDF1F6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57799" y="4261104"/>
            <a:ext cx="1426464" cy="237744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799" y="4261104"/>
            <a:ext cx="14264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无 approved 不开工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30552" y="1920240"/>
            <a:ext cx="1316736" cy="493776"/>
          </a:xfrm>
          <a:prstGeom prst="roundRect">
            <a:avLst>
              <a:gd name="adj" fmla="val 8000"/>
            </a:avLst>
          </a:prstGeom>
          <a:solidFill>
            <a:srgbClr val="FFC001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0552" y="1920240"/>
            <a:ext cx="131673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一句话</a:t>
            </a:r>
          </a:p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提需求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21608" y="2596896"/>
            <a:ext cx="1316736" cy="493776"/>
          </a:xfrm>
          <a:prstGeom prst="roundRect">
            <a:avLst>
              <a:gd name="adj" fmla="val 8000"/>
            </a:avLst>
          </a:prstGeom>
          <a:solidFill>
            <a:srgbClr val="0859A8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1608" y="2596896"/>
            <a:ext cx="131673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可点原型</a:t>
            </a:r>
          </a:p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HANDOFF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12664" y="1920240"/>
            <a:ext cx="1316736" cy="493776"/>
          </a:xfrm>
          <a:prstGeom prst="roundRect">
            <a:avLst>
              <a:gd name="adj" fmla="val 8000"/>
            </a:avLst>
          </a:prstGeom>
          <a:solidFill>
            <a:srgbClr val="FFC001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2664" y="1920240"/>
            <a:ext cx="131673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试用 · 批准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3720" y="3273552"/>
            <a:ext cx="1316736" cy="493776"/>
          </a:xfrm>
          <a:prstGeom prst="roundRect">
            <a:avLst>
              <a:gd name="adj" fmla="val 8000"/>
            </a:avLst>
          </a:prstGeom>
          <a:solidFill>
            <a:srgbClr val="6E5CE6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3273552"/>
            <a:ext cx="131673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改主文件</a:t>
            </a:r>
          </a:p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 feat 分支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94776" y="3950207"/>
            <a:ext cx="1316736" cy="493776"/>
          </a:xfrm>
          <a:prstGeom prst="roundRect">
            <a:avLst>
              <a:gd name="adj" fmla="val 8000"/>
            </a:avLst>
          </a:prstGeom>
          <a:solidFill>
            <a:srgbClr val="13A89E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4776" y="3950207"/>
            <a:ext cx="131673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种状态</a:t>
            </a:r>
          </a:p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逐一验收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94776" y="1920240"/>
            <a:ext cx="1316736" cy="493776"/>
          </a:xfrm>
          <a:prstGeom prst="roundRect">
            <a:avLst>
              <a:gd name="adj" fmla="val 8000"/>
            </a:avLst>
          </a:prstGeom>
          <a:solidFill>
            <a:srgbClr val="FFC001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4776" y="1920240"/>
            <a:ext cx="131673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复验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5832" y="3273552"/>
            <a:ext cx="1316736" cy="493776"/>
          </a:xfrm>
          <a:prstGeom prst="roundRect">
            <a:avLst>
              <a:gd name="adj" fmla="val 8000"/>
            </a:avLst>
          </a:prstGeom>
          <a:solidFill>
            <a:srgbClr val="6E5CE6"/>
          </a:solidFill>
          <a:ln>
            <a:noFill/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5832" y="3273552"/>
            <a:ext cx="131673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合并 PR</a:t>
            </a:r>
          </a:p>
          <a:p>
            <a:pPr algn="ctr">
              <a:lnSpc>
                <a:spcPct val="98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同步文档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447288" y="2167128"/>
            <a:ext cx="274320" cy="676656"/>
          </a:xfrm>
          <a:prstGeom prst="line">
            <a:avLst/>
          </a:prstGeom>
          <a:ln w="17780">
            <a:solidFill>
              <a:srgbClr val="9FB4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038344" y="2167128"/>
            <a:ext cx="274320" cy="676656"/>
          </a:xfrm>
          <a:prstGeom prst="line">
            <a:avLst/>
          </a:prstGeom>
          <a:ln w="17780">
            <a:solidFill>
              <a:srgbClr val="9FB4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629399" y="2167128"/>
            <a:ext cx="274321" cy="1353312"/>
          </a:xfrm>
          <a:prstGeom prst="line">
            <a:avLst/>
          </a:prstGeom>
          <a:ln w="17780">
            <a:solidFill>
              <a:srgbClr val="9FB4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20456" y="3520440"/>
            <a:ext cx="274320" cy="676655"/>
          </a:xfrm>
          <a:prstGeom prst="line">
            <a:avLst/>
          </a:prstGeom>
          <a:ln w="17780">
            <a:solidFill>
              <a:srgbClr val="9FB4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8494776" y="2167128"/>
            <a:ext cx="1316736" cy="2029967"/>
          </a:xfrm>
          <a:prstGeom prst="line">
            <a:avLst/>
          </a:prstGeom>
          <a:ln w="17780">
            <a:solidFill>
              <a:srgbClr val="9FB4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811512" y="2167128"/>
            <a:ext cx="274320" cy="1353312"/>
          </a:xfrm>
          <a:prstGeom prst="line">
            <a:avLst/>
          </a:prstGeom>
          <a:ln w="17780">
            <a:solidFill>
              <a:srgbClr val="9FB4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66928" y="4773168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0B2F66"/>
          </a:solidFill>
          <a:ln w="9525">
            <a:solidFill>
              <a:srgbClr val="0B2F66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6112" y="5020056"/>
            <a:ext cx="283464" cy="374904"/>
          </a:xfrm>
          <a:prstGeom prst="roundRect">
            <a:avLst>
              <a:gd name="adj" fmla="val 6000"/>
            </a:avLst>
          </a:prstGeom>
          <a:noFill/>
          <a:ln w="83820">
            <a:solidFill>
              <a:srgbClr val="FFC001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88136" y="502005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088136" y="502005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46403" y="5175504"/>
            <a:ext cx="178309" cy="0"/>
          </a:xfrm>
          <a:prstGeom prst="line">
            <a:avLst/>
          </a:prstGeom>
          <a:ln w="76835">
            <a:solidFill>
              <a:srgbClr val="FFC0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46403" y="5239512"/>
            <a:ext cx="178309" cy="0"/>
          </a:xfrm>
          <a:prstGeom prst="line">
            <a:avLst/>
          </a:prstGeom>
          <a:ln w="76835">
            <a:solidFill>
              <a:srgbClr val="FFC0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6403" y="5303520"/>
            <a:ext cx="178309" cy="0"/>
          </a:xfrm>
          <a:prstGeom prst="line">
            <a:avLst/>
          </a:prstGeom>
          <a:ln w="76835">
            <a:solidFill>
              <a:srgbClr val="FFC0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371600" y="493776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001"/>
                </a:solidFill>
                <a:latin typeface="Microsoft YaHei"/>
                <a:ea typeface="Microsoft YaHei"/>
                <a:cs typeface="Microsoft YaHei"/>
              </a:rPr>
              <a:t>共同记忆</a:t>
            </a:r>
          </a:p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项目文档中枢</a:t>
            </a:r>
          </a:p>
          <a:p>
            <a:pPr algn="l"/>
            <a:r>
              <a:rPr sz="850" b="0" i="0">
                <a:solidFill>
                  <a:srgbClr val="BFD6F5"/>
                </a:solidFill>
                <a:latin typeface="Microsoft YaHei"/>
                <a:ea typeface="Microsoft YaHei"/>
                <a:cs typeface="Microsoft YaHei"/>
              </a:rPr>
              <a:t>开工前先读 · 收工后更新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86200" y="4956048"/>
            <a:ext cx="1444752" cy="438912"/>
          </a:xfrm>
          <a:prstGeom prst="roundRect">
            <a:avLst>
              <a:gd name="adj" fmla="val 8000"/>
            </a:avLst>
          </a:prstGeom>
          <a:solidFill>
            <a:srgbClr val="173E74"/>
          </a:solidFill>
          <a:ln w="1524">
            <a:solidFill>
              <a:srgbClr val="2E5A9E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86200" y="4956048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CE9FF"/>
                </a:solidFill>
                <a:latin typeface="Microsoft YaHei"/>
                <a:ea typeface="Microsoft YaHei"/>
                <a:cs typeface="Microsoft YaHei"/>
              </a:rPr>
              <a:t>README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58968" y="4956048"/>
            <a:ext cx="1444752" cy="438912"/>
          </a:xfrm>
          <a:prstGeom prst="roundRect">
            <a:avLst>
              <a:gd name="adj" fmla="val 8000"/>
            </a:avLst>
          </a:prstGeom>
          <a:solidFill>
            <a:srgbClr val="173E74"/>
          </a:solidFill>
          <a:ln w="1524">
            <a:solidFill>
              <a:srgbClr val="2E5A9E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58968" y="4956048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CE9FF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31736" y="4956048"/>
            <a:ext cx="1444752" cy="438912"/>
          </a:xfrm>
          <a:prstGeom prst="roundRect">
            <a:avLst>
              <a:gd name="adj" fmla="val 8000"/>
            </a:avLst>
          </a:prstGeom>
          <a:solidFill>
            <a:srgbClr val="173E74"/>
          </a:solidFill>
          <a:ln w="1524">
            <a:solidFill>
              <a:srgbClr val="2E5A9E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31736" y="4956048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CE9FF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86200" y="5522976"/>
            <a:ext cx="1444752" cy="438912"/>
          </a:xfrm>
          <a:prstGeom prst="roundRect">
            <a:avLst>
              <a:gd name="adj" fmla="val 8000"/>
            </a:avLst>
          </a:prstGeom>
          <a:solidFill>
            <a:srgbClr val="173E74"/>
          </a:solidFill>
          <a:ln w="1524">
            <a:solidFill>
              <a:srgbClr val="2E5A9E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86200" y="5522976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CE9FF"/>
                </a:solidFill>
                <a:latin typeface="Microsoft YaHei"/>
                <a:ea typeface="Microsoft YaHei"/>
                <a:cs typeface="Microsoft YaHei"/>
              </a:rPr>
              <a:t>CHANGELOG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58968" y="5522976"/>
            <a:ext cx="1444752" cy="438912"/>
          </a:xfrm>
          <a:prstGeom prst="roundRect">
            <a:avLst>
              <a:gd name="adj" fmla="val 8000"/>
            </a:avLst>
          </a:prstGeom>
          <a:solidFill>
            <a:srgbClr val="173E74"/>
          </a:solidFill>
          <a:ln w="1524">
            <a:solidFill>
              <a:srgbClr val="2E5A9E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58968" y="5522976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CE9FF"/>
                </a:solidFill>
                <a:latin typeface="Microsoft YaHei"/>
                <a:ea typeface="Microsoft YaHei"/>
                <a:cs typeface="Microsoft YaHei"/>
              </a:rPr>
              <a:t>DECISIONS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31736" y="5522976"/>
            <a:ext cx="1444752" cy="438912"/>
          </a:xfrm>
          <a:prstGeom prst="roundRect">
            <a:avLst>
              <a:gd name="adj" fmla="val 8000"/>
            </a:avLst>
          </a:prstGeom>
          <a:solidFill>
            <a:srgbClr val="173E74"/>
          </a:solidFill>
          <a:ln w="1524">
            <a:solidFill>
              <a:srgbClr val="2E5A9E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31736" y="5522976"/>
            <a:ext cx="14447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CE9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69" name="Oval 68"/>
          <p:cNvSpPr/>
          <p:nvPr/>
        </p:nvSpPr>
        <p:spPr>
          <a:xfrm>
            <a:off x="8796528" y="5029200"/>
            <a:ext cx="91440" cy="91440"/>
          </a:xfrm>
          <a:prstGeom prst="ellipse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79408" y="4937760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 approved 不开工</a:t>
            </a:r>
          </a:p>
        </p:txBody>
      </p:sp>
      <p:sp>
        <p:nvSpPr>
          <p:cNvPr id="71" name="Oval 70"/>
          <p:cNvSpPr/>
          <p:nvPr/>
        </p:nvSpPr>
        <p:spPr>
          <a:xfrm>
            <a:off x="8796528" y="5413248"/>
            <a:ext cx="91440" cy="91440"/>
          </a:xfrm>
          <a:prstGeom prst="ellipse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79408" y="5321808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人负责判断拍板，AI 负责设计实现</a:t>
            </a:r>
          </a:p>
        </p:txBody>
      </p:sp>
      <p:sp>
        <p:nvSpPr>
          <p:cNvPr id="73" name="Oval 72"/>
          <p:cNvSpPr/>
          <p:nvPr/>
        </p:nvSpPr>
        <p:spPr>
          <a:xfrm>
            <a:off x="8796528" y="5797296"/>
            <a:ext cx="91440" cy="91440"/>
          </a:xfrm>
          <a:prstGeom prst="ellipse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79408" y="570585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 / 口径改动必须 PR 复核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多 Agent 协同 · 关键一招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给 AI 建立「交接班制度」，新助手几分钟上手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六份文档把项目讲得明明白白；新 AI 读文档即可开工，过去的经验不流失。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81328"/>
          <a:ext cx="6967728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298448"/>
                <a:gridCol w="4187952"/>
              </a:tblGrid>
              <a:tr h="56431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</a:t>
                      </a:r>
                    </a:p>
                  </a:txBody>
                  <a:tcPr marL="109728">
                    <a:solidFill>
                      <a:srgbClr val="0B2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它像什么</a:t>
                      </a:r>
                    </a:p>
                  </a:txBody>
                  <a:tcPr marL="109728">
                    <a:solidFill>
                      <a:srgbClr val="0B2F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marL="109728">
                    <a:solidFill>
                      <a:srgbClr val="0B2F66"/>
                    </a:solidFill>
                  </a:tcPr>
                </a:tc>
              </a:tr>
              <a:tr h="564315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859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README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项目门牌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当前版本与使用方式，一眼知道「这是什么」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64315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859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业务口径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每个数字怎么算，规则统一、绝不跑偏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</a:tr>
              <a:tr h="564315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859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ARCHITECTURE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技术地图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代码如何组织，新功能从哪里加、怎么扩展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64315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859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CHANGELOG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施工日志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今天改了什么、明天从哪里接着做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</a:tr>
              <a:tr h="564315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859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DECISIONS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决策档案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 项关键决策与踩坑记录，同一个坑不踩第二次</a:t>
                      </a:r>
                    </a:p>
                  </a:txBody>
                  <a:tcPr marL="109728" marT="36576" marB="36576">
                    <a:solidFill>
                      <a:srgbClr val="FFFFFF"/>
                    </a:solidFill>
                  </a:tcPr>
                </a:tc>
              </a:tr>
              <a:tr h="56431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859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分工纪律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 AI 能改什么、提交前必须检查什么</a:t>
                      </a:r>
                    </a:p>
                  </a:txBody>
                  <a:tcPr marL="109728" marT="36576" marB="36576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35824" y="1481328"/>
            <a:ext cx="3895344" cy="3950208"/>
          </a:xfrm>
          <a:prstGeom prst="roundRect">
            <a:avLst>
              <a:gd name="adj" fmla="val 6000"/>
            </a:avLst>
          </a:prstGeom>
          <a:solidFill>
            <a:srgbClr val="FFFBEE"/>
          </a:solidFill>
          <a:ln w="9525">
            <a:solidFill>
              <a:srgbClr val="F0DFA6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91856" y="17190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71907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交接 HANDOFF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286000"/>
            <a:ext cx="340156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设计 AI 写清「怎么做、数字从哪来」；</a:t>
            </a:r>
          </a:p>
          <a:p>
            <a:pPr algn="l"/>
            <a:r>
              <a:rPr sz="10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人批准后，开发 AI 才动工。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1856" y="3456432"/>
            <a:ext cx="3383280" cy="10972"/>
          </a:xfrm>
          <a:prstGeom prst="rect">
            <a:avLst/>
          </a:prstGeom>
          <a:solidFill>
            <a:srgbClr val="E4D29A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91856" y="3584448"/>
            <a:ext cx="3401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6D1F"/>
                </a:solidFill>
                <a:latin typeface="Microsoft YaHei"/>
                <a:ea typeface="Microsoft YaHei"/>
                <a:cs typeface="Microsoft YaHei"/>
              </a:rPr>
              <a:t>带来什么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3913632"/>
            <a:ext cx="34015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新 AI 读文档即可开工，不用人从头描述；过去的决策与经验不会流失。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4828032"/>
            <a:ext cx="3401568" cy="457200"/>
          </a:xfrm>
          <a:prstGeom prst="roundRect">
            <a:avLst>
              <a:gd name="adj" fmla="val 8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4828032"/>
            <a:ext cx="34015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人批准后才动工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687568"/>
            <a:ext cx="11064240" cy="530352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">
            <a:solidFill>
              <a:srgbClr val="CFE0F5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842345" y="5878128"/>
            <a:ext cx="174102" cy="174102"/>
          </a:xfrm>
          <a:prstGeom prst="line">
            <a:avLst/>
          </a:prstGeom>
          <a:ln w="94996">
            <a:solidFill>
              <a:srgbClr val="085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966703" y="5815949"/>
            <a:ext cx="124359" cy="124359"/>
          </a:xfrm>
          <a:custGeom>
            <a:avLst/>
            <a:gdLst/>
            <a:ahLst/>
            <a:cxnLst/>
            <a:rect l="l" t="t" r="r" b="b"/>
            <a:pathLst>
              <a:path w="124359" h="124359">
                <a:moveTo>
                  <a:pt x="62179" y="0"/>
                </a:moveTo>
                <a:lnTo>
                  <a:pt x="80833" y="43526"/>
                </a:lnTo>
                <a:lnTo>
                  <a:pt x="124359" y="62179"/>
                </a:lnTo>
                <a:lnTo>
                  <a:pt x="80833" y="80833"/>
                </a:lnTo>
                <a:lnTo>
                  <a:pt x="62179" y="124359"/>
                </a:lnTo>
                <a:lnTo>
                  <a:pt x="43526" y="80833"/>
                </a:lnTo>
                <a:lnTo>
                  <a:pt x="0" y="62179"/>
                </a:lnTo>
                <a:lnTo>
                  <a:pt x="43526" y="43526"/>
                </a:lnTo>
                <a:close/>
              </a:path>
            </a:pathLst>
          </a:custGeom>
          <a:solidFill>
            <a:srgbClr val="085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5687568"/>
            <a:ext cx="4754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文档全程由 Agent 生成、维护与更新——人不用再边写代码边补文档。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5806440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50800" rIns="50800" tIns="0" bIns="0"/>
          <a:lstStyle/>
          <a:p>
            <a:pPr algn="ctr"/>
            <a:r>
              <a:rPr sz="8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35 项决策留档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5806440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50800" rIns="50800" tIns="0" bIns="0"/>
          <a:lstStyle/>
          <a:p>
            <a:pPr algn="ctr"/>
            <a:r>
              <a:rPr sz="8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CHANGELOG 按日追加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5806440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50800" rIns="50800" tIns="0" bIns="0"/>
          <a:lstStyle/>
          <a:p>
            <a:pPr algn="ctr"/>
            <a:r>
              <a:rPr sz="8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提交必须同笔带文档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开发实战 · 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「单号直查」：一个真实功能，六天内上线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现场要回答「这一单卡在哪」，过去只能回放行系统翻原始记录——这次，看板自己给出了答案。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87552" y="1627632"/>
            <a:ext cx="0" cy="3328416"/>
          </a:xfrm>
          <a:prstGeom prst="line">
            <a:avLst/>
          </a:prstGeom>
          <a:ln w="25400">
            <a:solidFill>
              <a:srgbClr val="C5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32104" y="1472184"/>
            <a:ext cx="310896" cy="310896"/>
          </a:xfrm>
          <a:prstGeom prst="ellipse">
            <a:avLst/>
          </a:prstGeom>
          <a:solidFill>
            <a:srgbClr val="0859A8"/>
          </a:solidFill>
          <a:ln w="19050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749808" cy="210312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828800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10-07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4356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提需求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444752"/>
            <a:ext cx="1078992" cy="246888"/>
          </a:xfrm>
          <a:prstGeom prst="roundRect">
            <a:avLst>
              <a:gd name="adj" fmla="val 50000"/>
            </a:avLst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1444752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709928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看板能答「多少单超时」，答不了「这一单为什么卡住」。</a:t>
            </a:r>
          </a:p>
        </p:txBody>
      </p:sp>
      <p:sp>
        <p:nvSpPr>
          <p:cNvPr id="16" name="Oval 15"/>
          <p:cNvSpPr/>
          <p:nvPr/>
        </p:nvSpPr>
        <p:spPr>
          <a:xfrm>
            <a:off x="832104" y="2007107"/>
            <a:ext cx="310896" cy="310896"/>
          </a:xfrm>
          <a:prstGeom prst="ellipse">
            <a:avLst/>
          </a:prstGeom>
          <a:solidFill>
            <a:srgbClr val="01B0F0"/>
          </a:solidFill>
          <a:ln w="19050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363724"/>
            <a:ext cx="749808" cy="210312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63724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10-07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19705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出方案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07792" y="1979676"/>
            <a:ext cx="1078992" cy="246888"/>
          </a:xfrm>
          <a:prstGeom prst="roundRect">
            <a:avLst>
              <a:gd name="adj" fmla="val 50000"/>
            </a:avLst>
          </a:prstGeom>
          <a:solidFill>
            <a:srgbClr val="01B0F0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1979676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244852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可点击原型 + HANDOFF 规格书，一次给出 A / B / C 三种形态。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" y="2542032"/>
            <a:ext cx="310896" cy="310896"/>
          </a:xfrm>
          <a:prstGeom prst="ellipse">
            <a:avLst/>
          </a:prstGeom>
          <a:solidFill>
            <a:srgbClr val="FFC001"/>
          </a:solidFill>
          <a:ln w="19050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2898648"/>
            <a:ext cx="749808" cy="210312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898648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10-13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250545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评审选型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2" y="2514600"/>
            <a:ext cx="1078992" cy="246888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2514600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2779776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试用后拍板「就按照这个原型来」：选定形态 A，B/C 存档备用。</a:t>
            </a:r>
          </a:p>
        </p:txBody>
      </p:sp>
      <p:sp>
        <p:nvSpPr>
          <p:cNvPr id="30" name="Oval 29"/>
          <p:cNvSpPr/>
          <p:nvPr/>
        </p:nvSpPr>
        <p:spPr>
          <a:xfrm>
            <a:off x="832104" y="3076956"/>
            <a:ext cx="310896" cy="31089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3433572"/>
            <a:ext cx="749808" cy="210312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433572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10-13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0403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冻结交接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07792" y="3049524"/>
            <a:ext cx="1078992" cy="2468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2" y="3049524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 +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3314700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锁定入口、抽屉宽度、超时配色口径，写进 freeze 清单。</a:t>
            </a:r>
          </a:p>
        </p:txBody>
      </p:sp>
      <p:sp>
        <p:nvSpPr>
          <p:cNvPr id="37" name="Oval 36"/>
          <p:cNvSpPr/>
          <p:nvPr/>
        </p:nvSpPr>
        <p:spPr>
          <a:xfrm>
            <a:off x="832104" y="3611879"/>
            <a:ext cx="310896" cy="310896"/>
          </a:xfrm>
          <a:prstGeom prst="ellipse">
            <a:avLst/>
          </a:prstGeom>
          <a:solidFill>
            <a:srgbClr val="6E5CE6"/>
          </a:solidFill>
          <a:ln w="19050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6928" y="3968496"/>
            <a:ext cx="749808" cy="210312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968496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357530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开发实现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07792" y="3584448"/>
            <a:ext cx="1078992" cy="246888"/>
          </a:xfrm>
          <a:prstGeom prst="roundRect">
            <a:avLst>
              <a:gd name="adj" fmla="val 50000"/>
            </a:avLst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2" y="3584448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Grok Build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8448" y="3849624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4 类入口 + Ctrl+K，复用现有抽屉，统计口径零改动。</a:t>
            </a:r>
          </a:p>
        </p:txBody>
      </p:sp>
      <p:sp>
        <p:nvSpPr>
          <p:cNvPr id="44" name="Oval 43"/>
          <p:cNvSpPr/>
          <p:nvPr/>
        </p:nvSpPr>
        <p:spPr>
          <a:xfrm>
            <a:off x="832104" y="4146804"/>
            <a:ext cx="310896" cy="310896"/>
          </a:xfrm>
          <a:prstGeom prst="ellipse">
            <a:avLst/>
          </a:prstGeom>
          <a:solidFill>
            <a:srgbClr val="13A89E"/>
          </a:solidFill>
          <a:ln w="19050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6928" y="4503420"/>
            <a:ext cx="749808" cy="210312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503420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10-13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411022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测试完善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07792" y="4119372"/>
            <a:ext cx="1078992" cy="246888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07792" y="4119372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DeepSeek + 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4384548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5 种状态单逐一验收；超时状态色全局统一（D-33）。</a:t>
            </a:r>
          </a:p>
        </p:txBody>
      </p:sp>
      <p:sp>
        <p:nvSpPr>
          <p:cNvPr id="51" name="Oval 50"/>
          <p:cNvSpPr/>
          <p:nvPr/>
        </p:nvSpPr>
        <p:spPr>
          <a:xfrm>
            <a:off x="832104" y="4681728"/>
            <a:ext cx="310896" cy="310896"/>
          </a:xfrm>
          <a:prstGeom prst="ellipse">
            <a:avLst/>
          </a:prstGeom>
          <a:solidFill>
            <a:srgbClr val="0859A8"/>
          </a:solidFill>
          <a:ln w="19050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66928" y="5038344"/>
            <a:ext cx="749808" cy="210312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5038344"/>
            <a:ext cx="749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10-14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98448" y="46451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沉淀固化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07792" y="4654296"/>
            <a:ext cx="1078992" cy="246888"/>
          </a:xfrm>
          <a:prstGeom prst="roundRect">
            <a:avLst>
              <a:gd name="adj" fmla="val 50000"/>
            </a:avLst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4654296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8448" y="4919472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Agent 自更新文档、HANDOFF→shipped；立下 PR 闸门（D-35）。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97880" y="1517904"/>
            <a:ext cx="5733288" cy="3767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pic>
        <p:nvPicPr>
          <p:cNvPr id="59" name="Picture 58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1627632"/>
            <a:ext cx="5513832" cy="3401568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6035040" y="5029200"/>
            <a:ext cx="2606040" cy="274320"/>
          </a:xfrm>
          <a:prstGeom prst="roundRect">
            <a:avLst>
              <a:gd name="adj" fmla="val 50000"/>
            </a:avLst>
          </a:prstGeom>
          <a:solidFill>
            <a:srgbClr val="EAF3FC"/>
          </a:solidFill>
          <a:ln>
            <a:noFill/>
          </a:ln>
        </p:spPr>
        <p:txBody>
          <a:bodyPr rtlCol="0" anchor="ctr" lIns="50800" rIns="50800" tIns="0" bIns="0"/>
          <a:lstStyle/>
          <a:p>
            <a:pPr algn="ctr"/>
            <a:r>
              <a:rPr sz="8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① 节点进度 · 总耗时自动计算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32520" y="5029200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lIns="50800" rIns="50800" tIns="0" bIns="0"/>
          <a:lstStyle/>
          <a:p>
            <a:pPr algn="ctr"/>
            <a:r>
              <a:rPr sz="850" b="1" i="0">
                <a:solidFill>
                  <a:srgbClr val="F0443E"/>
                </a:solidFill>
                <a:latin typeface="Microsoft YaHei"/>
                <a:ea typeface="Microsoft YaHei"/>
                <a:cs typeface="Microsoft YaHei"/>
              </a:rPr>
              <a:t>② 红色自动标出「最长卡点」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5449824"/>
            <a:ext cx="11064240" cy="841248"/>
          </a:xfrm>
          <a:prstGeom prst="roundRect">
            <a:avLst>
              <a:gd name="adj" fmla="val 10000"/>
            </a:avLst>
          </a:prstGeom>
          <a:solidFill>
            <a:srgbClr val="0B2F6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68680" y="565099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" y="5650992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10-07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46504" y="565099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三形态原型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2990087" y="5705856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E639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337560" y="565099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37560" y="5650992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10-13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15384" y="565099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选定 A · 当天上线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5458968" y="5705856"/>
            <a:ext cx="237744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E639C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806440" y="5650992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06440" y="5650992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10-14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84264" y="565099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立下 PR 复核闸门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83879" y="5541264"/>
            <a:ext cx="32918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FFC001"/>
                </a:solidFill>
                <a:latin typeface="Microsoft YaHei"/>
                <a:ea typeface="Microsoft YaHei"/>
                <a:cs typeface="Microsoft YaHei"/>
              </a:rPr>
              <a:t>全程，人只做了一个决定——选 A。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实际成效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开发节奏：从「按月等」变成「按天交」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以「单号直查」为标尺：原型到上线 6 天，实现只花了当天；更大的价值是把 IT 资源还给核心系统。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5806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小功能上线周期对比（天 · 经验估算）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77240" y="1938528"/>
          <a:ext cx="54406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230368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注：传统流程约 1~2 个月（取 45 天示意）；本项目 10-07 出原型、10-13 上线。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81328"/>
            <a:ext cx="24505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481328"/>
            <a:ext cx="73152" cy="1828800"/>
          </a:xfrm>
          <a:prstGeom prst="rect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435888" y="1738091"/>
            <a:ext cx="76810" cy="199705"/>
          </a:xfrm>
          <a:custGeom>
            <a:avLst/>
            <a:gdLst/>
            <a:ahLst/>
            <a:cxnLst/>
            <a:rect l="l" t="t" r="r" b="b"/>
            <a:pathLst>
              <a:path w="76810" h="199705">
                <a:moveTo>
                  <a:pt x="76810" y="0"/>
                </a:moveTo>
                <a:lnTo>
                  <a:pt x="0" y="99853"/>
                </a:lnTo>
                <a:lnTo>
                  <a:pt x="76810" y="199705"/>
                </a:lnTo>
                <a:close/>
              </a:path>
            </a:pathLst>
          </a:custGeom>
          <a:noFill/>
          <a:ln w="117348">
            <a:solidFill>
              <a:srgbClr val="085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604869" y="1738091"/>
            <a:ext cx="76810" cy="199705"/>
          </a:xfrm>
          <a:custGeom>
            <a:avLst/>
            <a:gdLst/>
            <a:ahLst/>
            <a:cxnLst/>
            <a:rect l="l" t="t" r="r" b="b"/>
            <a:pathLst>
              <a:path w="76810" h="199705">
                <a:moveTo>
                  <a:pt x="0" y="0"/>
                </a:moveTo>
                <a:lnTo>
                  <a:pt x="76810" y="99853"/>
                </a:lnTo>
                <a:lnTo>
                  <a:pt x="0" y="199705"/>
                </a:lnTo>
                <a:close/>
              </a:path>
            </a:pathLst>
          </a:custGeom>
          <a:noFill/>
          <a:ln w="117348">
            <a:solidFill>
              <a:srgbClr val="085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>
            <a:off x="8528060" y="1722729"/>
            <a:ext cx="61447" cy="230429"/>
          </a:xfrm>
          <a:prstGeom prst="line">
            <a:avLst/>
          </a:prstGeom>
          <a:ln w="117348">
            <a:solidFill>
              <a:srgbClr val="085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57416" y="1682496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7416" y="22677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行手写代码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261518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全程自然语言对话完成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16568" y="1481328"/>
            <a:ext cx="24505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16568" y="1481328"/>
            <a:ext cx="73152" cy="1828800"/>
          </a:xfrm>
          <a:prstGeom prst="rect">
            <a:avLst/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1060582" y="1653600"/>
            <a:ext cx="153619" cy="268834"/>
          </a:xfrm>
          <a:custGeom>
            <a:avLst/>
            <a:gdLst/>
            <a:ahLst/>
            <a:cxnLst/>
            <a:rect l="l" t="t" r="r" b="b"/>
            <a:pathLst>
              <a:path w="153619" h="268834">
                <a:moveTo>
                  <a:pt x="76810" y="0"/>
                </a:moveTo>
                <a:lnTo>
                  <a:pt x="153619" y="122896"/>
                </a:lnTo>
                <a:lnTo>
                  <a:pt x="122895" y="207386"/>
                </a:lnTo>
                <a:lnTo>
                  <a:pt x="76810" y="268834"/>
                </a:lnTo>
                <a:lnTo>
                  <a:pt x="30724" y="207386"/>
                </a:lnTo>
                <a:lnTo>
                  <a:pt x="0" y="122896"/>
                </a:lnTo>
                <a:close/>
              </a:path>
            </a:pathLst>
          </a:custGeom>
          <a:solidFill>
            <a:srgbClr val="6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98987" y="1753453"/>
            <a:ext cx="76809" cy="768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0991453" y="1814901"/>
            <a:ext cx="69129" cy="69128"/>
          </a:xfrm>
          <a:custGeom>
            <a:avLst/>
            <a:gdLst/>
            <a:ahLst/>
            <a:cxnLst/>
            <a:rect l="l" t="t" r="r" b="b"/>
            <a:pathLst>
              <a:path w="69129" h="69128">
                <a:moveTo>
                  <a:pt x="69129" y="0"/>
                </a:moveTo>
                <a:lnTo>
                  <a:pt x="0" y="53766"/>
                </a:lnTo>
                <a:lnTo>
                  <a:pt x="61448" y="69128"/>
                </a:lnTo>
                <a:close/>
              </a:path>
            </a:pathLst>
          </a:custGeom>
          <a:solidFill>
            <a:srgbClr val="6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1214201" y="1814901"/>
            <a:ext cx="69129" cy="69128"/>
          </a:xfrm>
          <a:custGeom>
            <a:avLst/>
            <a:gdLst/>
            <a:ahLst/>
            <a:cxnLst/>
            <a:rect l="l" t="t" r="r" b="b"/>
            <a:pathLst>
              <a:path w="69129" h="69128">
                <a:moveTo>
                  <a:pt x="0" y="0"/>
                </a:moveTo>
                <a:lnTo>
                  <a:pt x="69129" y="53766"/>
                </a:lnTo>
                <a:lnTo>
                  <a:pt x="7681" y="69128"/>
                </a:lnTo>
                <a:close/>
              </a:path>
            </a:pathLst>
          </a:custGeom>
          <a:solidFill>
            <a:srgbClr val="6E5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1106668" y="1922434"/>
            <a:ext cx="61447" cy="69129"/>
          </a:xfrm>
          <a:custGeom>
            <a:avLst/>
            <a:gdLst/>
            <a:ahLst/>
            <a:cxnLst/>
            <a:rect l="l" t="t" r="r" b="b"/>
            <a:pathLst>
              <a:path w="61447" h="69129">
                <a:moveTo>
                  <a:pt x="0" y="0"/>
                </a:moveTo>
                <a:lnTo>
                  <a:pt x="30724" y="69129"/>
                </a:lnTo>
                <a:lnTo>
                  <a:pt x="61447" y="0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6024" y="1682496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6E5CE6"/>
                </a:solidFill>
                <a:latin typeface="Microsoft YaHei"/>
                <a:ea typeface="Microsoft YaHei"/>
                <a:cs typeface="Microsoft YaHei"/>
              </a:rPr>
              <a:t>6+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2677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个版本迭代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2615184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v2 → v5.6 持续演进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456432"/>
            <a:ext cx="24505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3456432"/>
            <a:ext cx="73152" cy="1828800"/>
          </a:xfrm>
          <a:prstGeom prst="rect">
            <a:avLst/>
          </a:prstGeom>
          <a:solidFill>
            <a:srgbClr val="13A89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43569" y="3651747"/>
            <a:ext cx="238109" cy="314919"/>
          </a:xfrm>
          <a:prstGeom prst="roundRect">
            <a:avLst>
              <a:gd name="adj" fmla="val 6000"/>
            </a:avLst>
          </a:prstGeom>
          <a:noFill/>
          <a:ln w="70408">
            <a:solidFill>
              <a:srgbClr val="13A89E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604869" y="3651747"/>
            <a:ext cx="76810" cy="76810"/>
          </a:xfrm>
          <a:custGeom>
            <a:avLst/>
            <a:gdLst/>
            <a:ahLst/>
            <a:cxnLst/>
            <a:rect l="l" t="t" r="r" b="b"/>
            <a:pathLst>
              <a:path w="76810" h="76810">
                <a:moveTo>
                  <a:pt x="0" y="0"/>
                </a:moveTo>
                <a:lnTo>
                  <a:pt x="76810" y="0"/>
                </a:lnTo>
                <a:lnTo>
                  <a:pt x="76810" y="76810"/>
                </a:lnTo>
                <a:close/>
              </a:path>
            </a:pathLst>
          </a:custGeom>
          <a:solidFill>
            <a:srgbClr val="13A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604869" y="3651747"/>
            <a:ext cx="76810" cy="76810"/>
          </a:xfrm>
          <a:custGeom>
            <a:avLst/>
            <a:gdLst/>
            <a:ahLst/>
            <a:cxnLst/>
            <a:rect l="l" t="t" r="r" b="b"/>
            <a:pathLst>
              <a:path w="76810" h="76810">
                <a:moveTo>
                  <a:pt x="0" y="0"/>
                </a:moveTo>
                <a:lnTo>
                  <a:pt x="76810" y="76810"/>
                </a:lnTo>
                <a:lnTo>
                  <a:pt x="0" y="768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8485814" y="3782324"/>
            <a:ext cx="149779" cy="0"/>
          </a:xfrm>
          <a:prstGeom prst="line">
            <a:avLst/>
          </a:prstGeom>
          <a:ln w="64541">
            <a:solidFill>
              <a:srgbClr val="13A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85814" y="3836090"/>
            <a:ext cx="149779" cy="0"/>
          </a:xfrm>
          <a:prstGeom prst="line">
            <a:avLst/>
          </a:prstGeom>
          <a:ln w="64541">
            <a:solidFill>
              <a:srgbClr val="13A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485814" y="3889857"/>
            <a:ext cx="149779" cy="0"/>
          </a:xfrm>
          <a:prstGeom prst="line">
            <a:avLst/>
          </a:prstGeom>
          <a:ln w="64541">
            <a:solidFill>
              <a:srgbClr val="13A8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57416" y="365760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3A89E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7416" y="4242816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项决策留档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7416" y="45902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DECISIONS 记录不踩旧坑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16568" y="3456432"/>
            <a:ext cx="245059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16568" y="3456432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45368" y="3621024"/>
            <a:ext cx="384048" cy="384048"/>
          </a:xfrm>
          <a:prstGeom prst="ellipse">
            <a:avLst/>
          </a:prstGeom>
          <a:noFill/>
          <a:ln w="117348">
            <a:solidFill>
              <a:srgbClr val="F59E0B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11137392" y="3724716"/>
            <a:ext cx="0" cy="88332"/>
          </a:xfrm>
          <a:prstGeom prst="line">
            <a:avLst/>
          </a:prstGeom>
          <a:ln w="117348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137392" y="3813048"/>
            <a:ext cx="69128" cy="19202"/>
          </a:xfrm>
          <a:prstGeom prst="line">
            <a:avLst/>
          </a:prstGeom>
          <a:ln w="117348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336024" y="365760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20s → 2s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36024" y="4242816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十万行再次打开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36024" y="45902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本地缓存，约 10 倍提速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687568"/>
            <a:ext cx="11064240" cy="548640"/>
          </a:xfrm>
          <a:prstGeom prst="roundRect">
            <a:avLst>
              <a:gd name="adj" fmla="val 14000"/>
            </a:avLst>
          </a:prstGeom>
          <a:solidFill>
            <a:srgbClr val="0B2F6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43076" y="5779922"/>
            <a:ext cx="307239" cy="349484"/>
          </a:xfrm>
          <a:custGeom>
            <a:avLst/>
            <a:gdLst/>
            <a:ahLst/>
            <a:cxnLst/>
            <a:rect l="l" t="t" r="r" b="b"/>
            <a:pathLst>
              <a:path w="307239" h="349484">
                <a:moveTo>
                  <a:pt x="153620" y="0"/>
                </a:moveTo>
                <a:lnTo>
                  <a:pt x="307239" y="57607"/>
                </a:lnTo>
                <a:lnTo>
                  <a:pt x="291877" y="192024"/>
                </a:lnTo>
                <a:lnTo>
                  <a:pt x="153620" y="349484"/>
                </a:lnTo>
                <a:lnTo>
                  <a:pt x="15362" y="192024"/>
                </a:lnTo>
                <a:lnTo>
                  <a:pt x="0" y="57607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27567" y="5891296"/>
            <a:ext cx="145938" cy="111374"/>
          </a:xfrm>
          <a:custGeom>
            <a:avLst/>
            <a:gdLst/>
            <a:ahLst/>
            <a:cxnLst/>
            <a:rect l="l" t="t" r="r" b="b"/>
            <a:pathLst>
              <a:path w="145938" h="111374">
                <a:moveTo>
                  <a:pt x="0" y="61448"/>
                </a:moveTo>
                <a:lnTo>
                  <a:pt x="49926" y="111374"/>
                </a:lnTo>
                <a:lnTo>
                  <a:pt x="145938" y="0"/>
                </a:lnTo>
                <a:close/>
              </a:path>
            </a:pathLst>
          </a:custGeom>
          <a:noFill/>
          <a:ln w="12908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5880" y="56875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由安全技防部业务人员自主完成、零 IT 排期——宝贵的开发资源，留给更核心的系统建设。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0664" y="1097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未来规划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把这套方法，复制到更多运维系统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9576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可复用的不是某个看板，而是「一套文档规范 + 一支 AI 虚拟团队」的工作方式。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6616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92807" y="2011680"/>
            <a:ext cx="914400" cy="914400"/>
          </a:xfrm>
          <a:prstGeom prst="ellipse">
            <a:avLst/>
          </a:prstGeom>
          <a:solidFill>
            <a:srgbClr val="0859A8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67127" y="2084832"/>
            <a:ext cx="384048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1448" y="248716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3580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门禁系统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56432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门岗通行、权限与异常事件，做成一线可自助调整的监控视图。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56616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41848" y="2011680"/>
            <a:ext cx="914400" cy="914400"/>
          </a:xfrm>
          <a:prstGeom prst="ellipse">
            <a:avLst/>
          </a:prstGeom>
          <a:solidFill>
            <a:srgbClr val="13A89E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79592" y="2249424"/>
            <a:ext cx="438912" cy="438912"/>
          </a:xfrm>
          <a:prstGeom prst="roundRect">
            <a:avLst>
              <a:gd name="adj" fmla="val 12000"/>
            </a:avLst>
          </a:prstGeom>
          <a:noFill/>
          <a:ln w="279400">
            <a:solidFill>
              <a:srgbClr val="FFFFFF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733288" y="2322576"/>
            <a:ext cx="146304" cy="0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18504" y="2322576"/>
            <a:ext cx="146304" cy="0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52744" y="2103120"/>
            <a:ext cx="0" cy="146304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52744" y="2688336"/>
            <a:ext cx="0" cy="146304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33288" y="2468880"/>
            <a:ext cx="146304" cy="0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18504" y="2468880"/>
            <a:ext cx="146304" cy="0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9048" y="2103120"/>
            <a:ext cx="0" cy="146304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2688336"/>
            <a:ext cx="0" cy="146304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33288" y="2615184"/>
            <a:ext cx="146304" cy="0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18504" y="2615184"/>
            <a:ext cx="146304" cy="0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45352" y="2103120"/>
            <a:ext cx="0" cy="146304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45352" y="2688336"/>
            <a:ext cx="0" cy="146304"/>
          </a:xfrm>
          <a:prstGeom prst="line">
            <a:avLst/>
          </a:prstGeom>
          <a:ln w="279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15968" y="303580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物联管控系统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456432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设备状态、告警与物联数据，沿用「拖入即分析」的离线看板模式。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8" y="1783080"/>
            <a:ext cx="356616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2"/>
            </a:solidFill>
          </a:ln>
          <a:effectLst>
            <a:outerShdw blurRad="64008" dist="22860" dir="5400000" rotWithShape="0">
              <a:srgbClr val="0F2747">
                <a:alpha val="84000"/>
              </a:srgbClr>
            </a:outerShdw>
          </a:effectLst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90888" y="2011680"/>
            <a:ext cx="914400" cy="914400"/>
          </a:xfrm>
          <a:prstGeom prst="ellipse">
            <a:avLst/>
          </a:prstGeom>
          <a:solidFill>
            <a:srgbClr val="6E5CE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390888" y="201168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576072" y="338328"/>
                </a:lnTo>
                <a:lnTo>
                  <a:pt x="914400" y="457200"/>
                </a:lnTo>
                <a:lnTo>
                  <a:pt x="576072" y="576072"/>
                </a:lnTo>
                <a:lnTo>
                  <a:pt x="457200" y="914400"/>
                </a:lnTo>
                <a:lnTo>
                  <a:pt x="338328" y="576072"/>
                </a:lnTo>
                <a:lnTo>
                  <a:pt x="0" y="457200"/>
                </a:lnTo>
                <a:lnTo>
                  <a:pt x="338328" y="3383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303580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更多运维场景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456432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访客、特保、后勤……任何「Excel 能导出、业务想分析」的场景。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315968"/>
            <a:ext cx="11064240" cy="1874519"/>
          </a:xfrm>
          <a:prstGeom prst="roundRect">
            <a:avLst>
              <a:gd name="adj" fmla="val 6000"/>
            </a:avLst>
          </a:prstGeom>
          <a:solidFill>
            <a:srgbClr val="0B2F66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C001"/>
                </a:solidFill>
                <a:latin typeface="Microsoft YaHei"/>
                <a:ea typeface="Microsoft YaHei"/>
                <a:cs typeface="Microsoft YaHei"/>
              </a:rPr>
              <a:t>方法资产：换一个系统，不用从零开始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5489" y="5059923"/>
            <a:ext cx="238109" cy="314919"/>
          </a:xfrm>
          <a:prstGeom prst="roundRect">
            <a:avLst>
              <a:gd name="adj" fmla="val 6000"/>
            </a:avLst>
          </a:prstGeom>
          <a:noFill/>
          <a:ln w="70408">
            <a:solidFill>
              <a:srgbClr val="FFC001"/>
            </a:solidFill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106789" y="5059923"/>
            <a:ext cx="76810" cy="76810"/>
          </a:xfrm>
          <a:custGeom>
            <a:avLst/>
            <a:gdLst/>
            <a:ahLst/>
            <a:cxnLst/>
            <a:rect l="l" t="t" r="r" b="b"/>
            <a:pathLst>
              <a:path w="76810" h="76810">
                <a:moveTo>
                  <a:pt x="0" y="0"/>
                </a:moveTo>
                <a:lnTo>
                  <a:pt x="76810" y="0"/>
                </a:lnTo>
                <a:lnTo>
                  <a:pt x="76810" y="76810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106789" y="5059923"/>
            <a:ext cx="76810" cy="76810"/>
          </a:xfrm>
          <a:custGeom>
            <a:avLst/>
            <a:gdLst/>
            <a:ahLst/>
            <a:cxnLst/>
            <a:rect l="l" t="t" r="r" b="b"/>
            <a:pathLst>
              <a:path w="76810" h="76810">
                <a:moveTo>
                  <a:pt x="0" y="0"/>
                </a:moveTo>
                <a:lnTo>
                  <a:pt x="76810" y="76810"/>
                </a:lnTo>
                <a:lnTo>
                  <a:pt x="0" y="768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987734" y="5190500"/>
            <a:ext cx="149779" cy="0"/>
          </a:xfrm>
          <a:prstGeom prst="line">
            <a:avLst/>
          </a:prstGeom>
          <a:ln w="64541">
            <a:solidFill>
              <a:srgbClr val="FFC0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7734" y="5244266"/>
            <a:ext cx="149779" cy="0"/>
          </a:xfrm>
          <a:prstGeom prst="line">
            <a:avLst/>
          </a:prstGeom>
          <a:ln w="64541">
            <a:solidFill>
              <a:srgbClr val="FFC0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87734" y="5298033"/>
            <a:ext cx="149779" cy="0"/>
          </a:xfrm>
          <a:prstGeom prst="line">
            <a:avLst/>
          </a:prstGeom>
          <a:ln w="64541">
            <a:solidFill>
              <a:srgbClr val="FFC0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380744" y="4956048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一套文档规范</a:t>
            </a:r>
          </a:p>
          <a:p>
            <a:pPr algn="l"/>
            <a:r>
              <a:rPr sz="880" b="0" i="0">
                <a:solidFill>
                  <a:srgbClr val="BFD6F5"/>
                </a:solidFill>
                <a:latin typeface="Microsoft YaHei"/>
                <a:ea typeface="Microsoft YaHei"/>
                <a:cs typeface="Microsoft YaHei"/>
              </a:rPr>
              <a:t>README / CONTEXT / CHANGELOG 等六份手册，新项目直接套用</a:t>
            </a:r>
          </a:p>
        </p:txBody>
      </p:sp>
      <p:sp>
        <p:nvSpPr>
          <p:cNvPr id="45" name="Oval 44"/>
          <p:cNvSpPr/>
          <p:nvPr/>
        </p:nvSpPr>
        <p:spPr>
          <a:xfrm>
            <a:off x="4434840" y="5029200"/>
            <a:ext cx="384048" cy="384048"/>
          </a:xfrm>
          <a:prstGeom prst="ellipse">
            <a:avLst/>
          </a:prstGeom>
          <a:solidFill>
            <a:srgbClr val="FFC001"/>
          </a:solidFill>
          <a:ln>
            <a:noFill/>
          </a:ln>
        </p:spPr>
        <p:txBody>
          <a:bodyPr rtlCol="0" anchor="ctr" lIns="25400" rIns="25400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527011" y="5144414"/>
            <a:ext cx="207386" cy="145938"/>
          </a:xfrm>
          <a:custGeom>
            <a:avLst/>
            <a:gdLst/>
            <a:ahLst/>
            <a:cxnLst/>
            <a:rect l="l" t="t" r="r" b="b"/>
            <a:pathLst>
              <a:path w="207386" h="145938">
                <a:moveTo>
                  <a:pt x="0" y="84490"/>
                </a:moveTo>
                <a:lnTo>
                  <a:pt x="69129" y="145938"/>
                </a:lnTo>
                <a:lnTo>
                  <a:pt x="207386" y="0"/>
                </a:lnTo>
                <a:close/>
              </a:path>
            </a:pathLst>
          </a:custGeom>
          <a:noFill/>
          <a:ln w="1349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46904" y="4956048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一套协作流程</a:t>
            </a:r>
          </a:p>
          <a:p>
            <a:pPr algn="l"/>
            <a:r>
              <a:rPr sz="880" b="0" i="0">
                <a:solidFill>
                  <a:srgbClr val="BFD6F5"/>
                </a:solidFill>
                <a:latin typeface="Microsoft YaHei"/>
                <a:ea typeface="Microsoft YaHei"/>
                <a:cs typeface="Microsoft YaHei"/>
              </a:rPr>
              <a:t>设计 → 人工闸门 → 实现 → 测试 → 沉淀，角色分工明确</a:t>
            </a:r>
          </a:p>
        </p:txBody>
      </p:sp>
      <p:sp>
        <p:nvSpPr>
          <p:cNvPr id="48" name="Freeform 47"/>
          <p:cNvSpPr/>
          <p:nvPr/>
        </p:nvSpPr>
        <p:spPr>
          <a:xfrm>
            <a:off x="8039404" y="5048402"/>
            <a:ext cx="307239" cy="349484"/>
          </a:xfrm>
          <a:custGeom>
            <a:avLst/>
            <a:gdLst/>
            <a:ahLst/>
            <a:cxnLst/>
            <a:rect l="l" t="t" r="r" b="b"/>
            <a:pathLst>
              <a:path w="307239" h="349484">
                <a:moveTo>
                  <a:pt x="153620" y="0"/>
                </a:moveTo>
                <a:lnTo>
                  <a:pt x="307239" y="57607"/>
                </a:lnTo>
                <a:lnTo>
                  <a:pt x="291877" y="192024"/>
                </a:lnTo>
                <a:lnTo>
                  <a:pt x="153620" y="349484"/>
                </a:lnTo>
                <a:lnTo>
                  <a:pt x="15362" y="192024"/>
                </a:lnTo>
                <a:lnTo>
                  <a:pt x="0" y="57607"/>
                </a:lnTo>
                <a:close/>
              </a:path>
            </a:pathLst>
          </a:custGeom>
          <a:solidFill>
            <a:srgbClr val="FFC0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123895" y="5159776"/>
            <a:ext cx="145938" cy="111374"/>
          </a:xfrm>
          <a:custGeom>
            <a:avLst/>
            <a:gdLst/>
            <a:ahLst/>
            <a:cxnLst/>
            <a:rect l="l" t="t" r="r" b="b"/>
            <a:pathLst>
              <a:path w="145938" h="111374">
                <a:moveTo>
                  <a:pt x="0" y="61448"/>
                </a:moveTo>
                <a:lnTo>
                  <a:pt x="49926" y="111374"/>
                </a:lnTo>
                <a:lnTo>
                  <a:pt x="145938" y="0"/>
                </a:lnTo>
                <a:close/>
              </a:path>
            </a:pathLst>
          </a:custGeom>
          <a:noFill/>
          <a:ln w="12908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13064" y="4956048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一套安全架构</a:t>
            </a:r>
          </a:p>
          <a:p>
            <a:pPr algn="l"/>
            <a:r>
              <a:rPr sz="880" b="0" i="0">
                <a:solidFill>
                  <a:srgbClr val="BFD6F5"/>
                </a:solidFill>
                <a:latin typeface="Microsoft YaHei"/>
                <a:ea typeface="Microsoft YaHei"/>
                <a:cs typeface="Microsoft YaHei"/>
              </a:rPr>
              <a:t>纯前端、离线运行、数据不出内网，天然适合内部系统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BE3C0"/>
                </a:solidFill>
                <a:latin typeface="Microsoft YaHei"/>
                <a:ea typeface="Microsoft YaHei"/>
                <a:cs typeface="Microsoft YaHei"/>
              </a:rPr>
              <a:t>下一个被「自己造」出来的工具，也许就来自一线的下一句话。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109</Words>
  <Application>Microsoft Office PowerPoint</Application>
  <PresentationFormat>寬螢幕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</vt:i4>
      </vt:variant>
    </vt:vector>
  </HeadingPairs>
  <TitlesOfParts>
    <vt:vector size="16" baseType="lpstr">
      <vt:lpstr>等线</vt:lpstr>
      <vt:lpstr>Microsoft YaHei</vt:lpstr>
      <vt:lpstr>Microsoft YaHei</vt:lpstr>
      <vt:lpstr>黑体</vt:lpstr>
      <vt:lpstr>新細明體</vt:lpstr>
      <vt:lpstr>Arial</vt:lpstr>
      <vt:lpstr>Arial Black</vt:lpstr>
      <vt:lpstr>Calibri</vt:lpstr>
      <vt:lpstr>Calibri Light</vt:lpstr>
      <vt:lpstr>Office 主题​​</vt:lpstr>
      <vt:lpstr>1_自訂設計</vt:lpstr>
      <vt:lpstr>自訂設計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劉帆帆</cp:lastModifiedBy>
  <cp:revision>175</cp:revision>
  <dcterms:created xsi:type="dcterms:W3CDTF">2024-02-15T09:33:51Z</dcterms:created>
  <dcterms:modified xsi:type="dcterms:W3CDTF">2024-02-27T08:42:08Z</dcterms:modified>
</cp:coreProperties>
</file>